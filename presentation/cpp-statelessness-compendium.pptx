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 id="318" r:id="rId70"/>
    <p:sldId id="319" r:id="rId71"/>
    <p:sldId id="320" r:id="rId72"/>
    <p:sldId id="321" r:id="rId73"/>
    <p:sldId id="322" r:id="rId7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 Id="rId68" Type="http://schemas.openxmlformats.org/officeDocument/2006/relationships/slide" Target="slides/slide61.xml"/><Relationship Id="rId69" Type="http://schemas.openxmlformats.org/officeDocument/2006/relationships/slide" Target="slides/slide62.xml"/><Relationship Id="rId70" Type="http://schemas.openxmlformats.org/officeDocument/2006/relationships/slide" Target="slides/slide63.xml"/><Relationship Id="rId71" Type="http://schemas.openxmlformats.org/officeDocument/2006/relationships/slide" Target="slides/slide64.xml"/><Relationship Id="rId72" Type="http://schemas.openxmlformats.org/officeDocument/2006/relationships/slide" Target="slides/slide65.xml"/><Relationship Id="rId73" Type="http://schemas.openxmlformats.org/officeDocument/2006/relationships/slide" Target="slides/slide66.xml"/><Relationship Id="rId74" Type="http://schemas.openxmlformats.org/officeDocument/2006/relationships/slide" Target="slides/slide6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t>This is the statelessness compendium deck — the architectural companion to the performance talk. Where the main deck is about making C++ fast under container constraints, this one is about making C++ services correct as stateless workloads under an orchestrator.</a:t>
            </a:r>
          </a:p>
          <a:p>
            <a:r>
              <a:rPr sz="1200"/>
              <a:t>The spine is a single idea developed across eleven documents: statelessness is a deployment posture, not a code property, and the C++ techniques that satisfy it — RAII for request scope, PMR for request memory, explicit process-scoped ownership, externalized authoritative state, health checks and graceful shutdown — compose into one realistic gRPC service by the end.</a:t>
            </a:r>
          </a:p>
          <a:p>
            <a:r>
              <a:rPr sz="1200"/>
              <a:t>Every pattern here has a runnable Podman demo, and examples 2 through 11 are host-verified end to end on Fedora 44. We'll cue each demo at the point its pattern is introduced.</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t>Eleven documents, three movements. Documents 1 through 3 establish the foundations — the scope vocabulary, RAII, and PMR. Documents 4 through 8 cover the operational concerns — process-scoped ownership, threading, 12-factor, state externalization, the ephemeral filesystem. Documents 9 through 11 land it — health checks and shutdown, the gRPC capstone that composes everything, and the build tooling appendix with the vendored helpers.</a:t>
            </a:r>
          </a:p>
          <a:p>
            <a:r>
              <a:rPr sz="1200"/>
              <a:t>Each section ends or pauses on a demo cue where the pattern has a runnable companion.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t>This compendium is the architectural spine under the performance talk. The thesis of Doc 1 sets the vocabulary for everything that follows: statelessness isn't something you can read off a source file. The same C++ binary can be stateless or stateful depending on what state it holds and where. What makes a service 'stateless' is a property the orchestrator relies on — that it can kill, restart, and scale a replica without coordination.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t>Four numbers to frame the whole deck. Three scopes of state, and the discipline is that only deploy-time scope holds authoritative data. Zero coordination to kill a replica — that's the operational payoff. The whole compendium is runnable, not just described. And the punchline: it's one binary; statelessness is about where state lives, not how the code is written.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t>The three-scope vocabulary is used in every later document, so it's worth fixing now. Request scope is the per-RPC lifetime — RAII makes this concrete (Doc 2). Process scope is the process lifetime — pools, channels, parsed config, owned in main() (Doc 4). Deploy-time scope is everything outside the process — the externalized authoritative state (Doc 7).</a:t>
            </a:r>
          </a:p>
          <a:p>
            <a:r>
              <a:rPr sz="1200"/>
              <a:t>The litmus test for statelessness: if you SIGKILL a replica, is anything authoritative lost? If the answer is no, the service is stateless regardless of how much process-scoped state it holds for performance.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t>Each of these intuitions is correct on a dedicated box and wrong under an orchestrator. The thread-pool one is the most expensive: hardware_concurrency() reports the host's core count, not the cgroup quota, so a naive pool oversubscribes and the CFS scheduler throttles it — wrecking tail latency. Demo 11 makes that gap visible. We'll return to each of these as we go.</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t>The State Architecture Table is the practical heart of Doc 4, introduced here. The exercise is mechanical and clarifying: list every piece of state your service touches, and for each one decide its scope deliberately. Anything authoritative goes to deploy-time scope. Anything that's pure performance infrastructure — pools, caches, channels — is process scope, bounded and owned in main(). Anything per-request is request scope. Get this table right and statelessness falls out.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t>RAII is the mechanism that makes request scope concrete. If request scope is the idea, RAII is the C++ feature that enforces it: resource lifetime bound to object lifetime, cleanup guaranteed at scope exit on every path — normal return, early return, or exception.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t>The RequestContext is the single most reused pattern in the compendium — it shows up again in the PMR doc (the arena lives in it), the threading doc (the span scope is TLS-bound to it), and the capstone (the handler builds one per call). The key discipline: the destructor is the contract. You never write cleanup code in the handler body; you let scope exit run it.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t>The throwing-destructor one is the killer: if a destructor throws during stack unwinding from another exception, the runtime calls terminate(). Destructors are noexcept by default in C++11 onward for exactly this reason — don't fight it. The locks-across-co_await trap is subtle and gets its own treatment in the threading doc.</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t>These three guarantees are the vocabulary for reasoning about what happens on the throw path. RAII hands you the basic guarantee automatically — destructors run, nothing leaks, invariants survive. The strong guarantee — state rolls back as if nothing happened — is a deliberate design, usually copy-and-swap or build-the-new-state-then-commit. Nothrow is what destructors and move operations must be; mark your moves noexcept or the standard library silently falls back to copies.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t>RAII has no inherent cost — it's just scope-bound destruction. But the per-request object runs its constructor on every request, so what you put in it matters. A short std::string member fits in the small-string buffer and costs nothing; a std::map member allocates per node. This is where the PMR arena (next section) earns its keep — the per-request containers allocate from a buffer that's already there.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t>Watch the destructor log line appear once per request regardless of which exit path the handler took. The point isn't that RAII is clever — it's that the cleanup is path-independent, which is exactly the property a request-scoped resource needs.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t>PMR — polymorphic memory resources — is the in-language realization of 'the request brings its own memory and releases it all together.' It's request scope expressed in the allocator.</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t>The recipe is canonical: monotonic_buffer_resource for the bump-allocation, unsynchronized_pool_resource on top so differently-sized allocations don't waste the buffer. The win is the destruction asymmetry — destroying a pmr::vector built in the arena is essentially free because do_deallocate is a no-op; only the arena's own destruction reclaims memory, and that's a single pointer reset.</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t>This is the counterexample the doc dwells on because it's the one mistake PMR makes easy. The arena is on the stack or in the RequestContext; if you hand a pmr::string built in it back to a caller that outlives the request, you've got a use-after-free. ASan catches it on the first run — which is why the dev profile in Doc 11 wires ASan in by default.</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t>PMR isn't a separate container library — it's the same std:: containers with a runtime-polymorphic allocator. You pass the arena's memory_resource to the container's constructor and every allocation it makes comes from the arena. pmr::vector is the one you'll reach for most; pmr::flat_map in C++23 gives you a sorted, contiguous map that allocates rarely — ideal for the small per-request maps a handler builds.</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t>This is the performance argument for the arena. In a general-purpose allocator, every allocation has a matching free, and frees are not cheap — they touch free lists, coalesce, lock. In a monotonic arena, allocation is a pointer bump and individual deallocation does literally nothing; the memory comes back all at once when the arena dies. For a request that builds and tears down many small objects, that asymmetry is a real latency win on the destruction side.</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t>Two things to watch: the timing difference between per-element free and bulk arena reclamation, and then the deliberate lifetime bug — the demo builds it, runs under ASan, and ASan prints the use-after-free with a stack trace. That's the safety net the dev profile gives you for free.</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t>Not all state is request-scoped. Connection pools, gRPC channels, parsed config, in-process caches — these legitimately live for the process lifetime. The discipline is to own them explicitly in main() and inject them by reference, not reach for them as singletons.</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t>The composition-root pattern (Iglberger's dependency-injection chapter is the underpinning) keeps ownership legible: you can read main() top to bottom and see the entire lifetime graph. Reverse-order destruction falls out of declaration order, so the teardown sequence is correct without any explicit shutdown code — the channels close after the services that use them, the pools after the channels, and so on.</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t>The recurring theme: the container's resource limits are the sizing budget for process-scoped state. An unbounded in-process cache that's fine on a 256 GB box becomes a slow OOMKill under a 512 MB memory cgroup. Everything process-scoped should be bounded and sized against the cgroup, which means reading the cgroup — the helper we ship in Doc 11.</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t>The composition root constructs everything and injects it by reference. No service reaches for a global; each takes its collaborators as constructor arguments. That's what makes the lifetime graph legible and the service testable — at the seam you can hand it a fake pool. And because the objects are locals in main(), they destruct in reverse construction order automatically, which is exactly the teardown order you want.</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t>The discipline that prevents the most common container OOM: every process-scoped structure that can grow must have a ceiling, and the ceiling should be derived from the cgroup memory budget. An unbounded cache doesn't fail fast — it grows until the cgroup OOMKiller reaps the process, usually under peak load, which is the worst time. Bounding by construction turns that into a predictable eviction instead.</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t>Threading is the cross-cutting concern that interacts with statelessness in the least obvious way. The headline: under a CPU cgroup quota, hardware_concurrency() reports the host's cores, not your budget — and sizing a pool to it throttles you.</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t>CFS — the completely fair scheduler — enforces the cgroup CPU quota by handing the cgroup a slice of microseconds per period. If your thread pool has more runnable threads than the quota allows, the kernel throttles the whole cgroup: it stops scheduling your threads until the next period. The symptom isn't lower average throughput — it's vicious p99 spikes as requests stall waiting for the next quota refill.</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t>Thread-local storage is process-scoped but per-thread, which makes it a natural home for things like the active span — until coroutines. After a co_await, the coroutine may resume on a different thread, so anything you stashed in TLS before the suspension is gone. The fix is to capture request-scoped context into the coroutine frame. This is why the capstone's RequestContext holds the span scope as a member rather than relying on TLS.</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t>The gRPC sync server is convenient but has a configuration trap: a blocking handler occupies a thread for its whole duration, so the server's thread pool size caps your concurrency. The ResourceQuota max-threads and the poller settings need to be sized from the CPU budget — too few and you serialize, too many and you throttle. The capstone shows the configuration; this is the knob people miss.</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t>The cgroup-vs-host-count problem isn't only about thread pools — it reaches into the allocator. jemalloc and tcmalloc create per-CPU arenas to cut lock contention, and they size that count from the host's core count by default. Under a small CPU quota that's wasted memory. If you tune it, derive the arena count from the same cgroup reading the thread pool uses.</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t>std::jthread and std::stop_token are the C++20 tools for clean worker lifecycle. A jthread joins automatically when it goes out of scope, so you can't accidentally leak a thread past main(); and the stop_token gives cooperative cancellation — the worker checks stop_requested() and exits its loop. The shutdown sequence in Doc 9 uses exactly this to drain the outbox relay and other background work.</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t>The sweep runs the same workload with progressively larger pools under a 2-core quota. Watch throughput plateau while p99 climbs — that's throttling, not contention. The cgroup-aware pool size is the knee of that curve.</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t>The twelve-factor app methodology was written for interpreted, garbage-collected services. Most factors map onto C++ cleanly; three collide with C++ idioms and are worth dwelling on: Config, Processes, and Disposability.</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t>C++ has a richer set of binding times than the languages 12-factor assumed, and choosing the right one is a design decision. A feature flag that never changes after deploy should be compile-time (constexpr) — free at runtime. The 12-factor 'Config' factor is specifically env-time: read once in main(), into an immutable Config struct, passed by const reference everywhere. The Config struct shows up in every service in the compendium.</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t>The Processes factor collides with the Meyers singleton — the function-local-static pattern so common in C++. It works, but it hides ownership and lifetime, which is exactly what the composition root makes explicit. Disposability is where the C++ startup tax bites: static initialization runs before main(), and a slow cold start hurts under an orchestrator that restarts replicas routinely. constinit moves what it can to compile time.</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t>The startup tax is real under orchestration: every non-trivial global runs its constructor before main(), adding to cold-start latency, and the cross-translation-unit ordering is undefined — the classic static initialization order fiasco. constinit fixes the subset that can be initialized at compile time: it's a guarantee, checked by the compiler, that there's no runtime constructor. The better fix for most state is to not make it global at all — own it in main().</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t>The remaining factors map onto a C++ service without friction. Logs to stdout is the one that bites people because of the spdlog file-default trap, which gets its own doc. Backing services as attached resources is the externalization story. Build/release/run separation is the hermetic Conan build plus the multi-stage image. The rest — port binding, concurrency, parity — are things a well-structured service does anyway.</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t>If process scope can't hold authoritative state, it has to live outside — the database, the cache tier, the queue. This document is about reaching that external state safely: connection pools as process-scoped infrastructure, idempotency, deadline propagation, and the outbox pattern for atomic write-plus-emit.</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t>The pool is process-scoped (built in main()); the checkout is request-scoped (RAII, returned on scope exit). That pairing is the whole pattern. Idempotency is enforced at the database with a unique key and ON CONFLICT DO NOTHING, so a client retry is safe even across replicas — there's no in-process state to desync. Deadlines propagate all the way to the database via statement_timeout computed from the remaining request budget.</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t>The outbox solves the dual-write problem: you can't atomically write to the database AND publish to Kafka, so instead you write the event into the same database transaction as the business row. A separate relay then publishes it. Because the relay re-publishes after a crash (at-least-once) and the consumer applies idempotently, the end-to-end effect is exactly-once — without distributed transactions.</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t>Deadline propagation is what keeps a slow dependency from turning into a pile-up. The request arrives with a deadline; every downstream call budgets against the same clock. The database gets a statement_timeout computed from the remaining time; the outbound gRPC call gets the same absolute deadline. If the budget is already blown, you fail fast with DEADLINE_EXCEEDED instead of starting work that can't finish in time.</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t>Retry policy is where idempotency pays off. If an operation is idempotent — guaranteed by the client key and ON CONFLICT — a transient failure can be retried safely with backoff and jitter to avoid thundering herds. Without idempotency, a blind retry can double-apply. And every retry must respect the remaining deadline; retrying past the budget just wastes work. Broken connections get invalidated so the pool doesn't hand them out again.</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t>This closes the loop on Doc 1's counterexample. A local in-process cache of authoritative data is the classic statelessness violation: two replicas hold divergent views, and which answer you get depends on which replica you hit. The fix is to move the cache to deploy-time scope — a shared cache tier — so it's authoritative and consistent across replicas. In-process caching is only safe for data that's immutable or purely derived and cheap to rebuild.</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t>The companion uses libpq (not libpqxx — its bundled CMake breaks the toolchain), librdkafka's C API, and a single-node Strimzi Kafka. Watch the relay pick up the outbox row, publish it, and the consumer dedupe a replayed event. There's a sibling demo, 07-state-externalization, for the pool and idempotency pieces in isolation.</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t>The container filesystem is ephemeral: the writable overlay layer is discarded when the container dies. read_only: true turns that implicit truth into an enforced one, and surfaces every place your code assumed it could write.</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t>read_only: true is a forcing function — it converts 'the filesystem is ephemeral' from a fact you might forget into an error you can't ignore. The classic C++ trap is spdlog: the convenient basic_logger_mt opens a log file, which fails with EROFS on a read-only rootfs. The fix is to log to stdout and let the platform's collector handle persistence — which is also what 12-factor's Logs factor wants. Other traps: crash dumps, ML model caches, coverage data, prometheus textfiles.</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t>The mental model is a place for every kind of write. The rootfs is read-only and holds only immutable artifacts. Scratch goes to an explicit, size-capped tmpfs at /tmp — explicit so you've thought about the size, because a tmpfs counts against memory. Anything that must survive a restart goes to a real volume, and you should be able to count those things on one hand. Config is mounted read-only; logs go to stdout.</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t>The flip side of the ephemeral-filesystem constraint is that it's a feature. Because nothing local accretes, a restart always returns you to a known-clean state — no half-written files, no disk slowly filling with logs, no drift between replicas. Rootless Podman adds a UID-mapping wrinkle for the writes you do allow, and Kubernetes lets you budget ephemeral-storage so a runaway tmpfs can't take the node down.</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t>The demo first shows the EROFS failure with the default file logger, then the same service logging cleanly to stdout. Then it writes to /tmp, restarts the container, and shows the file is gone — ephemerality as a feature, not a surprise.</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t>Health checks are the orchestrator's API into your service — how it decides whether to route traffic, restart, or wait. Three probes, each answering a different question, plus the graceful-shutdown sequence that ties together everything we've built.</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t>The three probes are not interchangeable. Liveness failing means 'restart me' — make it narrow, because a flaky liveness probe causes restart storms. Readiness failing means 'stop sending traffic but don't kill me' — that's the one that handles transient dependency outages and graceful drain. Startup is permissive and covers the cold-start window so liveness doesn't fire during initialization.</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t>The shutdown sequence ties together stop_token from the threading doc, pool draining from the externalization doc, and reverse-order destruction from the process-scope doc. The signal-safety detail matters: a SIGTERM handler must only set a flag — it can't call into gRPC or take a lock, because almost nothing is async-signal-safe. A dedicated control thread watches the flag and does the real work.</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t>The trade-off between probe placement: same-port is simplest and the gRPC standard health service makes it trivial, but if the application thread pool saturates, the probe can't answer and you get spurious restarts. A separate, lightweight HTTP liveness endpoint keeps answering independently of app load. The 09 companion uses the hybrid: HTTP for liveness, the gRPC health service for readiness.</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t>Health checks cause more outages than they prevent when done wrong. The cardinal sin is a liveness probe that checks downstream dependencies: a transient database blip then trips liveness on every replica simultaneously, and the orchestrator restarts your entire fleet at once — turning a blip into an outage. Liveness should check only 'is this process wedged'; dependency health belongs in readiness, which drains rather than kills.</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t>Three acts: staged startup with liveness answering 200 while readiness is still NOT_SERVING during init; a SIGUSR1 toggle flipping readiness while liveness stays green; then a SIGTERM showing the ordered drain and clean exit 0. The companion uses the bool SetServingStatus overload and a signal-flag + control-thread design.</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t>The integration document. The previous nine established patterns in isolation; this one composes them into a single realistic gRPC service — an order-pricing service that calls a second tax service over gRPC — so the way the pieces fit together is visible end to end.</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t>Twelve numbered steps in main(), every one mapping back to a prior document. The point of the capstone isn't new ideas — it's showing that the patterns compose without friction. The handler reads a customer and product prices from Postgres, calls the tax service over gRPC with the request deadline propagated, and returns a priced order — idempotent on the client's key.</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t>Honesty slide. The compendium document presents the full design including the OpenTelemetry tracing pipeline. The runnable companion stays on the verified gRPC trio and so represents some of that design as documented seams rather than built dependencies — most importantly, it emits no spans, so nothing reaches Tempo. The composition it DOES prove is the real value: request, process, and external scope fitting together with deadline propagation and idempotency.</a:t>
            </a:r>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t>The capstone's main() is twelve steps and every one maps to a prior document — config from Doc 6, CPU budget from Doc 5, pools from Doc 7, the composition root from Doc 4, the staged health flip and signal handling from Doc 9. The shape is the same for any gRPC service in this stack; only the specific subsystems change. That reusability is the payoff of building the patterns in isolation first.</a:t>
            </a:r>
          </a:p>
        </p:txBody>
      </p:sp>
      <p:sp>
        <p:nvSpPr>
          <p:cNvPr id="4" name="Slide Number Placeholder 3"/>
          <p:cNvSpPr>
            <a:spLocks noGrp="1"/>
          </p:cNvSpPr>
          <p:nvPr>
            <p:ph type="sldNum" idx="5" sz="quarter"/>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t>The error model keeps the handler clean: helper functions throw grpc::Status for things the client should see — DEADLINE_EXCEEDED, UNAVAILABLE, NOT_FOUND — and std::exception for programming errors. One try/catch at the handler boundary translates both into the right wire status. Crucially, the try/catch is only for translation; every resource is cleaned up by RAII no matter which path the exception takes.</a:t>
            </a:r>
          </a:p>
        </p:txBody>
      </p:sp>
      <p:sp>
        <p:nvSpPr>
          <p:cNvPr id="4" name="Slide Number Placeholder 3"/>
          <p:cNvSpPr>
            <a:spLocks noGrp="1"/>
          </p:cNvSpPr>
          <p:nvPr>
            <p:ph type="sldNum" idx="5" sz="quarter"/>
          </p:nvPr>
        </p:nvSpPr>
        <p:spPr/>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t>Act 1 prices a taxable order for alice — full path: Postgres lookups plus the outbound tax gRPC call. Act 2 prices for tax-exempt carol, where compute_tax short-circuits and never calls the tax service. Act 3 replays act 1's idempotency key and gets back the IDENTICAL order id — proof the stored result came back, not a recomputation.</a:t>
            </a:r>
          </a:p>
        </p:txBody>
      </p:sp>
      <p:sp>
        <p:nvSpPr>
          <p:cNvPr id="4" name="Slide Number Placeholder 3"/>
          <p:cNvSpPr>
            <a:spLocks noGrp="1"/>
          </p:cNvSpPr>
          <p:nvPr>
            <p:ph type="sldNum" idx="5" sz="quarter"/>
          </p:nvPr>
        </p:nvSpPr>
        <p:spPr/>
      </p:sp>
    </p:spTree>
  </p:cSld>
  <p:clrMapOvr>
    <a:masterClrMapping/>
  </p:clrMapOvr>
</p:notes>
</file>

<file path=ppt/notesSlides/notesSlide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t>The appendix: the build setup that everything else assumed. Conan 2.x with pinned versions and a lockfile, CMake with Ninja and Conan presets, GCC 14 for C++23 breadth, multi-stage Containerfiles — and full source for the small vendored helpers earlier docs referenced.</a:t>
            </a:r>
          </a:p>
        </p:txBody>
      </p:sp>
      <p:sp>
        <p:nvSpPr>
          <p:cNvPr id="4" name="Slide Number Placeholder 3"/>
          <p:cNvSpPr>
            <a:spLocks noGrp="1"/>
          </p:cNvSpPr>
          <p:nvPr>
            <p:ph type="sldNum" idx="5" sz="quarter"/>
          </p:nvPr>
        </p:nvSpPr>
        <p:spPr/>
      </p:sp>
    </p:spTree>
  </p:cSld>
  <p:clrMapOvr>
    <a:masterClrMapping/>
  </p:clrMapOvr>
</p:notes>
</file>

<file path=ppt/notesSlides/notesSlide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t>The build-tooling choices are stable even as the toolchain landscape moves. The one gotcha worth memorizing: protobuf and gRPC versions must match across Conan dependencies, or you get duplicate-symbol linker errors. The dev/release profile split is the high-value habit — ASan and UBSan in dev catch the arena lifetime bugs, the locks-across-co_await UB, and most resource leaks before they reach production.</a:t>
            </a:r>
          </a:p>
        </p:txBody>
      </p:sp>
      <p:sp>
        <p:nvSpPr>
          <p:cNvPr id="4" name="Slide Number Placeholder 3"/>
          <p:cNvSpPr>
            <a:spLocks noGrp="1"/>
          </p:cNvSpPr>
          <p:nvPr>
            <p:ph type="sldNum" idx="5" sz="quarter"/>
          </p:nvPr>
        </p:nvSpPr>
        <p:spPr/>
      </p:sp>
    </p:spTree>
  </p:cSld>
  <p:clrMapOvr>
    <a:masterClrMapping/>
  </p:clrMapOvr>
</p:notes>
</file>

<file path=ppt/notesSlides/notesSlide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t>This is the punchline of the whole threading story, made concrete in a 30-line helper. The demo runs the same binary under different --cpus caps; cpu_limit_cores() tracks the cap exactly — 1.5, then 0.5 — while hardware_concurrency() keeps reporting the host's 22 cores. A naive pool would oversubscribe 22-to-1 against half a core and get throttled into the ground. Read the cgroup.</a:t>
            </a:r>
          </a:p>
        </p:txBody>
      </p:sp>
      <p:sp>
        <p:nvSpPr>
          <p:cNvPr id="4" name="Slide Number Placeholder 3"/>
          <p:cNvSpPr>
            <a:spLocks noGrp="1"/>
          </p:cNvSpPr>
          <p:nvPr>
            <p:ph type="sldNum" idx="5" sz="quarter"/>
          </p:nvPr>
        </p:nvSpPr>
        <p:spPr/>
      </p:sp>
    </p:spTree>
  </p:cSld>
  <p:clrMapOvr>
    <a:masterClrMapping/>
  </p:clrMapOvr>
</p:notes>
</file>

<file path=ppt/notesSlides/notesSlide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t>Which C++23 features you can use is a function of the compiler version, and it moves fast. The ones that bite: std::flat_map isn't in libstdc++ until GCC 15, so until then absl::btree_map is the fallback; &lt;stacktrace&gt; on GCC 14 needs an explicit link flag for libstdc++_libbacktrace. The recommended baseline is GCC 14 with libstdc++ on a glibc 2.35-or-newer host, which is what every example in this tutorial builds against.</a:t>
            </a:r>
          </a:p>
        </p:txBody>
      </p:sp>
      <p:sp>
        <p:nvSpPr>
          <p:cNvPr id="4" name="Slide Number Placeholder 3"/>
          <p:cNvSpPr>
            <a:spLocks noGrp="1"/>
          </p:cNvSpPr>
          <p:nvPr>
            <p:ph type="sldNum" idx="5" sz="quarter"/>
          </p:nvPr>
        </p:nvSpPr>
        <p:spPr/>
      </p:sp>
    </p:spTree>
  </p:cSld>
  <p:clrMapOvr>
    <a:masterClrMapping/>
  </p:clrMapOvr>
</p:notes>
</file>

<file path=ppt/notesSlides/notesSlide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t>A short list of traps from the real build experience of this tutorial. The protobuf/gRPC version match is the most common — two libraries pulling different protobuf versions transitively gives you duplicate-symbol linker errors. The libstdc++11 ABI setting is non-negotiable; mixing the old and new ABI produces crashes that look like memory corruption. And the libpqxx one is ours specifically: its bundled CMake breaks the toolchain, which is why every example here reaches PostgreSQL via libpq.</a:t>
            </a:r>
          </a:p>
        </p:txBody>
      </p:sp>
      <p:sp>
        <p:nvSpPr>
          <p:cNvPr id="4" name="Slide Number Placeholder 3"/>
          <p:cNvSpPr>
            <a:spLocks noGrp="1"/>
          </p:cNvSpPr>
          <p:nvPr>
            <p:ph type="sldNum" idx="5" sz="quarter"/>
          </p:nvPr>
        </p:nvSpPr>
        <p:spPr/>
      </p:sp>
    </p:spTree>
  </p:cSld>
  <p:clrMapOvr>
    <a:masterClrMapping/>
  </p:clrMapOvr>
</p:notes>
</file>

<file path=ppt/notesSlides/notesSlide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t>Act 1 runs the gtest suite green inside the container. Then the cap sweep: unconstrained, --cpus=1.5, --cpus=0.5 --memory=256m. Watch cpu_limit_cores() report 1.5 then 0.5, memory report 256 MiB, while hardware_concurrency() stays at the host count throughout. That contrast is the entire lesson.</a:t>
            </a:r>
          </a:p>
        </p:txBody>
      </p:sp>
      <p:sp>
        <p:nvSpPr>
          <p:cNvPr id="4" name="Slide Number Placeholder 3"/>
          <p:cNvSpPr>
            <a:spLocks noGrp="1"/>
          </p:cNvSpPr>
          <p:nvPr>
            <p:ph type="sldNum" idx="5" sz="quarter"/>
          </p:nvPr>
        </p:nvSpPr>
        <p:spPr/>
      </p:sp>
    </p:spTree>
  </p:cSld>
  <p:clrMapOvr>
    <a:masterClrMapping/>
  </p:clrMapOvr>
</p:notes>
</file>

<file path=ppt/notesSlides/notesSlide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t>To close: statelessness isn't a checkbox you tick in code — it's a posture the orchestrator can rely on, and the C++ techniques in this compendium are how a C++ service earns it. Request scope through RAII and PMR, process scope owned explicitly in main(), authoritative state externalized so any replica can die without loss.</a:t>
            </a:r>
          </a:p>
          <a:p>
            <a:r>
              <a:rPr sz="1200"/>
              <a:t>And none of it is theory: every pattern has a runnable demo, and the whole arc from RAII to the gRPC capstone is host-verified. Clone the repo, run the demos, read the long-form compendium. Thank you.</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jpg"/><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jpg"/><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jpg"/><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jpg"/><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jpg"/><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jpg"/><Relationship Id="rId3"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jpg"/><Relationship Id="rId3"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A2B3C"/>
        </a:solidFill>
        <a:effectLst/>
      </p:bgPr>
    </p:bg>
    <p:spTree>
      <p:nvGrpSpPr>
        <p:cNvPr id="1" name=""/>
        <p:cNvGrpSpPr/>
        <p:nvPr/>
      </p:nvGrpSpPr>
      <p:grpSpPr/>
      <p:sp>
        <p:nvSpPr>
          <p:cNvPr id="2" name="Oval 1"/>
          <p:cNvSpPr/>
          <p:nvPr/>
        </p:nvSpPr>
        <p:spPr>
          <a:xfrm>
            <a:off x="914400" y="1371600"/>
            <a:ext cx="201168" cy="201168"/>
          </a:xfrm>
          <a:prstGeom prst="ellipse">
            <a:avLst/>
          </a:prstGeom>
          <a:solidFill>
            <a:srgbClr val="00BC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234440" y="1371600"/>
            <a:ext cx="201168" cy="201168"/>
          </a:xfrm>
          <a:prstGeom prst="ellipse">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554480" y="1371600"/>
            <a:ext cx="201168" cy="201168"/>
          </a:xfrm>
          <a:prstGeom prst="ellipse">
            <a:avLst/>
          </a:prstGeom>
          <a:solidFill>
            <a:srgbClr val="9B59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828800"/>
            <a:ext cx="10332720" cy="457200"/>
          </a:xfrm>
          <a:prstGeom prst="rect">
            <a:avLst/>
          </a:prstGeom>
          <a:noFill/>
        </p:spPr>
        <p:txBody>
          <a:bodyPr wrap="square" anchor="t" lIns="45720" rIns="45720">
            <a:spAutoFit/>
          </a:bodyPr>
          <a:lstStyle/>
          <a:p>
            <a:pPr algn="l"/>
            <a:r>
              <a:rPr sz="2000" b="1" i="0">
                <a:solidFill>
                  <a:srgbClr val="00BCD4"/>
                </a:solidFill>
                <a:latin typeface="Calibri"/>
              </a:rPr>
              <a:t>STATELESSNESS COMPENDIUM</a:t>
            </a:r>
          </a:p>
        </p:txBody>
      </p:sp>
      <p:sp>
        <p:nvSpPr>
          <p:cNvPr id="6" name="TextBox 5"/>
          <p:cNvSpPr txBox="1"/>
          <p:nvPr/>
        </p:nvSpPr>
        <p:spPr>
          <a:xfrm>
            <a:off x="914400" y="2286000"/>
            <a:ext cx="10332720" cy="1371600"/>
          </a:xfrm>
          <a:prstGeom prst="rect">
            <a:avLst/>
          </a:prstGeom>
          <a:noFill/>
        </p:spPr>
        <p:txBody>
          <a:bodyPr wrap="square" anchor="t" lIns="45720" rIns="45720">
            <a:spAutoFit/>
          </a:bodyPr>
          <a:lstStyle/>
          <a:p>
            <a:pPr algn="l"/>
            <a:r>
              <a:rPr sz="4400" b="1" i="0">
                <a:solidFill>
                  <a:srgbClr val="FFFFFF"/>
                </a:solidFill>
                <a:latin typeface="Calibri"/>
              </a:rPr>
              <a:t>Stateless C++ Services
Under Container Orchestration</a:t>
            </a:r>
          </a:p>
        </p:txBody>
      </p:sp>
      <p:sp>
        <p:nvSpPr>
          <p:cNvPr id="7" name="TextBox 6"/>
          <p:cNvSpPr txBox="1"/>
          <p:nvPr/>
        </p:nvSpPr>
        <p:spPr>
          <a:xfrm>
            <a:off x="914400" y="4114800"/>
            <a:ext cx="10332720" cy="457200"/>
          </a:xfrm>
          <a:prstGeom prst="rect">
            <a:avLst/>
          </a:prstGeom>
          <a:noFill/>
        </p:spPr>
        <p:txBody>
          <a:bodyPr wrap="square" anchor="t" lIns="45720" rIns="45720">
            <a:spAutoFit/>
          </a:bodyPr>
          <a:lstStyle/>
          <a:p>
            <a:pPr algn="l"/>
            <a:r>
              <a:rPr sz="1600" b="0" i="0">
                <a:solidFill>
                  <a:srgbClr val="ECF0F1"/>
                </a:solidFill>
                <a:latin typeface="Calibri"/>
              </a:rPr>
              <a:t>Request / process / deploy-time scope  •  RAII  •  PMR  •  pools  •  health &amp; shutdown  •  the gRPC capstone</a:t>
            </a:r>
          </a:p>
        </p:txBody>
      </p:sp>
      <p:sp>
        <p:nvSpPr>
          <p:cNvPr id="8" name="TextBox 7"/>
          <p:cNvSpPr txBox="1"/>
          <p:nvPr/>
        </p:nvSpPr>
        <p:spPr>
          <a:xfrm>
            <a:off x="914400" y="4754880"/>
            <a:ext cx="10332720" cy="365760"/>
          </a:xfrm>
          <a:prstGeom prst="rect">
            <a:avLst/>
          </a:prstGeom>
          <a:noFill/>
        </p:spPr>
        <p:txBody>
          <a:bodyPr wrap="square" anchor="t" lIns="45720" rIns="45720">
            <a:spAutoFit/>
          </a:bodyPr>
          <a:lstStyle/>
          <a:p>
            <a:pPr algn="l"/>
            <a:r>
              <a:rPr sz="1400" b="0" i="1">
                <a:solidFill>
                  <a:srgbClr val="90A4AE"/>
                </a:solidFill>
                <a:latin typeface="Calibri"/>
              </a:rPr>
              <a:t>Companion deck to “Optimizing Modern C++ with Containers”  —  Docs 01–11</a:t>
            </a:r>
          </a:p>
        </p:txBody>
      </p:sp>
      <p:sp>
        <p:nvSpPr>
          <p:cNvPr id="9" name="TextBox 8"/>
          <p:cNvSpPr txBox="1"/>
          <p:nvPr/>
        </p:nvSpPr>
        <p:spPr>
          <a:xfrm>
            <a:off x="914400" y="5394960"/>
            <a:ext cx="10332720" cy="365760"/>
          </a:xfrm>
          <a:prstGeom prst="rect">
            <a:avLst/>
          </a:prstGeom>
          <a:noFill/>
        </p:spPr>
        <p:txBody>
          <a:bodyPr wrap="square" anchor="t" lIns="45720" rIns="45720">
            <a:spAutoFit/>
          </a:bodyPr>
          <a:lstStyle/>
          <a:p>
            <a:pPr algn="l"/>
            <a:r>
              <a:rPr sz="1400" b="0" i="0">
                <a:solidFill>
                  <a:srgbClr val="00BCD4"/>
                </a:solidFill>
                <a:latin typeface="Calibri"/>
              </a:rPr>
              <a:t>Every pattern has a runnable Podman demo  —  02–11 host-verified</a:t>
            </a:r>
          </a:p>
        </p:txBody>
      </p:sp>
      <p:sp>
        <p:nvSpPr>
          <p:cNvPr id="10" name="TextBox 9"/>
          <p:cNvSpPr txBox="1"/>
          <p:nvPr/>
        </p:nvSpPr>
        <p:spPr>
          <a:xfrm>
            <a:off x="914400" y="5943600"/>
            <a:ext cx="10332720" cy="365760"/>
          </a:xfrm>
          <a:prstGeom prst="rect">
            <a:avLst/>
          </a:prstGeom>
          <a:noFill/>
        </p:spPr>
        <p:txBody>
          <a:bodyPr wrap="square" anchor="t" lIns="45720" rIns="45720">
            <a:spAutoFit/>
          </a:bodyPr>
          <a:lstStyle/>
          <a:p>
            <a:pPr algn="l"/>
            <a:r>
              <a:rPr sz="1100" b="0" i="0">
                <a:solidFill>
                  <a:srgbClr val="90A4AE"/>
                </a:solidFill>
                <a:latin typeface="Consolas"/>
              </a:rPr>
              <a:t>github.com/patterncatalyst/cpp-container-optimization-tutorial</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640080"/>
          </a:xfrm>
          <a:prstGeom prst="rect">
            <a:avLst/>
          </a:prstGeom>
          <a:solidFill>
            <a:srgbClr val="1E6F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37160"/>
            <a:ext cx="6400800" cy="365760"/>
          </a:xfrm>
          <a:prstGeom prst="rect">
            <a:avLst/>
          </a:prstGeom>
          <a:noFill/>
        </p:spPr>
        <p:txBody>
          <a:bodyPr wrap="square" anchor="t" lIns="45720" rIns="45720">
            <a:spAutoFit/>
          </a:bodyPr>
          <a:lstStyle/>
          <a:p>
            <a:pPr algn="l"/>
            <a:r>
              <a:rPr sz="2800" b="1" i="0">
                <a:solidFill>
                  <a:srgbClr val="FFFFFF"/>
                </a:solidFill>
                <a:latin typeface="Calibri"/>
              </a:rPr>
              <a:t>Agenda — the eleven documents</a:t>
            </a:r>
          </a:p>
        </p:txBody>
      </p:sp>
      <p:sp>
        <p:nvSpPr>
          <p:cNvPr id="4" name="Rounded Rectangle 3"/>
          <p:cNvSpPr/>
          <p:nvPr/>
        </p:nvSpPr>
        <p:spPr>
          <a:xfrm>
            <a:off x="10454335" y="164592"/>
            <a:ext cx="1463040" cy="320040"/>
          </a:xfrm>
          <a:prstGeom prst="roundRect">
            <a:avLst>
              <a:gd name="adj" fmla="val 50000"/>
            </a:avLst>
          </a:prstGeom>
          <a:solidFill>
            <a:srgbClr val="1A2B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454335" y="164592"/>
            <a:ext cx="1463040" cy="320040"/>
          </a:xfrm>
          <a:prstGeom prst="rect">
            <a:avLst/>
          </a:prstGeom>
          <a:noFill/>
        </p:spPr>
        <p:txBody>
          <a:bodyPr wrap="square" anchor="ctr" lIns="45720" rIns="45720">
            <a:spAutoFit/>
          </a:bodyPr>
          <a:lstStyle/>
          <a:p>
            <a:pPr algn="ctr"/>
            <a:r>
              <a:rPr sz="1400" b="1" i="0">
                <a:solidFill>
                  <a:srgbClr val="FFFFFF"/>
                </a:solidFill>
                <a:latin typeface="Calibri"/>
              </a:rPr>
              <a:t>Overview</a:t>
            </a:r>
          </a:p>
        </p:txBody>
      </p:sp>
      <p:sp>
        <p:nvSpPr>
          <p:cNvPr id="6" name="TextBox 5"/>
          <p:cNvSpPr txBox="1"/>
          <p:nvPr/>
        </p:nvSpPr>
        <p:spPr>
          <a:xfrm>
            <a:off x="365760" y="6537960"/>
            <a:ext cx="8229600" cy="274320"/>
          </a:xfrm>
          <a:prstGeom prst="rect">
            <a:avLst/>
          </a:prstGeom>
          <a:noFill/>
        </p:spPr>
        <p:txBody>
          <a:bodyPr wrap="square" anchor="t" lIns="45720" rIns="45720">
            <a:spAutoFit/>
          </a:bodyPr>
          <a:lstStyle/>
          <a:p>
            <a:pPr algn="l"/>
            <a:r>
              <a:rPr sz="1100" b="0" i="0">
                <a:solidFill>
                  <a:srgbClr val="90A4AE"/>
                </a:solidFill>
                <a:latin typeface="Calibri"/>
              </a:rPr>
              <a:t>Optimizing Modern C++ with Containers   |   Agenda</a:t>
            </a:r>
          </a:p>
        </p:txBody>
      </p:sp>
      <p:sp>
        <p:nvSpPr>
          <p:cNvPr id="7" name="TextBox 6"/>
          <p:cNvSpPr txBox="1"/>
          <p:nvPr/>
        </p:nvSpPr>
        <p:spPr>
          <a:xfrm>
            <a:off x="10820095" y="6537960"/>
            <a:ext cx="1005840" cy="274320"/>
          </a:xfrm>
          <a:prstGeom prst="rect">
            <a:avLst/>
          </a:prstGeom>
          <a:noFill/>
        </p:spPr>
        <p:txBody>
          <a:bodyPr wrap="square" anchor="t" lIns="45720" rIns="45720">
            <a:spAutoFit/>
          </a:bodyPr>
          <a:lstStyle/>
          <a:p>
            <a:pPr algn="r"/>
            <a:r>
              <a:rPr sz="1100" b="0" i="0">
                <a:solidFill>
                  <a:srgbClr val="90A4AE"/>
                </a:solidFill>
                <a:latin typeface="Calibri"/>
              </a:rPr>
              <a:t>2 / 67</a:t>
            </a:r>
          </a:p>
        </p:txBody>
      </p:sp>
      <p:sp>
        <p:nvSpPr>
          <p:cNvPr id="8" name="Oval 7"/>
          <p:cNvSpPr/>
          <p:nvPr/>
        </p:nvSpPr>
        <p:spPr>
          <a:xfrm>
            <a:off x="457200" y="1005840"/>
            <a:ext cx="457200" cy="457200"/>
          </a:xfrm>
          <a:prstGeom prst="ellipse">
            <a:avLst/>
          </a:prstGeom>
          <a:solidFill>
            <a:srgbClr val="E848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7200" y="1005840"/>
            <a:ext cx="457200" cy="457200"/>
          </a:xfrm>
          <a:prstGeom prst="rect">
            <a:avLst/>
          </a:prstGeom>
          <a:noFill/>
        </p:spPr>
        <p:txBody>
          <a:bodyPr wrap="square" anchor="ctr" lIns="45720" rIns="45720">
            <a:spAutoFit/>
          </a:bodyPr>
          <a:lstStyle/>
          <a:p>
            <a:pPr algn="ctr"/>
            <a:r>
              <a:rPr sz="1600" b="1" i="0">
                <a:solidFill>
                  <a:srgbClr val="FFFFFF"/>
                </a:solidFill>
                <a:latin typeface="Calibri"/>
              </a:rPr>
              <a:t>1</a:t>
            </a:r>
          </a:p>
        </p:txBody>
      </p:sp>
      <p:sp>
        <p:nvSpPr>
          <p:cNvPr id="10" name="TextBox 9"/>
          <p:cNvSpPr txBox="1"/>
          <p:nvPr/>
        </p:nvSpPr>
        <p:spPr>
          <a:xfrm>
            <a:off x="1051560" y="1005840"/>
            <a:ext cx="4754880" cy="457200"/>
          </a:xfrm>
          <a:prstGeom prst="rect">
            <a:avLst/>
          </a:prstGeom>
          <a:noFill/>
        </p:spPr>
        <p:txBody>
          <a:bodyPr wrap="square" anchor="ctr" lIns="45720" rIns="45720">
            <a:spAutoFit/>
          </a:bodyPr>
          <a:lstStyle/>
          <a:p>
            <a:pPr algn="l"/>
            <a:r>
              <a:rPr sz="1500" b="0" i="0">
                <a:solidFill>
                  <a:srgbClr val="1A2B3C"/>
                </a:solidFill>
                <a:latin typeface="Calibri"/>
              </a:rPr>
              <a:t>Statelessness as deployment posture</a:t>
            </a:r>
          </a:p>
        </p:txBody>
      </p:sp>
      <p:sp>
        <p:nvSpPr>
          <p:cNvPr id="11" name="Oval 10"/>
          <p:cNvSpPr/>
          <p:nvPr/>
        </p:nvSpPr>
        <p:spPr>
          <a:xfrm>
            <a:off x="457200" y="1572768"/>
            <a:ext cx="457200" cy="457200"/>
          </a:xfrm>
          <a:prstGeom prst="ellipse">
            <a:avLst/>
          </a:prstGeom>
          <a:solidFill>
            <a:srgbClr val="F5A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7200" y="1572768"/>
            <a:ext cx="457200" cy="457200"/>
          </a:xfrm>
          <a:prstGeom prst="rect">
            <a:avLst/>
          </a:prstGeom>
          <a:noFill/>
        </p:spPr>
        <p:txBody>
          <a:bodyPr wrap="square" anchor="ctr" lIns="45720" rIns="45720">
            <a:spAutoFit/>
          </a:bodyPr>
          <a:lstStyle/>
          <a:p>
            <a:pPr algn="ctr"/>
            <a:r>
              <a:rPr sz="1600" b="1" i="0">
                <a:solidFill>
                  <a:srgbClr val="FFFFFF"/>
                </a:solidFill>
                <a:latin typeface="Calibri"/>
              </a:rPr>
              <a:t>2</a:t>
            </a:r>
          </a:p>
        </p:txBody>
      </p:sp>
      <p:sp>
        <p:nvSpPr>
          <p:cNvPr id="13" name="TextBox 12"/>
          <p:cNvSpPr txBox="1"/>
          <p:nvPr/>
        </p:nvSpPr>
        <p:spPr>
          <a:xfrm>
            <a:off x="1051560" y="1572768"/>
            <a:ext cx="4754880" cy="457200"/>
          </a:xfrm>
          <a:prstGeom prst="rect">
            <a:avLst/>
          </a:prstGeom>
          <a:noFill/>
        </p:spPr>
        <p:txBody>
          <a:bodyPr wrap="square" anchor="ctr" lIns="45720" rIns="45720">
            <a:spAutoFit/>
          </a:bodyPr>
          <a:lstStyle/>
          <a:p>
            <a:pPr algn="l"/>
            <a:r>
              <a:rPr sz="1500" b="0" i="0">
                <a:solidFill>
                  <a:srgbClr val="1A2B3C"/>
                </a:solidFill>
                <a:latin typeface="Calibri"/>
              </a:rPr>
              <a:t>RAII as the foundation</a:t>
            </a:r>
          </a:p>
        </p:txBody>
      </p:sp>
      <p:sp>
        <p:nvSpPr>
          <p:cNvPr id="14" name="Oval 13"/>
          <p:cNvSpPr/>
          <p:nvPr/>
        </p:nvSpPr>
        <p:spPr>
          <a:xfrm>
            <a:off x="457200" y="2139696"/>
            <a:ext cx="457200" cy="457200"/>
          </a:xfrm>
          <a:prstGeom prst="ellipse">
            <a:avLst/>
          </a:prstGeom>
          <a:solidFill>
            <a:srgbClr val="1E6F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7200" y="2139696"/>
            <a:ext cx="457200" cy="457200"/>
          </a:xfrm>
          <a:prstGeom prst="rect">
            <a:avLst/>
          </a:prstGeom>
          <a:noFill/>
        </p:spPr>
        <p:txBody>
          <a:bodyPr wrap="square" anchor="ctr" lIns="45720" rIns="45720">
            <a:spAutoFit/>
          </a:bodyPr>
          <a:lstStyle/>
          <a:p>
            <a:pPr algn="ctr"/>
            <a:r>
              <a:rPr sz="1600" b="1" i="0">
                <a:solidFill>
                  <a:srgbClr val="FFFFFF"/>
                </a:solidFill>
                <a:latin typeface="Calibri"/>
              </a:rPr>
              <a:t>3</a:t>
            </a:r>
          </a:p>
        </p:txBody>
      </p:sp>
      <p:sp>
        <p:nvSpPr>
          <p:cNvPr id="16" name="TextBox 15"/>
          <p:cNvSpPr txBox="1"/>
          <p:nvPr/>
        </p:nvSpPr>
        <p:spPr>
          <a:xfrm>
            <a:off x="1051560" y="2139696"/>
            <a:ext cx="4754880" cy="457200"/>
          </a:xfrm>
          <a:prstGeom prst="rect">
            <a:avLst/>
          </a:prstGeom>
          <a:noFill/>
        </p:spPr>
        <p:txBody>
          <a:bodyPr wrap="square" anchor="ctr" lIns="45720" rIns="45720">
            <a:spAutoFit/>
          </a:bodyPr>
          <a:lstStyle/>
          <a:p>
            <a:pPr algn="l"/>
            <a:r>
              <a:rPr sz="1500" b="0" i="0">
                <a:solidFill>
                  <a:srgbClr val="1A2B3C"/>
                </a:solidFill>
                <a:latin typeface="Calibri"/>
              </a:rPr>
              <a:t>PMR: request brings its own memory</a:t>
            </a:r>
          </a:p>
        </p:txBody>
      </p:sp>
      <p:sp>
        <p:nvSpPr>
          <p:cNvPr id="17" name="Oval 16"/>
          <p:cNvSpPr/>
          <p:nvPr/>
        </p:nvSpPr>
        <p:spPr>
          <a:xfrm>
            <a:off x="457200" y="2706624"/>
            <a:ext cx="457200" cy="457200"/>
          </a:xfrm>
          <a:prstGeom prst="ellipse">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57200" y="2706624"/>
            <a:ext cx="457200" cy="457200"/>
          </a:xfrm>
          <a:prstGeom prst="rect">
            <a:avLst/>
          </a:prstGeom>
          <a:noFill/>
        </p:spPr>
        <p:txBody>
          <a:bodyPr wrap="square" anchor="ctr" lIns="45720" rIns="45720">
            <a:spAutoFit/>
          </a:bodyPr>
          <a:lstStyle/>
          <a:p>
            <a:pPr algn="ctr"/>
            <a:r>
              <a:rPr sz="1600" b="1" i="0">
                <a:solidFill>
                  <a:srgbClr val="FFFFFF"/>
                </a:solidFill>
                <a:latin typeface="Calibri"/>
              </a:rPr>
              <a:t>4</a:t>
            </a:r>
          </a:p>
        </p:txBody>
      </p:sp>
      <p:sp>
        <p:nvSpPr>
          <p:cNvPr id="19" name="TextBox 18"/>
          <p:cNvSpPr txBox="1"/>
          <p:nvPr/>
        </p:nvSpPr>
        <p:spPr>
          <a:xfrm>
            <a:off x="1051560" y="2706624"/>
            <a:ext cx="4754880" cy="457200"/>
          </a:xfrm>
          <a:prstGeom prst="rect">
            <a:avLst/>
          </a:prstGeom>
          <a:noFill/>
        </p:spPr>
        <p:txBody>
          <a:bodyPr wrap="square" anchor="ctr" lIns="45720" rIns="45720">
            <a:spAutoFit/>
          </a:bodyPr>
          <a:lstStyle/>
          <a:p>
            <a:pPr algn="l"/>
            <a:r>
              <a:rPr sz="1500" b="0" i="0">
                <a:solidFill>
                  <a:srgbClr val="1A2B3C"/>
                </a:solidFill>
                <a:latin typeface="Calibri"/>
              </a:rPr>
              <a:t>Process-scoped state, owned in main()</a:t>
            </a:r>
          </a:p>
        </p:txBody>
      </p:sp>
      <p:sp>
        <p:nvSpPr>
          <p:cNvPr id="20" name="Oval 19"/>
          <p:cNvSpPr/>
          <p:nvPr/>
        </p:nvSpPr>
        <p:spPr>
          <a:xfrm>
            <a:off x="457200" y="3273552"/>
            <a:ext cx="457200" cy="457200"/>
          </a:xfrm>
          <a:prstGeom prst="ellipse">
            <a:avLst/>
          </a:prstGeom>
          <a:solidFill>
            <a:srgbClr val="00BC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57200" y="3273552"/>
            <a:ext cx="457200" cy="457200"/>
          </a:xfrm>
          <a:prstGeom prst="rect">
            <a:avLst/>
          </a:prstGeom>
          <a:noFill/>
        </p:spPr>
        <p:txBody>
          <a:bodyPr wrap="square" anchor="ctr" lIns="45720" rIns="45720">
            <a:spAutoFit/>
          </a:bodyPr>
          <a:lstStyle/>
          <a:p>
            <a:pPr algn="ctr"/>
            <a:r>
              <a:rPr sz="1600" b="1" i="0">
                <a:solidFill>
                  <a:srgbClr val="FFFFFF"/>
                </a:solidFill>
                <a:latin typeface="Calibri"/>
              </a:rPr>
              <a:t>5</a:t>
            </a:r>
          </a:p>
        </p:txBody>
      </p:sp>
      <p:sp>
        <p:nvSpPr>
          <p:cNvPr id="22" name="TextBox 21"/>
          <p:cNvSpPr txBox="1"/>
          <p:nvPr/>
        </p:nvSpPr>
        <p:spPr>
          <a:xfrm>
            <a:off x="1051560" y="3273552"/>
            <a:ext cx="4754880" cy="457200"/>
          </a:xfrm>
          <a:prstGeom prst="rect">
            <a:avLst/>
          </a:prstGeom>
          <a:noFill/>
        </p:spPr>
        <p:txBody>
          <a:bodyPr wrap="square" anchor="ctr" lIns="45720" rIns="45720">
            <a:spAutoFit/>
          </a:bodyPr>
          <a:lstStyle/>
          <a:p>
            <a:pPr algn="l"/>
            <a:r>
              <a:rPr sz="1500" b="0" i="0">
                <a:solidFill>
                  <a:srgbClr val="1A2B3C"/>
                </a:solidFill>
                <a:latin typeface="Calibri"/>
              </a:rPr>
              <a:t>Threading under a CPU quota</a:t>
            </a:r>
          </a:p>
        </p:txBody>
      </p:sp>
      <p:sp>
        <p:nvSpPr>
          <p:cNvPr id="23" name="Oval 22"/>
          <p:cNvSpPr/>
          <p:nvPr/>
        </p:nvSpPr>
        <p:spPr>
          <a:xfrm>
            <a:off x="457200" y="3840480"/>
            <a:ext cx="457200" cy="457200"/>
          </a:xfrm>
          <a:prstGeom prst="ellipse">
            <a:avLst/>
          </a:prstGeom>
          <a:solidFill>
            <a:srgbClr val="9B59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57200" y="3840480"/>
            <a:ext cx="457200" cy="457200"/>
          </a:xfrm>
          <a:prstGeom prst="rect">
            <a:avLst/>
          </a:prstGeom>
          <a:noFill/>
        </p:spPr>
        <p:txBody>
          <a:bodyPr wrap="square" anchor="ctr" lIns="45720" rIns="45720">
            <a:spAutoFit/>
          </a:bodyPr>
          <a:lstStyle/>
          <a:p>
            <a:pPr algn="ctr"/>
            <a:r>
              <a:rPr sz="1600" b="1" i="0">
                <a:solidFill>
                  <a:srgbClr val="FFFFFF"/>
                </a:solidFill>
                <a:latin typeface="Calibri"/>
              </a:rPr>
              <a:t>6</a:t>
            </a:r>
          </a:p>
        </p:txBody>
      </p:sp>
      <p:sp>
        <p:nvSpPr>
          <p:cNvPr id="25" name="TextBox 24"/>
          <p:cNvSpPr txBox="1"/>
          <p:nvPr/>
        </p:nvSpPr>
        <p:spPr>
          <a:xfrm>
            <a:off x="1051560" y="3840480"/>
            <a:ext cx="4754880" cy="457200"/>
          </a:xfrm>
          <a:prstGeom prst="rect">
            <a:avLst/>
          </a:prstGeom>
          <a:noFill/>
        </p:spPr>
        <p:txBody>
          <a:bodyPr wrap="square" anchor="ctr" lIns="45720" rIns="45720">
            <a:spAutoFit/>
          </a:bodyPr>
          <a:lstStyle/>
          <a:p>
            <a:pPr algn="l"/>
            <a:r>
              <a:rPr sz="1500" b="0" i="0">
                <a:solidFill>
                  <a:srgbClr val="1A2B3C"/>
                </a:solidFill>
                <a:latin typeface="Calibri"/>
              </a:rPr>
              <a:t>12-Factor adapted to C++</a:t>
            </a:r>
          </a:p>
        </p:txBody>
      </p:sp>
      <p:sp>
        <p:nvSpPr>
          <p:cNvPr id="26" name="Oval 25"/>
          <p:cNvSpPr/>
          <p:nvPr/>
        </p:nvSpPr>
        <p:spPr>
          <a:xfrm>
            <a:off x="6217920" y="1005840"/>
            <a:ext cx="457200" cy="457200"/>
          </a:xfrm>
          <a:prstGeom prst="ellipse">
            <a:avLst/>
          </a:prstGeom>
          <a:solidFill>
            <a:srgbClr val="E848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217920" y="1005840"/>
            <a:ext cx="457200" cy="457200"/>
          </a:xfrm>
          <a:prstGeom prst="rect">
            <a:avLst/>
          </a:prstGeom>
          <a:noFill/>
        </p:spPr>
        <p:txBody>
          <a:bodyPr wrap="square" anchor="ctr" lIns="45720" rIns="45720">
            <a:spAutoFit/>
          </a:bodyPr>
          <a:lstStyle/>
          <a:p>
            <a:pPr algn="ctr"/>
            <a:r>
              <a:rPr sz="1600" b="1" i="0">
                <a:solidFill>
                  <a:srgbClr val="FFFFFF"/>
                </a:solidFill>
                <a:latin typeface="Calibri"/>
              </a:rPr>
              <a:t>7</a:t>
            </a:r>
          </a:p>
        </p:txBody>
      </p:sp>
      <p:sp>
        <p:nvSpPr>
          <p:cNvPr id="28" name="TextBox 27"/>
          <p:cNvSpPr txBox="1"/>
          <p:nvPr/>
        </p:nvSpPr>
        <p:spPr>
          <a:xfrm>
            <a:off x="6812280" y="1005840"/>
            <a:ext cx="4754880" cy="457200"/>
          </a:xfrm>
          <a:prstGeom prst="rect">
            <a:avLst/>
          </a:prstGeom>
          <a:noFill/>
        </p:spPr>
        <p:txBody>
          <a:bodyPr wrap="square" anchor="ctr" lIns="45720" rIns="45720">
            <a:spAutoFit/>
          </a:bodyPr>
          <a:lstStyle/>
          <a:p>
            <a:pPr algn="l"/>
            <a:r>
              <a:rPr sz="1500" b="0" i="0">
                <a:solidFill>
                  <a:srgbClr val="1A2B3C"/>
                </a:solidFill>
                <a:latin typeface="Calibri"/>
              </a:rPr>
              <a:t>State externalization</a:t>
            </a:r>
          </a:p>
        </p:txBody>
      </p:sp>
      <p:sp>
        <p:nvSpPr>
          <p:cNvPr id="29" name="Oval 28"/>
          <p:cNvSpPr/>
          <p:nvPr/>
        </p:nvSpPr>
        <p:spPr>
          <a:xfrm>
            <a:off x="6217920" y="1572768"/>
            <a:ext cx="457200" cy="457200"/>
          </a:xfrm>
          <a:prstGeom prst="ellipse">
            <a:avLst/>
          </a:prstGeom>
          <a:solidFill>
            <a:srgbClr val="F5A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217920" y="1572768"/>
            <a:ext cx="457200" cy="457200"/>
          </a:xfrm>
          <a:prstGeom prst="rect">
            <a:avLst/>
          </a:prstGeom>
          <a:noFill/>
        </p:spPr>
        <p:txBody>
          <a:bodyPr wrap="square" anchor="ctr" lIns="45720" rIns="45720">
            <a:spAutoFit/>
          </a:bodyPr>
          <a:lstStyle/>
          <a:p>
            <a:pPr algn="ctr"/>
            <a:r>
              <a:rPr sz="1600" b="1" i="0">
                <a:solidFill>
                  <a:srgbClr val="FFFFFF"/>
                </a:solidFill>
                <a:latin typeface="Calibri"/>
              </a:rPr>
              <a:t>8</a:t>
            </a:r>
          </a:p>
        </p:txBody>
      </p:sp>
      <p:sp>
        <p:nvSpPr>
          <p:cNvPr id="31" name="TextBox 30"/>
          <p:cNvSpPr txBox="1"/>
          <p:nvPr/>
        </p:nvSpPr>
        <p:spPr>
          <a:xfrm>
            <a:off x="6812280" y="1572768"/>
            <a:ext cx="4754880" cy="457200"/>
          </a:xfrm>
          <a:prstGeom prst="rect">
            <a:avLst/>
          </a:prstGeom>
          <a:noFill/>
        </p:spPr>
        <p:txBody>
          <a:bodyPr wrap="square" anchor="ctr" lIns="45720" rIns="45720">
            <a:spAutoFit/>
          </a:bodyPr>
          <a:lstStyle/>
          <a:p>
            <a:pPr algn="l"/>
            <a:r>
              <a:rPr sz="1500" b="0" i="0">
                <a:solidFill>
                  <a:srgbClr val="1A2B3C"/>
                </a:solidFill>
                <a:latin typeface="Calibri"/>
              </a:rPr>
              <a:t>The ephemeral filesystem</a:t>
            </a:r>
          </a:p>
        </p:txBody>
      </p:sp>
      <p:sp>
        <p:nvSpPr>
          <p:cNvPr id="32" name="Oval 31"/>
          <p:cNvSpPr/>
          <p:nvPr/>
        </p:nvSpPr>
        <p:spPr>
          <a:xfrm>
            <a:off x="6217920" y="2139696"/>
            <a:ext cx="457200" cy="457200"/>
          </a:xfrm>
          <a:prstGeom prst="ellipse">
            <a:avLst/>
          </a:prstGeom>
          <a:solidFill>
            <a:srgbClr val="1E6F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217920" y="2139696"/>
            <a:ext cx="457200" cy="457200"/>
          </a:xfrm>
          <a:prstGeom prst="rect">
            <a:avLst/>
          </a:prstGeom>
          <a:noFill/>
        </p:spPr>
        <p:txBody>
          <a:bodyPr wrap="square" anchor="ctr" lIns="45720" rIns="45720">
            <a:spAutoFit/>
          </a:bodyPr>
          <a:lstStyle/>
          <a:p>
            <a:pPr algn="ctr"/>
            <a:r>
              <a:rPr sz="1600" b="1" i="0">
                <a:solidFill>
                  <a:srgbClr val="FFFFFF"/>
                </a:solidFill>
                <a:latin typeface="Calibri"/>
              </a:rPr>
              <a:t>9</a:t>
            </a:r>
          </a:p>
        </p:txBody>
      </p:sp>
      <p:sp>
        <p:nvSpPr>
          <p:cNvPr id="34" name="TextBox 33"/>
          <p:cNvSpPr txBox="1"/>
          <p:nvPr/>
        </p:nvSpPr>
        <p:spPr>
          <a:xfrm>
            <a:off x="6812280" y="2139696"/>
            <a:ext cx="4754880" cy="457200"/>
          </a:xfrm>
          <a:prstGeom prst="rect">
            <a:avLst/>
          </a:prstGeom>
          <a:noFill/>
        </p:spPr>
        <p:txBody>
          <a:bodyPr wrap="square" anchor="ctr" lIns="45720" rIns="45720">
            <a:spAutoFit/>
          </a:bodyPr>
          <a:lstStyle/>
          <a:p>
            <a:pPr algn="l"/>
            <a:r>
              <a:rPr sz="1500" b="0" i="0">
                <a:solidFill>
                  <a:srgbClr val="1A2B3C"/>
                </a:solidFill>
                <a:latin typeface="Calibri"/>
              </a:rPr>
              <a:t>Health checks &amp; graceful shutdown</a:t>
            </a:r>
          </a:p>
        </p:txBody>
      </p:sp>
      <p:sp>
        <p:nvSpPr>
          <p:cNvPr id="35" name="Oval 34"/>
          <p:cNvSpPr/>
          <p:nvPr/>
        </p:nvSpPr>
        <p:spPr>
          <a:xfrm>
            <a:off x="6217920" y="2706624"/>
            <a:ext cx="457200" cy="457200"/>
          </a:xfrm>
          <a:prstGeom prst="ellipse">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217920" y="2706624"/>
            <a:ext cx="457200" cy="457200"/>
          </a:xfrm>
          <a:prstGeom prst="rect">
            <a:avLst/>
          </a:prstGeom>
          <a:noFill/>
        </p:spPr>
        <p:txBody>
          <a:bodyPr wrap="square" anchor="ctr" lIns="45720" rIns="45720">
            <a:spAutoFit/>
          </a:bodyPr>
          <a:lstStyle/>
          <a:p>
            <a:pPr algn="ctr"/>
            <a:r>
              <a:rPr sz="1600" b="1" i="0">
                <a:solidFill>
                  <a:srgbClr val="FFFFFF"/>
                </a:solidFill>
                <a:latin typeface="Calibri"/>
              </a:rPr>
              <a:t>10</a:t>
            </a:r>
          </a:p>
        </p:txBody>
      </p:sp>
      <p:sp>
        <p:nvSpPr>
          <p:cNvPr id="37" name="TextBox 36"/>
          <p:cNvSpPr txBox="1"/>
          <p:nvPr/>
        </p:nvSpPr>
        <p:spPr>
          <a:xfrm>
            <a:off x="6812280" y="2706624"/>
            <a:ext cx="4754880" cy="457200"/>
          </a:xfrm>
          <a:prstGeom prst="rect">
            <a:avLst/>
          </a:prstGeom>
          <a:noFill/>
        </p:spPr>
        <p:txBody>
          <a:bodyPr wrap="square" anchor="ctr" lIns="45720" rIns="45720">
            <a:spAutoFit/>
          </a:bodyPr>
          <a:lstStyle/>
          <a:p>
            <a:pPr algn="l"/>
            <a:r>
              <a:rPr sz="1500" b="0" i="0">
                <a:solidFill>
                  <a:srgbClr val="1A2B3C"/>
                </a:solidFill>
                <a:latin typeface="Calibri"/>
              </a:rPr>
              <a:t>The gRPC capstone</a:t>
            </a:r>
          </a:p>
        </p:txBody>
      </p:sp>
      <p:sp>
        <p:nvSpPr>
          <p:cNvPr id="38" name="Oval 37"/>
          <p:cNvSpPr/>
          <p:nvPr/>
        </p:nvSpPr>
        <p:spPr>
          <a:xfrm>
            <a:off x="6217920" y="3273552"/>
            <a:ext cx="457200" cy="457200"/>
          </a:xfrm>
          <a:prstGeom prst="ellipse">
            <a:avLst/>
          </a:prstGeom>
          <a:solidFill>
            <a:srgbClr val="00BC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6217920" y="3273552"/>
            <a:ext cx="457200" cy="457200"/>
          </a:xfrm>
          <a:prstGeom prst="rect">
            <a:avLst/>
          </a:prstGeom>
          <a:noFill/>
        </p:spPr>
        <p:txBody>
          <a:bodyPr wrap="square" anchor="ctr" lIns="45720" rIns="45720">
            <a:spAutoFit/>
          </a:bodyPr>
          <a:lstStyle/>
          <a:p>
            <a:pPr algn="ctr"/>
            <a:r>
              <a:rPr sz="1600" b="1" i="0">
                <a:solidFill>
                  <a:srgbClr val="FFFFFF"/>
                </a:solidFill>
                <a:latin typeface="Calibri"/>
              </a:rPr>
              <a:t>11</a:t>
            </a:r>
          </a:p>
        </p:txBody>
      </p:sp>
      <p:sp>
        <p:nvSpPr>
          <p:cNvPr id="40" name="TextBox 39"/>
          <p:cNvSpPr txBox="1"/>
          <p:nvPr/>
        </p:nvSpPr>
        <p:spPr>
          <a:xfrm>
            <a:off x="6812280" y="3273552"/>
            <a:ext cx="4754880" cy="457200"/>
          </a:xfrm>
          <a:prstGeom prst="rect">
            <a:avLst/>
          </a:prstGeom>
          <a:noFill/>
        </p:spPr>
        <p:txBody>
          <a:bodyPr wrap="square" anchor="ctr" lIns="45720" rIns="45720">
            <a:spAutoFit/>
          </a:bodyPr>
          <a:lstStyle/>
          <a:p>
            <a:pPr algn="l"/>
            <a:r>
              <a:rPr sz="1500" b="0" i="0">
                <a:solidFill>
                  <a:srgbClr val="1A2B3C"/>
                </a:solidFill>
                <a:latin typeface="Calibri"/>
              </a:rPr>
              <a:t>Build tooling &amp; vendored helpers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1828800"/>
            <a:ext cx="3657600" cy="2286000"/>
          </a:xfrm>
          <a:prstGeom prst="rect">
            <a:avLst/>
          </a:prstGeom>
          <a:noFill/>
        </p:spPr>
        <p:txBody>
          <a:bodyPr wrap="square" anchor="t" lIns="45720" rIns="45720">
            <a:spAutoFit/>
          </a:bodyPr>
          <a:lstStyle/>
          <a:p>
            <a:pPr algn="l"/>
            <a:r>
              <a:rPr sz="18000" b="1" i="0">
                <a:solidFill>
                  <a:srgbClr val="00BCD4"/>
                </a:solidFill>
                <a:latin typeface="Calibri"/>
              </a:rPr>
              <a:t>§1</a:t>
            </a:r>
          </a:p>
        </p:txBody>
      </p:sp>
      <p:sp>
        <p:nvSpPr>
          <p:cNvPr id="3" name="TextBox 2"/>
          <p:cNvSpPr txBox="1"/>
          <p:nvPr/>
        </p:nvSpPr>
        <p:spPr>
          <a:xfrm>
            <a:off x="4114800" y="2103120"/>
            <a:ext cx="7772400" cy="1828800"/>
          </a:xfrm>
          <a:prstGeom prst="rect">
            <a:avLst/>
          </a:prstGeom>
          <a:noFill/>
        </p:spPr>
        <p:txBody>
          <a:bodyPr wrap="square" anchor="t" lIns="45720" rIns="45720">
            <a:spAutoFit/>
          </a:bodyPr>
          <a:lstStyle/>
          <a:p>
            <a:pPr algn="l"/>
            <a:r>
              <a:rPr sz="3600" b="1" i="0">
                <a:solidFill>
                  <a:srgbClr val="FFFFFF"/>
                </a:solidFill>
                <a:latin typeface="Calibri"/>
              </a:rPr>
              <a:t>Statelessness as deployment posture</a:t>
            </a:r>
          </a:p>
        </p:txBody>
      </p:sp>
      <p:sp>
        <p:nvSpPr>
          <p:cNvPr id="4" name="TextBox 3"/>
          <p:cNvSpPr txBox="1"/>
          <p:nvPr/>
        </p:nvSpPr>
        <p:spPr>
          <a:xfrm>
            <a:off x="4114800" y="3474720"/>
            <a:ext cx="7772400" cy="1828800"/>
          </a:xfrm>
          <a:prstGeom prst="rect">
            <a:avLst/>
          </a:prstGeom>
          <a:noFill/>
        </p:spPr>
        <p:txBody>
          <a:bodyPr wrap="square" anchor="t" lIns="45720" rIns="45720">
            <a:spAutoFit/>
          </a:bodyPr>
          <a:lstStyle/>
          <a:p>
            <a:pPr algn="l"/>
            <a:r>
              <a:rPr sz="2000" b="0" i="1">
                <a:solidFill>
                  <a:srgbClr val="90A4AE"/>
                </a:solidFill>
                <a:latin typeface="Calibri"/>
              </a:rPr>
              <a:t>Statelessness is not a code property — it's what the orchestrator can assume.</a:t>
            </a:r>
          </a:p>
        </p:txBody>
      </p:sp>
      <p:sp>
        <p:nvSpPr>
          <p:cNvPr id="5" name="TextBox 4"/>
          <p:cNvSpPr txBox="1"/>
          <p:nvPr/>
        </p:nvSpPr>
        <p:spPr>
          <a:xfrm>
            <a:off x="10820095" y="6400800"/>
            <a:ext cx="914400" cy="274320"/>
          </a:xfrm>
          <a:prstGeom prst="rect">
            <a:avLst/>
          </a:prstGeom>
          <a:noFill/>
        </p:spPr>
        <p:txBody>
          <a:bodyPr wrap="square" anchor="t" lIns="45720" rIns="45720">
            <a:spAutoFit/>
          </a:bodyPr>
          <a:lstStyle/>
          <a:p>
            <a:pPr algn="r"/>
            <a:r>
              <a:rPr sz="1100" b="0" i="0">
                <a:solidFill>
                  <a:srgbClr val="90A4AE"/>
                </a:solidFill>
                <a:latin typeface="Calibri"/>
              </a:rPr>
              <a:t>3 / 67</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640080"/>
          </a:xfrm>
          <a:prstGeom prst="rect">
            <a:avLst/>
          </a:prstGeom>
          <a:solidFill>
            <a:srgbClr val="1E6F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37160"/>
            <a:ext cx="6400800" cy="365760"/>
          </a:xfrm>
          <a:prstGeom prst="rect">
            <a:avLst/>
          </a:prstGeom>
          <a:noFill/>
        </p:spPr>
        <p:txBody>
          <a:bodyPr wrap="square" anchor="t" lIns="45720" rIns="45720">
            <a:spAutoFit/>
          </a:bodyPr>
          <a:lstStyle/>
          <a:p>
            <a:pPr algn="l"/>
            <a:r>
              <a:rPr sz="2800" b="1" i="0">
                <a:solidFill>
                  <a:srgbClr val="FFFFFF"/>
                </a:solidFill>
                <a:latin typeface="Calibri"/>
              </a:rPr>
              <a:t>Statelessness as deployment posture</a:t>
            </a:r>
          </a:p>
        </p:txBody>
      </p:sp>
      <p:sp>
        <p:nvSpPr>
          <p:cNvPr id="4" name="Rounded Rectangle 3"/>
          <p:cNvSpPr/>
          <p:nvPr/>
        </p:nvSpPr>
        <p:spPr>
          <a:xfrm>
            <a:off x="10454335" y="164592"/>
            <a:ext cx="1463040" cy="320040"/>
          </a:xfrm>
          <a:prstGeom prst="roundRect">
            <a:avLst>
              <a:gd name="adj" fmla="val 50000"/>
            </a:avLst>
          </a:prstGeom>
          <a:solidFill>
            <a:srgbClr val="1A2B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454335" y="164592"/>
            <a:ext cx="1463040" cy="320040"/>
          </a:xfrm>
          <a:prstGeom prst="rect">
            <a:avLst/>
          </a:prstGeom>
          <a:noFill/>
        </p:spPr>
        <p:txBody>
          <a:bodyPr wrap="square" anchor="ctr" lIns="45720" rIns="45720">
            <a:spAutoFit/>
          </a:bodyPr>
          <a:lstStyle/>
          <a:p>
            <a:pPr algn="ctr"/>
            <a:r>
              <a:rPr sz="1400" b="1" i="0">
                <a:solidFill>
                  <a:srgbClr val="FFFFFF"/>
                </a:solidFill>
                <a:latin typeface="Calibri"/>
              </a:rPr>
              <a:t>Doc 01</a:t>
            </a:r>
          </a:p>
        </p:txBody>
      </p:sp>
      <p:sp>
        <p:nvSpPr>
          <p:cNvPr id="6" name="TextBox 5"/>
          <p:cNvSpPr txBox="1"/>
          <p:nvPr/>
        </p:nvSpPr>
        <p:spPr>
          <a:xfrm>
            <a:off x="365760" y="6537960"/>
            <a:ext cx="8229600" cy="274320"/>
          </a:xfrm>
          <a:prstGeom prst="rect">
            <a:avLst/>
          </a:prstGeom>
          <a:noFill/>
        </p:spPr>
        <p:txBody>
          <a:bodyPr wrap="square" anchor="t" lIns="45720" rIns="45720">
            <a:spAutoFit/>
          </a:bodyPr>
          <a:lstStyle/>
          <a:p>
            <a:pPr algn="l"/>
            <a:r>
              <a:rPr sz="1100" b="0" i="0">
                <a:solidFill>
                  <a:srgbClr val="90A4AE"/>
                </a:solidFill>
                <a:latin typeface="Calibri"/>
              </a:rPr>
              <a:t>Optimizing Modern C++ with Containers   |   Statelessness as deployment posture</a:t>
            </a:r>
          </a:p>
        </p:txBody>
      </p:sp>
      <p:sp>
        <p:nvSpPr>
          <p:cNvPr id="7" name="TextBox 6"/>
          <p:cNvSpPr txBox="1"/>
          <p:nvPr/>
        </p:nvSpPr>
        <p:spPr>
          <a:xfrm>
            <a:off x="10820095" y="6537960"/>
            <a:ext cx="1005840" cy="274320"/>
          </a:xfrm>
          <a:prstGeom prst="rect">
            <a:avLst/>
          </a:prstGeom>
          <a:noFill/>
        </p:spPr>
        <p:txBody>
          <a:bodyPr wrap="square" anchor="t" lIns="45720" rIns="45720">
            <a:spAutoFit/>
          </a:bodyPr>
          <a:lstStyle/>
          <a:p>
            <a:pPr algn="r"/>
            <a:r>
              <a:rPr sz="1100" b="0" i="0">
                <a:solidFill>
                  <a:srgbClr val="90A4AE"/>
                </a:solidFill>
                <a:latin typeface="Calibri"/>
              </a:rPr>
              <a:t>4 / 67</a:t>
            </a:r>
          </a:p>
        </p:txBody>
      </p:sp>
      <p:sp>
        <p:nvSpPr>
          <p:cNvPr id="8" name="TextBox 7"/>
          <p:cNvSpPr txBox="1"/>
          <p:nvPr/>
        </p:nvSpPr>
        <p:spPr>
          <a:xfrm>
            <a:off x="457200" y="822960"/>
            <a:ext cx="10972800" cy="548640"/>
          </a:xfrm>
          <a:prstGeom prst="rect">
            <a:avLst/>
          </a:prstGeom>
          <a:noFill/>
        </p:spPr>
        <p:txBody>
          <a:bodyPr wrap="square" anchor="t" lIns="45720" rIns="45720">
            <a:spAutoFit/>
          </a:bodyPr>
          <a:lstStyle/>
          <a:p>
            <a:pPr algn="l"/>
            <a:r>
              <a:rPr sz="2800" b="1" i="0">
                <a:solidFill>
                  <a:srgbClr val="1A2B3C"/>
                </a:solidFill>
                <a:latin typeface="Calibri"/>
              </a:rPr>
              <a:t>Why statelessness is the load-bearing property</a:t>
            </a:r>
          </a:p>
        </p:txBody>
      </p:sp>
      <p:sp>
        <p:nvSpPr>
          <p:cNvPr id="9" name="Rectangle 8"/>
          <p:cNvSpPr/>
          <p:nvPr/>
        </p:nvSpPr>
        <p:spPr>
          <a:xfrm>
            <a:off x="457200" y="1554480"/>
            <a:ext cx="2674620" cy="4114800"/>
          </a:xfrm>
          <a:prstGeom prst="rect">
            <a:avLst/>
          </a:prstGeom>
          <a:solidFill>
            <a:srgbClr val="E0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 y="1828800"/>
            <a:ext cx="2674620" cy="2011680"/>
          </a:xfrm>
          <a:prstGeom prst="rect">
            <a:avLst/>
          </a:prstGeom>
          <a:noFill/>
        </p:spPr>
        <p:txBody>
          <a:bodyPr wrap="square" anchor="ctr" lIns="45720" rIns="45720">
            <a:spAutoFit/>
          </a:bodyPr>
          <a:lstStyle/>
          <a:p>
            <a:pPr algn="ctr"/>
            <a:r>
              <a:rPr sz="5400" b="1" i="0">
                <a:solidFill>
                  <a:srgbClr val="1E6FC8"/>
                </a:solidFill>
                <a:latin typeface="Calibri"/>
              </a:rPr>
              <a:t>3</a:t>
            </a:r>
          </a:p>
        </p:txBody>
      </p:sp>
      <p:sp>
        <p:nvSpPr>
          <p:cNvPr id="11" name="TextBox 10"/>
          <p:cNvSpPr txBox="1"/>
          <p:nvPr/>
        </p:nvSpPr>
        <p:spPr>
          <a:xfrm>
            <a:off x="594360" y="4023360"/>
            <a:ext cx="2400300" cy="1463040"/>
          </a:xfrm>
          <a:prstGeom prst="rect">
            <a:avLst/>
          </a:prstGeom>
          <a:noFill/>
        </p:spPr>
        <p:txBody>
          <a:bodyPr wrap="square" anchor="t" lIns="45720" rIns="45720">
            <a:spAutoFit/>
          </a:bodyPr>
          <a:lstStyle/>
          <a:p>
            <a:pPr algn="ctr"/>
            <a:r>
              <a:rPr sz="1400" b="0" i="0">
                <a:solidFill>
                  <a:srgbClr val="1A2B3C"/>
                </a:solidFill>
                <a:latin typeface="Calibri"/>
              </a:rPr>
              <a:t>scopes of state — request, process, deploy-time —
and only one of them may hold authoritative data</a:t>
            </a:r>
          </a:p>
        </p:txBody>
      </p:sp>
      <p:sp>
        <p:nvSpPr>
          <p:cNvPr id="12" name="Rectangle 11"/>
          <p:cNvSpPr/>
          <p:nvPr/>
        </p:nvSpPr>
        <p:spPr>
          <a:xfrm>
            <a:off x="3314700" y="1554480"/>
            <a:ext cx="2674620" cy="4114800"/>
          </a:xfrm>
          <a:prstGeom prst="rect">
            <a:avLst/>
          </a:prstGeom>
          <a:solidFill>
            <a:srgbClr val="E0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314700" y="1828800"/>
            <a:ext cx="2674620" cy="2011680"/>
          </a:xfrm>
          <a:prstGeom prst="rect">
            <a:avLst/>
          </a:prstGeom>
          <a:noFill/>
        </p:spPr>
        <p:txBody>
          <a:bodyPr wrap="square" anchor="ctr" lIns="45720" rIns="45720">
            <a:spAutoFit/>
          </a:bodyPr>
          <a:lstStyle/>
          <a:p>
            <a:pPr algn="ctr"/>
            <a:r>
              <a:rPr sz="5400" b="1" i="0">
                <a:solidFill>
                  <a:srgbClr val="27AE60"/>
                </a:solidFill>
                <a:latin typeface="Calibri"/>
              </a:rPr>
              <a:t>0</a:t>
            </a:r>
          </a:p>
        </p:txBody>
      </p:sp>
      <p:sp>
        <p:nvSpPr>
          <p:cNvPr id="14" name="TextBox 13"/>
          <p:cNvSpPr txBox="1"/>
          <p:nvPr/>
        </p:nvSpPr>
        <p:spPr>
          <a:xfrm>
            <a:off x="3451860" y="4023360"/>
            <a:ext cx="2400300" cy="1463040"/>
          </a:xfrm>
          <a:prstGeom prst="rect">
            <a:avLst/>
          </a:prstGeom>
          <a:noFill/>
        </p:spPr>
        <p:txBody>
          <a:bodyPr wrap="square" anchor="t" lIns="45720" rIns="45720">
            <a:spAutoFit/>
          </a:bodyPr>
          <a:lstStyle/>
          <a:p>
            <a:pPr algn="ctr"/>
            <a:r>
              <a:rPr sz="1400" b="0" i="0">
                <a:solidFill>
                  <a:srgbClr val="1A2B3C"/>
                </a:solidFill>
                <a:latin typeface="Calibri"/>
              </a:rPr>
              <a:t>coordination needed to kill or restart a replica
when nothing authoritative lives in-process</a:t>
            </a:r>
          </a:p>
        </p:txBody>
      </p:sp>
      <p:sp>
        <p:nvSpPr>
          <p:cNvPr id="15" name="Rectangle 14"/>
          <p:cNvSpPr/>
          <p:nvPr/>
        </p:nvSpPr>
        <p:spPr>
          <a:xfrm>
            <a:off x="6172200" y="1554480"/>
            <a:ext cx="2674620" cy="4114800"/>
          </a:xfrm>
          <a:prstGeom prst="rect">
            <a:avLst/>
          </a:prstGeom>
          <a:solidFill>
            <a:srgbClr val="E0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172200" y="1828800"/>
            <a:ext cx="2674620" cy="2011680"/>
          </a:xfrm>
          <a:prstGeom prst="rect">
            <a:avLst/>
          </a:prstGeom>
          <a:noFill/>
        </p:spPr>
        <p:txBody>
          <a:bodyPr wrap="square" anchor="ctr" lIns="45720" rIns="45720">
            <a:spAutoFit/>
          </a:bodyPr>
          <a:lstStyle/>
          <a:p>
            <a:pPr algn="ctr"/>
            <a:r>
              <a:rPr sz="5400" b="1" i="0">
                <a:solidFill>
                  <a:srgbClr val="00BCD4"/>
                </a:solidFill>
                <a:latin typeface="Calibri"/>
              </a:rPr>
              <a:t>02–11</a:t>
            </a:r>
          </a:p>
        </p:txBody>
      </p:sp>
      <p:sp>
        <p:nvSpPr>
          <p:cNvPr id="17" name="TextBox 16"/>
          <p:cNvSpPr txBox="1"/>
          <p:nvPr/>
        </p:nvSpPr>
        <p:spPr>
          <a:xfrm>
            <a:off x="6309360" y="4023360"/>
            <a:ext cx="2400300" cy="1463040"/>
          </a:xfrm>
          <a:prstGeom prst="rect">
            <a:avLst/>
          </a:prstGeom>
          <a:noFill/>
        </p:spPr>
        <p:txBody>
          <a:bodyPr wrap="square" anchor="t" lIns="45720" rIns="45720">
            <a:spAutoFit/>
          </a:bodyPr>
          <a:lstStyle/>
          <a:p>
            <a:pPr algn="ctr"/>
            <a:r>
              <a:rPr sz="1400" b="0" i="0">
                <a:solidFill>
                  <a:srgbClr val="1A2B3C"/>
                </a:solidFill>
                <a:latin typeface="Calibri"/>
              </a:rPr>
              <a:t>compendium examples, each a runnable Podman
demo, host-verified end to end on Fedora 44</a:t>
            </a:r>
          </a:p>
        </p:txBody>
      </p:sp>
      <p:sp>
        <p:nvSpPr>
          <p:cNvPr id="18" name="Rectangle 17"/>
          <p:cNvSpPr/>
          <p:nvPr/>
        </p:nvSpPr>
        <p:spPr>
          <a:xfrm>
            <a:off x="9029700" y="1554480"/>
            <a:ext cx="2674620" cy="4114800"/>
          </a:xfrm>
          <a:prstGeom prst="rect">
            <a:avLst/>
          </a:prstGeom>
          <a:solidFill>
            <a:srgbClr val="E0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029700" y="1828800"/>
            <a:ext cx="2674620" cy="2011680"/>
          </a:xfrm>
          <a:prstGeom prst="rect">
            <a:avLst/>
          </a:prstGeom>
          <a:noFill/>
        </p:spPr>
        <p:txBody>
          <a:bodyPr wrap="square" anchor="ctr" lIns="45720" rIns="45720">
            <a:spAutoFit/>
          </a:bodyPr>
          <a:lstStyle/>
          <a:p>
            <a:pPr algn="ctr"/>
            <a:r>
              <a:rPr sz="5400" b="1" i="0">
                <a:solidFill>
                  <a:srgbClr val="9B59B6"/>
                </a:solidFill>
                <a:latin typeface="Calibri"/>
              </a:rPr>
              <a:t>1</a:t>
            </a:r>
          </a:p>
        </p:txBody>
      </p:sp>
      <p:sp>
        <p:nvSpPr>
          <p:cNvPr id="20" name="TextBox 19"/>
          <p:cNvSpPr txBox="1"/>
          <p:nvPr/>
        </p:nvSpPr>
        <p:spPr>
          <a:xfrm>
            <a:off x="9166860" y="4023360"/>
            <a:ext cx="2400300" cy="1463040"/>
          </a:xfrm>
          <a:prstGeom prst="rect">
            <a:avLst/>
          </a:prstGeom>
          <a:noFill/>
        </p:spPr>
        <p:txBody>
          <a:bodyPr wrap="square" anchor="t" lIns="45720" rIns="45720">
            <a:spAutoFit/>
          </a:bodyPr>
          <a:lstStyle/>
          <a:p>
            <a:pPr algn="ctr"/>
            <a:r>
              <a:rPr sz="1400" b="0" i="0">
                <a:solidFill>
                  <a:srgbClr val="1A2B3C"/>
                </a:solidFill>
                <a:latin typeface="Calibri"/>
              </a:rPr>
              <a:t>binary — stateless or stateful depending only on
where it keeps state, not on its code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640080"/>
          </a:xfrm>
          <a:prstGeom prst="rect">
            <a:avLst/>
          </a:prstGeom>
          <a:solidFill>
            <a:srgbClr val="1E6F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37160"/>
            <a:ext cx="6400800" cy="365760"/>
          </a:xfrm>
          <a:prstGeom prst="rect">
            <a:avLst/>
          </a:prstGeom>
          <a:noFill/>
        </p:spPr>
        <p:txBody>
          <a:bodyPr wrap="square" anchor="t" lIns="45720" rIns="45720">
            <a:spAutoFit/>
          </a:bodyPr>
          <a:lstStyle/>
          <a:p>
            <a:pPr algn="l"/>
            <a:r>
              <a:rPr sz="2800" b="1" i="0">
                <a:solidFill>
                  <a:srgbClr val="FFFFFF"/>
                </a:solidFill>
                <a:latin typeface="Calibri"/>
              </a:rPr>
              <a:t>Statelessness as deployment posture</a:t>
            </a:r>
          </a:p>
        </p:txBody>
      </p:sp>
      <p:sp>
        <p:nvSpPr>
          <p:cNvPr id="4" name="Rounded Rectangle 3"/>
          <p:cNvSpPr/>
          <p:nvPr/>
        </p:nvSpPr>
        <p:spPr>
          <a:xfrm>
            <a:off x="10454335" y="164592"/>
            <a:ext cx="1463040" cy="320040"/>
          </a:xfrm>
          <a:prstGeom prst="roundRect">
            <a:avLst>
              <a:gd name="adj" fmla="val 50000"/>
            </a:avLst>
          </a:prstGeom>
          <a:solidFill>
            <a:srgbClr val="1A2B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454335" y="164592"/>
            <a:ext cx="1463040" cy="320040"/>
          </a:xfrm>
          <a:prstGeom prst="rect">
            <a:avLst/>
          </a:prstGeom>
          <a:noFill/>
        </p:spPr>
        <p:txBody>
          <a:bodyPr wrap="square" anchor="ctr" lIns="45720" rIns="45720">
            <a:spAutoFit/>
          </a:bodyPr>
          <a:lstStyle/>
          <a:p>
            <a:pPr algn="ctr"/>
            <a:r>
              <a:rPr sz="1400" b="1" i="0">
                <a:solidFill>
                  <a:srgbClr val="FFFFFF"/>
                </a:solidFill>
                <a:latin typeface="Calibri"/>
              </a:rPr>
              <a:t>Doc 01</a:t>
            </a:r>
          </a:p>
        </p:txBody>
      </p:sp>
      <p:sp>
        <p:nvSpPr>
          <p:cNvPr id="6" name="TextBox 5"/>
          <p:cNvSpPr txBox="1"/>
          <p:nvPr/>
        </p:nvSpPr>
        <p:spPr>
          <a:xfrm>
            <a:off x="365760" y="6537960"/>
            <a:ext cx="8229600" cy="274320"/>
          </a:xfrm>
          <a:prstGeom prst="rect">
            <a:avLst/>
          </a:prstGeom>
          <a:noFill/>
        </p:spPr>
        <p:txBody>
          <a:bodyPr wrap="square" anchor="t" lIns="45720" rIns="45720">
            <a:spAutoFit/>
          </a:bodyPr>
          <a:lstStyle/>
          <a:p>
            <a:pPr algn="l"/>
            <a:r>
              <a:rPr sz="1100" b="0" i="0">
                <a:solidFill>
                  <a:srgbClr val="90A4AE"/>
                </a:solidFill>
                <a:latin typeface="Calibri"/>
              </a:rPr>
              <a:t>Optimizing Modern C++ with Containers   |   Statelessness as deployment posture</a:t>
            </a:r>
          </a:p>
        </p:txBody>
      </p:sp>
      <p:sp>
        <p:nvSpPr>
          <p:cNvPr id="7" name="TextBox 6"/>
          <p:cNvSpPr txBox="1"/>
          <p:nvPr/>
        </p:nvSpPr>
        <p:spPr>
          <a:xfrm>
            <a:off x="10820095" y="6537960"/>
            <a:ext cx="1005840" cy="274320"/>
          </a:xfrm>
          <a:prstGeom prst="rect">
            <a:avLst/>
          </a:prstGeom>
          <a:noFill/>
        </p:spPr>
        <p:txBody>
          <a:bodyPr wrap="square" anchor="t" lIns="45720" rIns="45720">
            <a:spAutoFit/>
          </a:bodyPr>
          <a:lstStyle/>
          <a:p>
            <a:pPr algn="r"/>
            <a:r>
              <a:rPr sz="1100" b="0" i="0">
                <a:solidFill>
                  <a:srgbClr val="90A4AE"/>
                </a:solidFill>
                <a:latin typeface="Calibri"/>
              </a:rPr>
              <a:t>5 / 67</a:t>
            </a:r>
          </a:p>
        </p:txBody>
      </p:sp>
      <p:sp>
        <p:nvSpPr>
          <p:cNvPr id="8" name="TextBox 7"/>
          <p:cNvSpPr txBox="1"/>
          <p:nvPr/>
        </p:nvSpPr>
        <p:spPr>
          <a:xfrm>
            <a:off x="457200" y="822960"/>
            <a:ext cx="10972800" cy="548640"/>
          </a:xfrm>
          <a:prstGeom prst="rect">
            <a:avLst/>
          </a:prstGeom>
          <a:noFill/>
        </p:spPr>
        <p:txBody>
          <a:bodyPr wrap="square" anchor="t" lIns="45720" rIns="45720">
            <a:spAutoFit/>
          </a:bodyPr>
          <a:lstStyle/>
          <a:p>
            <a:pPr algn="l"/>
            <a:r>
              <a:rPr sz="2800" b="1" i="0">
                <a:solidFill>
                  <a:srgbClr val="1A2B3C"/>
                </a:solidFill>
                <a:latin typeface="Calibri"/>
              </a:rPr>
              <a:t>Three scopes of state</a:t>
            </a:r>
          </a:p>
        </p:txBody>
      </p:sp>
      <p:sp>
        <p:nvSpPr>
          <p:cNvPr id="9" name="TextBox 8"/>
          <p:cNvSpPr txBox="1"/>
          <p:nvPr/>
        </p:nvSpPr>
        <p:spPr>
          <a:xfrm>
            <a:off x="457200" y="1554480"/>
            <a:ext cx="5486400" cy="4572000"/>
          </a:xfrm>
          <a:prstGeom prst="rect">
            <a:avLst/>
          </a:prstGeom>
          <a:noFill/>
        </p:spPr>
        <p:txBody>
          <a:bodyPr wrap="square" anchor="t" lIns="45720" rIns="45720">
            <a:spAutoFit/>
          </a:bodyPr>
          <a:lstStyle/>
          <a:p>
            <a:pPr algn="l">
              <a:lnSpc>
                <a:spcPct val="115000"/>
              </a:lnSpc>
            </a:pPr>
            <a:r>
              <a:rPr sz="1800" b="1" i="0">
                <a:solidFill>
                  <a:srgbClr val="1E6FC8"/>
                </a:solidFill>
                <a:latin typeface="Calibri"/>
              </a:rPr>
              <a:t>The same binary, three kinds of state</a:t>
            </a:r>
          </a:p>
          <a:p>
            <a:pPr algn="l">
              <a:lnSpc>
                <a:spcPct val="115000"/>
              </a:lnSpc>
            </a:pPr>
            <a:r>
              <a:rPr sz="1500" b="0" i="0">
                <a:solidFill>
                  <a:srgbClr val="1A2B3C"/>
                </a:solidFill>
                <a:latin typeface="Calibri"/>
              </a:rPr>
              <a:t>•  Request scope — lives for one RPC; born and dies inside the handler</a:t>
            </a:r>
          </a:p>
          <a:p>
            <a:pPr algn="l">
              <a:lnSpc>
                <a:spcPct val="115000"/>
              </a:lnSpc>
            </a:pPr>
            <a:r>
              <a:rPr sz="1500" b="0" i="0">
                <a:solidFill>
                  <a:srgbClr val="1A2B3C"/>
                </a:solidFill>
                <a:latin typeface="Calibri"/>
              </a:rPr>
              <a:t>•  Process scope — lives for the process; pools, caches, channels, config</a:t>
            </a:r>
          </a:p>
          <a:p>
            <a:pPr algn="l">
              <a:lnSpc>
                <a:spcPct val="115000"/>
              </a:lnSpc>
            </a:pPr>
            <a:r>
              <a:rPr sz="1500" b="0" i="0">
                <a:solidFill>
                  <a:srgbClr val="1A2B3C"/>
                </a:solidFill>
                <a:latin typeface="Calibri"/>
              </a:rPr>
              <a:t>•  Deploy-time scope — lives outside the process; the database, the queue, the cache tier</a:t>
            </a:r>
          </a:p>
          <a:p>
            <a:pPr algn="l">
              <a:lnSpc>
                <a:spcPct val="115000"/>
              </a:lnSpc>
            </a:pPr>
            <a:r>
              <a:rPr sz="1500" b="0" i="1">
                <a:solidFill>
                  <a:srgbClr val="90A4AE"/>
                </a:solidFill>
                <a:latin typeface="Calibri"/>
              </a:rPr>
              <a:t>Statelessness means: nothing the orchestrator can't recreate lives in process scope. Kill a replica and nothing authoritative is lost.</a:t>
            </a:r>
          </a:p>
        </p:txBody>
      </p:sp>
      <p:pic>
        <p:nvPicPr>
          <p:cNvPr id="10" name="Picture 9" descr="01-deployment-posture.jpg"/>
          <p:cNvPicPr>
            <a:picLocks noChangeAspect="1"/>
          </p:cNvPicPr>
          <p:nvPr/>
        </p:nvPicPr>
        <p:blipFill>
          <a:blip r:embed="rId2"/>
          <a:stretch>
            <a:fillRect/>
          </a:stretch>
        </p:blipFill>
        <p:spPr>
          <a:xfrm>
            <a:off x="6217920" y="1554480"/>
            <a:ext cx="5486400" cy="2984988"/>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640080"/>
          </a:xfrm>
          <a:prstGeom prst="rect">
            <a:avLst/>
          </a:prstGeom>
          <a:solidFill>
            <a:srgbClr val="1E6F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37160"/>
            <a:ext cx="6400800" cy="365760"/>
          </a:xfrm>
          <a:prstGeom prst="rect">
            <a:avLst/>
          </a:prstGeom>
          <a:noFill/>
        </p:spPr>
        <p:txBody>
          <a:bodyPr wrap="square" anchor="t" lIns="45720" rIns="45720">
            <a:spAutoFit/>
          </a:bodyPr>
          <a:lstStyle/>
          <a:p>
            <a:pPr algn="l"/>
            <a:r>
              <a:rPr sz="2800" b="1" i="0">
                <a:solidFill>
                  <a:srgbClr val="FFFFFF"/>
                </a:solidFill>
                <a:latin typeface="Calibri"/>
              </a:rPr>
              <a:t>Statelessness as deployment posture</a:t>
            </a:r>
          </a:p>
        </p:txBody>
      </p:sp>
      <p:sp>
        <p:nvSpPr>
          <p:cNvPr id="4" name="Rounded Rectangle 3"/>
          <p:cNvSpPr/>
          <p:nvPr/>
        </p:nvSpPr>
        <p:spPr>
          <a:xfrm>
            <a:off x="10454335" y="164592"/>
            <a:ext cx="1463040" cy="320040"/>
          </a:xfrm>
          <a:prstGeom prst="roundRect">
            <a:avLst>
              <a:gd name="adj" fmla="val 50000"/>
            </a:avLst>
          </a:prstGeom>
          <a:solidFill>
            <a:srgbClr val="1A2B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454335" y="164592"/>
            <a:ext cx="1463040" cy="320040"/>
          </a:xfrm>
          <a:prstGeom prst="rect">
            <a:avLst/>
          </a:prstGeom>
          <a:noFill/>
        </p:spPr>
        <p:txBody>
          <a:bodyPr wrap="square" anchor="ctr" lIns="45720" rIns="45720">
            <a:spAutoFit/>
          </a:bodyPr>
          <a:lstStyle/>
          <a:p>
            <a:pPr algn="ctr"/>
            <a:r>
              <a:rPr sz="1400" b="1" i="0">
                <a:solidFill>
                  <a:srgbClr val="FFFFFF"/>
                </a:solidFill>
                <a:latin typeface="Calibri"/>
              </a:rPr>
              <a:t>Doc 01</a:t>
            </a:r>
          </a:p>
        </p:txBody>
      </p:sp>
      <p:sp>
        <p:nvSpPr>
          <p:cNvPr id="6" name="TextBox 5"/>
          <p:cNvSpPr txBox="1"/>
          <p:nvPr/>
        </p:nvSpPr>
        <p:spPr>
          <a:xfrm>
            <a:off x="365760" y="6537960"/>
            <a:ext cx="8229600" cy="274320"/>
          </a:xfrm>
          <a:prstGeom prst="rect">
            <a:avLst/>
          </a:prstGeom>
          <a:noFill/>
        </p:spPr>
        <p:txBody>
          <a:bodyPr wrap="square" anchor="t" lIns="45720" rIns="45720">
            <a:spAutoFit/>
          </a:bodyPr>
          <a:lstStyle/>
          <a:p>
            <a:pPr algn="l"/>
            <a:r>
              <a:rPr sz="1100" b="0" i="0">
                <a:solidFill>
                  <a:srgbClr val="90A4AE"/>
                </a:solidFill>
                <a:latin typeface="Calibri"/>
              </a:rPr>
              <a:t>Optimizing Modern C++ with Containers   |   Statelessness as deployment posture</a:t>
            </a:r>
          </a:p>
        </p:txBody>
      </p:sp>
      <p:sp>
        <p:nvSpPr>
          <p:cNvPr id="7" name="TextBox 6"/>
          <p:cNvSpPr txBox="1"/>
          <p:nvPr/>
        </p:nvSpPr>
        <p:spPr>
          <a:xfrm>
            <a:off x="10820095" y="6537960"/>
            <a:ext cx="1005840" cy="274320"/>
          </a:xfrm>
          <a:prstGeom prst="rect">
            <a:avLst/>
          </a:prstGeom>
          <a:noFill/>
        </p:spPr>
        <p:txBody>
          <a:bodyPr wrap="square" anchor="t" lIns="45720" rIns="45720">
            <a:spAutoFit/>
          </a:bodyPr>
          <a:lstStyle/>
          <a:p>
            <a:pPr algn="r"/>
            <a:r>
              <a:rPr sz="1100" b="0" i="0">
                <a:solidFill>
                  <a:srgbClr val="90A4AE"/>
                </a:solidFill>
                <a:latin typeface="Calibri"/>
              </a:rPr>
              <a:t>6 / 67</a:t>
            </a:r>
          </a:p>
        </p:txBody>
      </p:sp>
      <p:sp>
        <p:nvSpPr>
          <p:cNvPr id="8" name="TextBox 7"/>
          <p:cNvSpPr txBox="1"/>
          <p:nvPr/>
        </p:nvSpPr>
        <p:spPr>
          <a:xfrm>
            <a:off x="457200" y="822960"/>
            <a:ext cx="10972800" cy="548640"/>
          </a:xfrm>
          <a:prstGeom prst="rect">
            <a:avLst/>
          </a:prstGeom>
          <a:noFill/>
        </p:spPr>
        <p:txBody>
          <a:bodyPr wrap="square" anchor="t" lIns="45720" rIns="45720">
            <a:spAutoFit/>
          </a:bodyPr>
          <a:lstStyle/>
          <a:p>
            <a:pPr algn="l"/>
            <a:r>
              <a:rPr sz="2800" b="1" i="0">
                <a:solidFill>
                  <a:srgbClr val="1A2B3C"/>
                </a:solidFill>
                <a:latin typeface="Calibri"/>
              </a:rPr>
              <a:t>Six monolith intuitions that mislead</a:t>
            </a:r>
          </a:p>
        </p:txBody>
      </p:sp>
      <p:sp>
        <p:nvSpPr>
          <p:cNvPr id="9" name="TextBox 8"/>
          <p:cNvSpPr txBox="1"/>
          <p:nvPr/>
        </p:nvSpPr>
        <p:spPr>
          <a:xfrm>
            <a:off x="457200" y="1554480"/>
            <a:ext cx="11247120" cy="4572000"/>
          </a:xfrm>
          <a:prstGeom prst="rect">
            <a:avLst/>
          </a:prstGeom>
          <a:noFill/>
        </p:spPr>
        <p:txBody>
          <a:bodyPr wrap="square" anchor="t" lIns="45720" rIns="45720">
            <a:spAutoFit/>
          </a:bodyPr>
          <a:lstStyle/>
          <a:p>
            <a:pPr algn="l">
              <a:lnSpc>
                <a:spcPct val="115000"/>
              </a:lnSpc>
            </a:pPr>
            <a:r>
              <a:rPr sz="1800" b="1" i="0">
                <a:solidFill>
                  <a:srgbClr val="E84855"/>
                </a:solidFill>
                <a:latin typeface="Calibri"/>
              </a:rPr>
              <a:t>What bare-metal habits get wrong under containers</a:t>
            </a:r>
          </a:p>
          <a:p>
            <a:pPr algn="l">
              <a:lnSpc>
                <a:spcPct val="115000"/>
              </a:lnSpc>
            </a:pPr>
            <a:r>
              <a:rPr sz="1500" b="0" i="0">
                <a:solidFill>
                  <a:srgbClr val="1A2B3C"/>
                </a:solidFill>
                <a:latin typeface="Calibri"/>
              </a:rPr>
              <a:t>•  "The box has N cores" — the cgroup quota does not equal nproc</a:t>
            </a:r>
          </a:p>
          <a:p>
            <a:pPr algn="l">
              <a:lnSpc>
                <a:spcPct val="115000"/>
              </a:lnSpc>
            </a:pPr>
            <a:r>
              <a:rPr sz="1500" b="0" i="0">
                <a:solidFill>
                  <a:srgbClr val="1A2B3C"/>
                </a:solidFill>
                <a:latin typeface="Calibri"/>
              </a:rPr>
              <a:t>•  "Memory is the machine's RAM" — memory.max is the real ceiling</a:t>
            </a:r>
          </a:p>
          <a:p>
            <a:pPr algn="l">
              <a:lnSpc>
                <a:spcPct val="115000"/>
              </a:lnSpc>
            </a:pPr>
            <a:r>
              <a:rPr sz="1500" b="0" i="0">
                <a:solidFill>
                  <a:srgbClr val="1A2B3C"/>
                </a:solidFill>
                <a:latin typeface="Calibri"/>
              </a:rPr>
              <a:t>•  "The filesystem persists" — the rootfs is ephemeral (Doc 8)</a:t>
            </a:r>
          </a:p>
          <a:p>
            <a:pPr algn="l">
              <a:lnSpc>
                <a:spcPct val="115000"/>
              </a:lnSpc>
            </a:pPr>
            <a:r>
              <a:rPr sz="1500" b="0" i="0">
                <a:solidFill>
                  <a:srgbClr val="1A2B3C"/>
                </a:solidFill>
                <a:latin typeface="Calibri"/>
              </a:rPr>
              <a:t>•  "My thread pool should match the CPU count" — it should match the cgroup (Doc 5)</a:t>
            </a:r>
          </a:p>
          <a:p>
            <a:pPr algn="l">
              <a:lnSpc>
                <a:spcPct val="115000"/>
              </a:lnSpc>
            </a:pPr>
            <a:r>
              <a:rPr sz="1500" b="0" i="0">
                <a:solidFill>
                  <a:srgbClr val="1A2B3C"/>
                </a:solidFill>
                <a:latin typeface="Calibri"/>
              </a:rPr>
              <a:t>•  "Local cache is free" — it desyncs across replicas (Doc 7)</a:t>
            </a:r>
          </a:p>
          <a:p>
            <a:pPr algn="l">
              <a:lnSpc>
                <a:spcPct val="115000"/>
              </a:lnSpc>
            </a:pPr>
            <a:r>
              <a:rPr sz="1500" b="0" i="0">
                <a:solidFill>
                  <a:srgbClr val="1A2B3C"/>
                </a:solidFill>
                <a:latin typeface="Calibri"/>
              </a:rPr>
              <a:t>•  "Restart is exceptional" — under orchestration it's routine (Doc 9)</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640080"/>
          </a:xfrm>
          <a:prstGeom prst="rect">
            <a:avLst/>
          </a:prstGeom>
          <a:solidFill>
            <a:srgbClr val="1E6F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37160"/>
            <a:ext cx="6400800" cy="365760"/>
          </a:xfrm>
          <a:prstGeom prst="rect">
            <a:avLst/>
          </a:prstGeom>
          <a:noFill/>
        </p:spPr>
        <p:txBody>
          <a:bodyPr wrap="square" anchor="t" lIns="45720" rIns="45720">
            <a:spAutoFit/>
          </a:bodyPr>
          <a:lstStyle/>
          <a:p>
            <a:pPr algn="l"/>
            <a:r>
              <a:rPr sz="2800" b="1" i="0">
                <a:solidFill>
                  <a:srgbClr val="FFFFFF"/>
                </a:solidFill>
                <a:latin typeface="Calibri"/>
              </a:rPr>
              <a:t>Statelessness as deployment posture</a:t>
            </a:r>
          </a:p>
        </p:txBody>
      </p:sp>
      <p:sp>
        <p:nvSpPr>
          <p:cNvPr id="4" name="Rounded Rectangle 3"/>
          <p:cNvSpPr/>
          <p:nvPr/>
        </p:nvSpPr>
        <p:spPr>
          <a:xfrm>
            <a:off x="10454335" y="164592"/>
            <a:ext cx="1463040" cy="320040"/>
          </a:xfrm>
          <a:prstGeom prst="roundRect">
            <a:avLst>
              <a:gd name="adj" fmla="val 50000"/>
            </a:avLst>
          </a:prstGeom>
          <a:solidFill>
            <a:srgbClr val="1A2B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454335" y="164592"/>
            <a:ext cx="1463040" cy="320040"/>
          </a:xfrm>
          <a:prstGeom prst="rect">
            <a:avLst/>
          </a:prstGeom>
          <a:noFill/>
        </p:spPr>
        <p:txBody>
          <a:bodyPr wrap="square" anchor="ctr" lIns="45720" rIns="45720">
            <a:spAutoFit/>
          </a:bodyPr>
          <a:lstStyle/>
          <a:p>
            <a:pPr algn="ctr"/>
            <a:r>
              <a:rPr sz="1400" b="1" i="0">
                <a:solidFill>
                  <a:srgbClr val="FFFFFF"/>
                </a:solidFill>
                <a:latin typeface="Calibri"/>
              </a:rPr>
              <a:t>Doc 01</a:t>
            </a:r>
          </a:p>
        </p:txBody>
      </p:sp>
      <p:sp>
        <p:nvSpPr>
          <p:cNvPr id="6" name="TextBox 5"/>
          <p:cNvSpPr txBox="1"/>
          <p:nvPr/>
        </p:nvSpPr>
        <p:spPr>
          <a:xfrm>
            <a:off x="365760" y="6537960"/>
            <a:ext cx="8229600" cy="274320"/>
          </a:xfrm>
          <a:prstGeom prst="rect">
            <a:avLst/>
          </a:prstGeom>
          <a:noFill/>
        </p:spPr>
        <p:txBody>
          <a:bodyPr wrap="square" anchor="t" lIns="45720" rIns="45720">
            <a:spAutoFit/>
          </a:bodyPr>
          <a:lstStyle/>
          <a:p>
            <a:pPr algn="l"/>
            <a:r>
              <a:rPr sz="1100" b="0" i="0">
                <a:solidFill>
                  <a:srgbClr val="90A4AE"/>
                </a:solidFill>
                <a:latin typeface="Calibri"/>
              </a:rPr>
              <a:t>Optimizing Modern C++ with Containers   |   Statelessness as deployment posture</a:t>
            </a:r>
          </a:p>
        </p:txBody>
      </p:sp>
      <p:sp>
        <p:nvSpPr>
          <p:cNvPr id="7" name="TextBox 6"/>
          <p:cNvSpPr txBox="1"/>
          <p:nvPr/>
        </p:nvSpPr>
        <p:spPr>
          <a:xfrm>
            <a:off x="10820095" y="6537960"/>
            <a:ext cx="1005840" cy="274320"/>
          </a:xfrm>
          <a:prstGeom prst="rect">
            <a:avLst/>
          </a:prstGeom>
          <a:noFill/>
        </p:spPr>
        <p:txBody>
          <a:bodyPr wrap="square" anchor="t" lIns="45720" rIns="45720">
            <a:spAutoFit/>
          </a:bodyPr>
          <a:lstStyle/>
          <a:p>
            <a:pPr algn="r"/>
            <a:r>
              <a:rPr sz="1100" b="0" i="0">
                <a:solidFill>
                  <a:srgbClr val="90A4AE"/>
                </a:solidFill>
                <a:latin typeface="Calibri"/>
              </a:rPr>
              <a:t>7 / 67</a:t>
            </a:r>
          </a:p>
        </p:txBody>
      </p:sp>
      <p:sp>
        <p:nvSpPr>
          <p:cNvPr id="8" name="TextBox 7"/>
          <p:cNvSpPr txBox="1"/>
          <p:nvPr/>
        </p:nvSpPr>
        <p:spPr>
          <a:xfrm>
            <a:off x="457200" y="822960"/>
            <a:ext cx="10972800" cy="548640"/>
          </a:xfrm>
          <a:prstGeom prst="rect">
            <a:avLst/>
          </a:prstGeom>
          <a:noFill/>
        </p:spPr>
        <p:txBody>
          <a:bodyPr wrap="square" anchor="t" lIns="45720" rIns="45720">
            <a:spAutoFit/>
          </a:bodyPr>
          <a:lstStyle/>
          <a:p>
            <a:pPr algn="l"/>
            <a:r>
              <a:rPr sz="2800" b="1" i="0">
                <a:solidFill>
                  <a:srgbClr val="1A2B3C"/>
                </a:solidFill>
                <a:latin typeface="Calibri"/>
              </a:rPr>
              <a:t>The State Architecture Table</a:t>
            </a:r>
          </a:p>
        </p:txBody>
      </p:sp>
      <p:sp>
        <p:nvSpPr>
          <p:cNvPr id="9" name="TextBox 8"/>
          <p:cNvSpPr txBox="1"/>
          <p:nvPr/>
        </p:nvSpPr>
        <p:spPr>
          <a:xfrm>
            <a:off x="457200" y="1554480"/>
            <a:ext cx="11247120" cy="4572000"/>
          </a:xfrm>
          <a:prstGeom prst="rect">
            <a:avLst/>
          </a:prstGeom>
          <a:noFill/>
        </p:spPr>
        <p:txBody>
          <a:bodyPr wrap="square" anchor="t" lIns="45720" rIns="45720">
            <a:spAutoFit/>
          </a:bodyPr>
          <a:lstStyle/>
          <a:p>
            <a:pPr algn="l">
              <a:lnSpc>
                <a:spcPct val="115000"/>
              </a:lnSpc>
            </a:pPr>
            <a:r>
              <a:rPr sz="1800" b="1" i="0">
                <a:solidFill>
                  <a:srgbClr val="27AE60"/>
                </a:solidFill>
                <a:latin typeface="Calibri"/>
              </a:rPr>
              <a:t>Decide, per piece of state, where it lives</a:t>
            </a:r>
          </a:p>
          <a:p>
            <a:pPr algn="l">
              <a:lnSpc>
                <a:spcPct val="115000"/>
              </a:lnSpc>
            </a:pPr>
            <a:r>
              <a:rPr sz="1500" b="0" i="0">
                <a:solidFill>
                  <a:srgbClr val="1A2B3C"/>
                </a:solidFill>
                <a:latin typeface="Calibri"/>
              </a:rPr>
              <a:t>•  Session / auth context → externalized (cache tier), never in-process</a:t>
            </a:r>
          </a:p>
          <a:p>
            <a:pPr algn="l">
              <a:lnSpc>
                <a:spcPct val="115000"/>
              </a:lnSpc>
            </a:pPr>
            <a:r>
              <a:rPr sz="1500" b="0" i="0">
                <a:solidFill>
                  <a:srgbClr val="1A2B3C"/>
                </a:solidFill>
                <a:latin typeface="Calibri"/>
              </a:rPr>
              <a:t>•  Counters, sequences → the database, atomic; not a process-local int</a:t>
            </a:r>
          </a:p>
          <a:p>
            <a:pPr algn="l">
              <a:lnSpc>
                <a:spcPct val="115000"/>
              </a:lnSpc>
            </a:pPr>
            <a:r>
              <a:rPr sz="1500" b="0" i="0">
                <a:solidFill>
                  <a:srgbClr val="1A2B3C"/>
                </a:solidFill>
                <a:latin typeface="Calibri"/>
              </a:rPr>
              <a:t>•  Durable workflow → the database or a workflow engine</a:t>
            </a:r>
          </a:p>
          <a:p>
            <a:pPr algn="l">
              <a:lnSpc>
                <a:spcPct val="115000"/>
              </a:lnSpc>
            </a:pPr>
            <a:r>
              <a:rPr sz="1500" b="0" i="0">
                <a:solidFill>
                  <a:srgbClr val="1A2B3C"/>
                </a:solidFill>
                <a:latin typeface="Calibri"/>
              </a:rPr>
              <a:t>•  Connection pools, channels, parsed config → process scope, owned in main()</a:t>
            </a:r>
          </a:p>
          <a:p>
            <a:pPr algn="l">
              <a:lnSpc>
                <a:spcPct val="115000"/>
              </a:lnSpc>
            </a:pPr>
            <a:r>
              <a:rPr sz="1500" b="0" i="0">
                <a:solidFill>
                  <a:srgbClr val="1A2B3C"/>
                </a:solidFill>
                <a:latin typeface="Calibri"/>
              </a:rPr>
              <a:t>•  Per-request scratch → request scope, the PMR arena</a:t>
            </a:r>
          </a:p>
          <a:p>
            <a:pPr algn="l">
              <a:lnSpc>
                <a:spcPct val="115000"/>
              </a:lnSpc>
            </a:pPr>
            <a:r>
              <a:rPr sz="1500" b="0" i="1">
                <a:solidFill>
                  <a:srgbClr val="90A4AE"/>
                </a:solidFill>
                <a:latin typeface="Calibri"/>
              </a:rPr>
              <a:t>The table is the design exercise: enumerate every piece of state and assign it a scope on purpose.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1828800"/>
            <a:ext cx="3657600" cy="2286000"/>
          </a:xfrm>
          <a:prstGeom prst="rect">
            <a:avLst/>
          </a:prstGeom>
          <a:noFill/>
        </p:spPr>
        <p:txBody>
          <a:bodyPr wrap="square" anchor="t" lIns="45720" rIns="45720">
            <a:spAutoFit/>
          </a:bodyPr>
          <a:lstStyle/>
          <a:p>
            <a:pPr algn="l"/>
            <a:r>
              <a:rPr sz="18000" b="1" i="0">
                <a:solidFill>
                  <a:srgbClr val="00BCD4"/>
                </a:solidFill>
                <a:latin typeface="Calibri"/>
              </a:rPr>
              <a:t>§2</a:t>
            </a:r>
          </a:p>
        </p:txBody>
      </p:sp>
      <p:sp>
        <p:nvSpPr>
          <p:cNvPr id="3" name="TextBox 2"/>
          <p:cNvSpPr txBox="1"/>
          <p:nvPr/>
        </p:nvSpPr>
        <p:spPr>
          <a:xfrm>
            <a:off x="4114800" y="2103120"/>
            <a:ext cx="7772400" cy="1828800"/>
          </a:xfrm>
          <a:prstGeom prst="rect">
            <a:avLst/>
          </a:prstGeom>
          <a:noFill/>
        </p:spPr>
        <p:txBody>
          <a:bodyPr wrap="square" anchor="t" lIns="45720" rIns="45720">
            <a:spAutoFit/>
          </a:bodyPr>
          <a:lstStyle/>
          <a:p>
            <a:pPr algn="l"/>
            <a:r>
              <a:rPr sz="3600" b="1" i="0">
                <a:solidFill>
                  <a:srgbClr val="FFFFFF"/>
                </a:solidFill>
                <a:latin typeface="Calibri"/>
              </a:rPr>
              <a:t>RAII as the foundation</a:t>
            </a:r>
          </a:p>
        </p:txBody>
      </p:sp>
      <p:sp>
        <p:nvSpPr>
          <p:cNvPr id="4" name="TextBox 3"/>
          <p:cNvSpPr txBox="1"/>
          <p:nvPr/>
        </p:nvSpPr>
        <p:spPr>
          <a:xfrm>
            <a:off x="4114800" y="3474720"/>
            <a:ext cx="7772400" cy="1828800"/>
          </a:xfrm>
          <a:prstGeom prst="rect">
            <a:avLst/>
          </a:prstGeom>
          <a:noFill/>
        </p:spPr>
        <p:txBody>
          <a:bodyPr wrap="square" anchor="t" lIns="45720" rIns="45720">
            <a:spAutoFit/>
          </a:bodyPr>
          <a:lstStyle/>
          <a:p>
            <a:pPr algn="l"/>
            <a:r>
              <a:rPr sz="2000" b="0" i="1">
                <a:solidFill>
                  <a:srgbClr val="90A4AE"/>
                </a:solidFill>
                <a:latin typeface="Calibri"/>
              </a:rPr>
              <a:t>Bind resource lifetime to scope; the destructor is the contract.</a:t>
            </a:r>
          </a:p>
        </p:txBody>
      </p:sp>
      <p:sp>
        <p:nvSpPr>
          <p:cNvPr id="5" name="TextBox 4"/>
          <p:cNvSpPr txBox="1"/>
          <p:nvPr/>
        </p:nvSpPr>
        <p:spPr>
          <a:xfrm>
            <a:off x="10820095" y="6400800"/>
            <a:ext cx="914400" cy="274320"/>
          </a:xfrm>
          <a:prstGeom prst="rect">
            <a:avLst/>
          </a:prstGeom>
          <a:noFill/>
        </p:spPr>
        <p:txBody>
          <a:bodyPr wrap="square" anchor="t" lIns="45720" rIns="45720">
            <a:spAutoFit/>
          </a:bodyPr>
          <a:lstStyle/>
          <a:p>
            <a:pPr algn="r"/>
            <a:r>
              <a:rPr sz="1100" b="0" i="0">
                <a:solidFill>
                  <a:srgbClr val="90A4AE"/>
                </a:solidFill>
                <a:latin typeface="Calibri"/>
              </a:rPr>
              <a:t>8 / 67</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640080"/>
          </a:xfrm>
          <a:prstGeom prst="rect">
            <a:avLst/>
          </a:prstGeom>
          <a:solidFill>
            <a:srgbClr val="1E6F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37160"/>
            <a:ext cx="6400800" cy="365760"/>
          </a:xfrm>
          <a:prstGeom prst="rect">
            <a:avLst/>
          </a:prstGeom>
          <a:noFill/>
        </p:spPr>
        <p:txBody>
          <a:bodyPr wrap="square" anchor="t" lIns="45720" rIns="45720">
            <a:spAutoFit/>
          </a:bodyPr>
          <a:lstStyle/>
          <a:p>
            <a:pPr algn="l"/>
            <a:r>
              <a:rPr sz="2800" b="1" i="0">
                <a:solidFill>
                  <a:srgbClr val="FFFFFF"/>
                </a:solidFill>
                <a:latin typeface="Calibri"/>
              </a:rPr>
              <a:t>RAII as the foundation</a:t>
            </a:r>
          </a:p>
        </p:txBody>
      </p:sp>
      <p:sp>
        <p:nvSpPr>
          <p:cNvPr id="4" name="Rounded Rectangle 3"/>
          <p:cNvSpPr/>
          <p:nvPr/>
        </p:nvSpPr>
        <p:spPr>
          <a:xfrm>
            <a:off x="10454335" y="164592"/>
            <a:ext cx="1463040" cy="320040"/>
          </a:xfrm>
          <a:prstGeom prst="roundRect">
            <a:avLst>
              <a:gd name="adj" fmla="val 50000"/>
            </a:avLst>
          </a:prstGeom>
          <a:solidFill>
            <a:srgbClr val="1A2B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454335" y="164592"/>
            <a:ext cx="1463040" cy="320040"/>
          </a:xfrm>
          <a:prstGeom prst="rect">
            <a:avLst/>
          </a:prstGeom>
          <a:noFill/>
        </p:spPr>
        <p:txBody>
          <a:bodyPr wrap="square" anchor="ctr" lIns="45720" rIns="45720">
            <a:spAutoFit/>
          </a:bodyPr>
          <a:lstStyle/>
          <a:p>
            <a:pPr algn="ctr"/>
            <a:r>
              <a:rPr sz="1400" b="1" i="0">
                <a:solidFill>
                  <a:srgbClr val="FFFFFF"/>
                </a:solidFill>
                <a:latin typeface="Calibri"/>
              </a:rPr>
              <a:t>Doc 02</a:t>
            </a:r>
          </a:p>
        </p:txBody>
      </p:sp>
      <p:sp>
        <p:nvSpPr>
          <p:cNvPr id="6" name="TextBox 5"/>
          <p:cNvSpPr txBox="1"/>
          <p:nvPr/>
        </p:nvSpPr>
        <p:spPr>
          <a:xfrm>
            <a:off x="365760" y="6537960"/>
            <a:ext cx="8229600" cy="274320"/>
          </a:xfrm>
          <a:prstGeom prst="rect">
            <a:avLst/>
          </a:prstGeom>
          <a:noFill/>
        </p:spPr>
        <p:txBody>
          <a:bodyPr wrap="square" anchor="t" lIns="45720" rIns="45720">
            <a:spAutoFit/>
          </a:bodyPr>
          <a:lstStyle/>
          <a:p>
            <a:pPr algn="l"/>
            <a:r>
              <a:rPr sz="1100" b="0" i="0">
                <a:solidFill>
                  <a:srgbClr val="90A4AE"/>
                </a:solidFill>
                <a:latin typeface="Calibri"/>
              </a:rPr>
              <a:t>Optimizing Modern C++ with Containers   |   RAII as the foundation</a:t>
            </a:r>
          </a:p>
        </p:txBody>
      </p:sp>
      <p:sp>
        <p:nvSpPr>
          <p:cNvPr id="7" name="TextBox 6"/>
          <p:cNvSpPr txBox="1"/>
          <p:nvPr/>
        </p:nvSpPr>
        <p:spPr>
          <a:xfrm>
            <a:off x="10820095" y="6537960"/>
            <a:ext cx="1005840" cy="274320"/>
          </a:xfrm>
          <a:prstGeom prst="rect">
            <a:avLst/>
          </a:prstGeom>
          <a:noFill/>
        </p:spPr>
        <p:txBody>
          <a:bodyPr wrap="square" anchor="t" lIns="45720" rIns="45720">
            <a:spAutoFit/>
          </a:bodyPr>
          <a:lstStyle/>
          <a:p>
            <a:pPr algn="r"/>
            <a:r>
              <a:rPr sz="1100" b="0" i="0">
                <a:solidFill>
                  <a:srgbClr val="90A4AE"/>
                </a:solidFill>
                <a:latin typeface="Calibri"/>
              </a:rPr>
              <a:t>9 / 67</a:t>
            </a:r>
          </a:p>
        </p:txBody>
      </p:sp>
      <p:sp>
        <p:nvSpPr>
          <p:cNvPr id="8" name="TextBox 7"/>
          <p:cNvSpPr txBox="1"/>
          <p:nvPr/>
        </p:nvSpPr>
        <p:spPr>
          <a:xfrm>
            <a:off x="457200" y="822960"/>
            <a:ext cx="10972800" cy="548640"/>
          </a:xfrm>
          <a:prstGeom prst="rect">
            <a:avLst/>
          </a:prstGeom>
          <a:noFill/>
        </p:spPr>
        <p:txBody>
          <a:bodyPr wrap="square" anchor="t" lIns="45720" rIns="45720">
            <a:spAutoFit/>
          </a:bodyPr>
          <a:lstStyle/>
          <a:p>
            <a:pPr algn="l"/>
            <a:r>
              <a:rPr sz="2800" b="1" i="0">
                <a:solidFill>
                  <a:srgbClr val="1A2B3C"/>
                </a:solidFill>
                <a:latin typeface="Calibri"/>
              </a:rPr>
              <a:t>The RequestContext pattern</a:t>
            </a:r>
          </a:p>
        </p:txBody>
      </p:sp>
      <p:sp>
        <p:nvSpPr>
          <p:cNvPr id="9" name="TextBox 8"/>
          <p:cNvSpPr txBox="1"/>
          <p:nvPr/>
        </p:nvSpPr>
        <p:spPr>
          <a:xfrm>
            <a:off x="457200" y="1554480"/>
            <a:ext cx="5486400" cy="4572000"/>
          </a:xfrm>
          <a:prstGeom prst="rect">
            <a:avLst/>
          </a:prstGeom>
          <a:noFill/>
        </p:spPr>
        <p:txBody>
          <a:bodyPr wrap="square" anchor="t" lIns="45720" rIns="45720">
            <a:spAutoFit/>
          </a:bodyPr>
          <a:lstStyle/>
          <a:p>
            <a:pPr algn="l">
              <a:lnSpc>
                <a:spcPct val="115000"/>
              </a:lnSpc>
            </a:pPr>
            <a:r>
              <a:rPr sz="1800" b="1" i="0">
                <a:solidFill>
                  <a:srgbClr val="1E6FC8"/>
                </a:solidFill>
                <a:latin typeface="Calibri"/>
              </a:rPr>
              <a:t>One RAII type bundles per-request state</a:t>
            </a:r>
          </a:p>
          <a:p>
            <a:pPr algn="l">
              <a:lnSpc>
                <a:spcPct val="115000"/>
              </a:lnSpc>
            </a:pPr>
            <a:r>
              <a:rPr sz="1500" b="0" i="0">
                <a:solidFill>
                  <a:srgbClr val="1A2B3C"/>
                </a:solidFill>
                <a:latin typeface="Calibri"/>
              </a:rPr>
              <a:t>•  Constructed at the top of the handler; destroyed on return</a:t>
            </a:r>
          </a:p>
          <a:p>
            <a:pPr algn="l">
              <a:lnSpc>
                <a:spcPct val="115000"/>
              </a:lnSpc>
            </a:pPr>
            <a:r>
              <a:rPr sz="1500" b="0" i="0">
                <a:solidFill>
                  <a:srgbClr val="1A2B3C"/>
                </a:solidFill>
                <a:latin typeface="Calibri"/>
              </a:rPr>
              <a:t>•  Bundles the deadline, correlation id, a per-request arena, the span scope</a:t>
            </a:r>
          </a:p>
          <a:p>
            <a:pPr algn="l">
              <a:lnSpc>
                <a:spcPct val="115000"/>
              </a:lnSpc>
            </a:pPr>
            <a:r>
              <a:rPr sz="1500" b="0" i="0">
                <a:solidFill>
                  <a:srgbClr val="1A2B3C"/>
                </a:solidFill>
                <a:latin typeface="Calibri"/>
              </a:rPr>
              <a:t>•  Members destruct in reverse declaration order — cleanup ordering for free</a:t>
            </a:r>
          </a:p>
          <a:p>
            <a:pPr algn="l">
              <a:lnSpc>
                <a:spcPct val="115000"/>
              </a:lnSpc>
            </a:pPr>
            <a:r>
              <a:rPr sz="1500" b="0" i="0">
                <a:solidFill>
                  <a:srgbClr val="1A2B3C"/>
                </a:solidFill>
                <a:latin typeface="Calibri"/>
              </a:rPr>
              <a:t>•  The three exception-safety guarantees: basic, strong, nothrow</a:t>
            </a:r>
          </a:p>
          <a:p>
            <a:pPr algn="l">
              <a:lnSpc>
                <a:spcPct val="115000"/>
              </a:lnSpc>
            </a:pPr>
            <a:r>
              <a:rPr sz="1500" b="0" i="1">
                <a:solidFill>
                  <a:srgbClr val="90A4AE"/>
                </a:solidFill>
                <a:latin typeface="Calibri"/>
              </a:rPr>
              <a:t>All cleanup is RAII; the handler's try/catch is for error-to-status translation, not resource management.</a:t>
            </a:r>
          </a:p>
        </p:txBody>
      </p:sp>
      <p:pic>
        <p:nvPicPr>
          <p:cNvPr id="10" name="Picture 9" descr="02-raii.jpg"/>
          <p:cNvPicPr>
            <a:picLocks noChangeAspect="1"/>
          </p:cNvPicPr>
          <p:nvPr/>
        </p:nvPicPr>
        <p:blipFill>
          <a:blip r:embed="rId2"/>
          <a:stretch>
            <a:fillRect/>
          </a:stretch>
        </p:blipFill>
        <p:spPr>
          <a:xfrm>
            <a:off x="6217920" y="1554480"/>
            <a:ext cx="5486400" cy="2984988"/>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640080"/>
          </a:xfrm>
          <a:prstGeom prst="rect">
            <a:avLst/>
          </a:prstGeom>
          <a:solidFill>
            <a:srgbClr val="1E6F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37160"/>
            <a:ext cx="6400800" cy="365760"/>
          </a:xfrm>
          <a:prstGeom prst="rect">
            <a:avLst/>
          </a:prstGeom>
          <a:noFill/>
        </p:spPr>
        <p:txBody>
          <a:bodyPr wrap="square" anchor="t" lIns="45720" rIns="45720">
            <a:spAutoFit/>
          </a:bodyPr>
          <a:lstStyle/>
          <a:p>
            <a:pPr algn="l"/>
            <a:r>
              <a:rPr sz="2800" b="1" i="0">
                <a:solidFill>
                  <a:srgbClr val="FFFFFF"/>
                </a:solidFill>
                <a:latin typeface="Calibri"/>
              </a:rPr>
              <a:t>RAII as the foundation</a:t>
            </a:r>
          </a:p>
        </p:txBody>
      </p:sp>
      <p:sp>
        <p:nvSpPr>
          <p:cNvPr id="4" name="Rounded Rectangle 3"/>
          <p:cNvSpPr/>
          <p:nvPr/>
        </p:nvSpPr>
        <p:spPr>
          <a:xfrm>
            <a:off x="10454335" y="164592"/>
            <a:ext cx="1463040" cy="320040"/>
          </a:xfrm>
          <a:prstGeom prst="roundRect">
            <a:avLst>
              <a:gd name="adj" fmla="val 50000"/>
            </a:avLst>
          </a:prstGeom>
          <a:solidFill>
            <a:srgbClr val="1A2B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454335" y="164592"/>
            <a:ext cx="1463040" cy="320040"/>
          </a:xfrm>
          <a:prstGeom prst="rect">
            <a:avLst/>
          </a:prstGeom>
          <a:noFill/>
        </p:spPr>
        <p:txBody>
          <a:bodyPr wrap="square" anchor="ctr" lIns="45720" rIns="45720">
            <a:spAutoFit/>
          </a:bodyPr>
          <a:lstStyle/>
          <a:p>
            <a:pPr algn="ctr"/>
            <a:r>
              <a:rPr sz="1400" b="1" i="0">
                <a:solidFill>
                  <a:srgbClr val="FFFFFF"/>
                </a:solidFill>
                <a:latin typeface="Calibri"/>
              </a:rPr>
              <a:t>Doc 02</a:t>
            </a:r>
          </a:p>
        </p:txBody>
      </p:sp>
      <p:sp>
        <p:nvSpPr>
          <p:cNvPr id="6" name="TextBox 5"/>
          <p:cNvSpPr txBox="1"/>
          <p:nvPr/>
        </p:nvSpPr>
        <p:spPr>
          <a:xfrm>
            <a:off x="365760" y="6537960"/>
            <a:ext cx="8229600" cy="274320"/>
          </a:xfrm>
          <a:prstGeom prst="rect">
            <a:avLst/>
          </a:prstGeom>
          <a:noFill/>
        </p:spPr>
        <p:txBody>
          <a:bodyPr wrap="square" anchor="t" lIns="45720" rIns="45720">
            <a:spAutoFit/>
          </a:bodyPr>
          <a:lstStyle/>
          <a:p>
            <a:pPr algn="l"/>
            <a:r>
              <a:rPr sz="1100" b="0" i="0">
                <a:solidFill>
                  <a:srgbClr val="90A4AE"/>
                </a:solidFill>
                <a:latin typeface="Calibri"/>
              </a:rPr>
              <a:t>Optimizing Modern C++ with Containers   |   RAII as the foundation</a:t>
            </a:r>
          </a:p>
        </p:txBody>
      </p:sp>
      <p:sp>
        <p:nvSpPr>
          <p:cNvPr id="7" name="TextBox 6"/>
          <p:cNvSpPr txBox="1"/>
          <p:nvPr/>
        </p:nvSpPr>
        <p:spPr>
          <a:xfrm>
            <a:off x="10820095" y="6537960"/>
            <a:ext cx="1005840" cy="274320"/>
          </a:xfrm>
          <a:prstGeom prst="rect">
            <a:avLst/>
          </a:prstGeom>
          <a:noFill/>
        </p:spPr>
        <p:txBody>
          <a:bodyPr wrap="square" anchor="t" lIns="45720" rIns="45720">
            <a:spAutoFit/>
          </a:bodyPr>
          <a:lstStyle/>
          <a:p>
            <a:pPr algn="r"/>
            <a:r>
              <a:rPr sz="1100" b="0" i="0">
                <a:solidFill>
                  <a:srgbClr val="90A4AE"/>
                </a:solidFill>
                <a:latin typeface="Calibri"/>
              </a:rPr>
              <a:t>10 / 67</a:t>
            </a:r>
          </a:p>
        </p:txBody>
      </p:sp>
      <p:sp>
        <p:nvSpPr>
          <p:cNvPr id="8" name="TextBox 7"/>
          <p:cNvSpPr txBox="1"/>
          <p:nvPr/>
        </p:nvSpPr>
        <p:spPr>
          <a:xfrm>
            <a:off x="457200" y="822960"/>
            <a:ext cx="10972800" cy="548640"/>
          </a:xfrm>
          <a:prstGeom prst="rect">
            <a:avLst/>
          </a:prstGeom>
          <a:noFill/>
        </p:spPr>
        <p:txBody>
          <a:bodyPr wrap="square" anchor="t" lIns="45720" rIns="45720">
            <a:spAutoFit/>
          </a:bodyPr>
          <a:lstStyle/>
          <a:p>
            <a:pPr algn="l"/>
            <a:r>
              <a:rPr sz="2800" b="1" i="0">
                <a:solidFill>
                  <a:srgbClr val="1A2B3C"/>
                </a:solidFill>
                <a:latin typeface="Calibri"/>
              </a:rPr>
              <a:t>Common RAII mistakes</a:t>
            </a:r>
          </a:p>
        </p:txBody>
      </p:sp>
      <p:sp>
        <p:nvSpPr>
          <p:cNvPr id="9" name="TextBox 8"/>
          <p:cNvSpPr txBox="1"/>
          <p:nvPr/>
        </p:nvSpPr>
        <p:spPr>
          <a:xfrm>
            <a:off x="457200" y="1554480"/>
            <a:ext cx="5486400" cy="4572000"/>
          </a:xfrm>
          <a:prstGeom prst="rect">
            <a:avLst/>
          </a:prstGeom>
          <a:noFill/>
        </p:spPr>
        <p:txBody>
          <a:bodyPr wrap="square" anchor="t" lIns="45720" rIns="45720">
            <a:spAutoFit/>
          </a:bodyPr>
          <a:lstStyle/>
          <a:p>
            <a:pPr algn="l">
              <a:lnSpc>
                <a:spcPct val="115000"/>
              </a:lnSpc>
            </a:pPr>
            <a:r>
              <a:rPr sz="1800" b="1" i="0">
                <a:solidFill>
                  <a:srgbClr val="E84855"/>
                </a:solidFill>
                <a:latin typeface="Calibri"/>
              </a:rPr>
              <a:t>What breaks the guarantee</a:t>
            </a:r>
          </a:p>
          <a:p>
            <a:pPr algn="l">
              <a:lnSpc>
                <a:spcPct val="115000"/>
              </a:lnSpc>
            </a:pPr>
            <a:r>
              <a:rPr sz="1500" b="0" i="0">
                <a:solidFill>
                  <a:srgbClr val="1A2B3C"/>
                </a:solidFill>
                <a:latin typeface="Calibri"/>
              </a:rPr>
              <a:t>•  Throwing destructors — terminate() during stack unwind</a:t>
            </a:r>
          </a:p>
          <a:p>
            <a:pPr algn="l">
              <a:lnSpc>
                <a:spcPct val="115000"/>
              </a:lnSpc>
            </a:pPr>
            <a:r>
              <a:rPr sz="1500" b="0" i="0">
                <a:solidFill>
                  <a:srgbClr val="1A2B3C"/>
                </a:solidFill>
                <a:latin typeface="Calibri"/>
              </a:rPr>
              <a:t>•  Raw owning pointers — leak on the exception path</a:t>
            </a:r>
          </a:p>
          <a:p>
            <a:pPr algn="l">
              <a:lnSpc>
                <a:spcPct val="115000"/>
              </a:lnSpc>
            </a:pPr>
            <a:r>
              <a:rPr sz="1500" b="0" i="0">
                <a:solidFill>
                  <a:srgbClr val="1A2B3C"/>
                </a:solidFill>
                <a:latin typeface="Calibri"/>
              </a:rPr>
              <a:t>•  Manual try/catch cleanup — misses paths RAII wouldn't</a:t>
            </a:r>
          </a:p>
          <a:p>
            <a:pPr algn="l">
              <a:lnSpc>
                <a:spcPct val="115000"/>
              </a:lnSpc>
            </a:pPr>
            <a:r>
              <a:rPr sz="1500" b="0" i="0">
                <a:solidFill>
                  <a:srgbClr val="1A2B3C"/>
                </a:solidFill>
                <a:latin typeface="Calibri"/>
              </a:rPr>
              <a:t>•  Missing noexcept moves — silent pessimization or UB</a:t>
            </a:r>
          </a:p>
          <a:p>
            <a:pPr algn="l">
              <a:lnSpc>
                <a:spcPct val="115000"/>
              </a:lnSpc>
            </a:pPr>
            <a:r>
              <a:rPr sz="1500" b="0" i="0">
                <a:solidFill>
                  <a:srgbClr val="1A2B3C"/>
                </a:solidFill>
                <a:latin typeface="Calibri"/>
              </a:rPr>
              <a:t>•  Locks held across co_await — UB after suspension (Doc 5)</a:t>
            </a:r>
          </a:p>
        </p:txBody>
      </p:sp>
      <p:sp>
        <p:nvSpPr>
          <p:cNvPr id="10" name="Rectangle 9"/>
          <p:cNvSpPr/>
          <p:nvPr/>
        </p:nvSpPr>
        <p:spPr>
          <a:xfrm>
            <a:off x="6217920" y="1554480"/>
            <a:ext cx="5486400" cy="4572000"/>
          </a:xfrm>
          <a:prstGeom prst="rect">
            <a:avLst/>
          </a:prstGeom>
          <a:solidFill>
            <a:srgbClr val="0D21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355080" y="1645920"/>
            <a:ext cx="5212080" cy="4389120"/>
          </a:xfrm>
          <a:prstGeom prst="rect">
            <a:avLst/>
          </a:prstGeom>
          <a:noFill/>
        </p:spPr>
        <p:txBody>
          <a:bodyPr wrap="square" lIns="45720" rIns="45720">
            <a:spAutoFit/>
          </a:bodyPr>
          <a:lstStyle/>
          <a:p>
            <a:r>
              <a:rPr sz="1200">
                <a:solidFill>
                  <a:srgbClr val="ECF0F1"/>
                </a:solidFill>
                <a:latin typeface="Consolas"/>
              </a:rPr>
              <a:t>// The shape that always cleans up:</a:t>
            </a:r>
          </a:p>
          <a:p>
            <a:r>
              <a:rPr sz="1200">
                <a:solidFill>
                  <a:srgbClr val="ECF0F1"/>
                </a:solidFill>
                <a:latin typeface="Consolas"/>
              </a:rPr>
              <a:t>grpc::Status Handler(ServerContext* ctx,</a:t>
            </a:r>
          </a:p>
          <a:p>
            <a:r>
              <a:rPr sz="1200">
                <a:solidFill>
                  <a:srgbClr val="ECF0F1"/>
                </a:solidFill>
                <a:latin typeface="Consolas"/>
              </a:rPr>
              <a:t>                     const Req* req, Resp* resp) {</a:t>
            </a:r>
          </a:p>
          <a:p>
            <a:r>
              <a:rPr sz="1200">
                <a:solidFill>
                  <a:srgbClr val="ECF0F1"/>
                </a:solidFill>
                <a:latin typeface="Consolas"/>
              </a:rPr>
              <a:t>  try {</a:t>
            </a:r>
          </a:p>
          <a:p>
            <a:r>
              <a:rPr sz="1200">
                <a:solidFill>
                  <a:srgbClr val="ECF0F1"/>
                </a:solidFill>
                <a:latin typeface="Consolas"/>
              </a:rPr>
              <a:t>    RequestContext rc{*ctx, req-&gt;correlation_id()};</a:t>
            </a:r>
          </a:p>
          <a:p>
            <a:r>
              <a:rPr sz="1200">
                <a:solidFill>
                  <a:srgbClr val="ECF0F1"/>
                </a:solidFill>
                <a:latin typeface="Consolas"/>
              </a:rPr>
              <a:t>    // ... work; may throw grpc::Status or std::exception</a:t>
            </a:r>
          </a:p>
          <a:p>
            <a:r>
              <a:rPr sz="1200">
                <a:solidFill>
                  <a:srgbClr val="ECF0F1"/>
                </a:solidFill>
                <a:latin typeface="Consolas"/>
              </a:rPr>
              <a:t>    return grpc::Status::OK;       // rc destructs here</a:t>
            </a:r>
          </a:p>
          <a:p>
            <a:r>
              <a:rPr sz="1200">
                <a:solidFill>
                  <a:srgbClr val="ECF0F1"/>
                </a:solidFill>
                <a:latin typeface="Consolas"/>
              </a:rPr>
              <a:t>  } catch (const grpc::Status&amp; s) {  // ...and here</a:t>
            </a:r>
          </a:p>
          <a:p>
            <a:r>
              <a:rPr sz="1200">
                <a:solidFill>
                  <a:srgbClr val="ECF0F1"/>
                </a:solidFill>
                <a:latin typeface="Consolas"/>
              </a:rPr>
              <a:t>    return s;                        // ...and here</a:t>
            </a:r>
          </a:p>
          <a:p>
            <a:r>
              <a:rPr sz="1200">
                <a:solidFill>
                  <a:srgbClr val="ECF0F1"/>
                </a:solidFill>
                <a:latin typeface="Consolas"/>
              </a:rPr>
              <a:t>  }</a:t>
            </a:r>
          </a:p>
          <a:p>
            <a:r>
              <a:rPr sz="1200">
                <a:solidFill>
                  <a:srgbClr val="ECF0F1"/>
                </a:solidFill>
                <a:latin typeface="Consolas"/>
              </a:rPr>
              <a:t>}  // destructor runs on EVERY path</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640080"/>
          </a:xfrm>
          <a:prstGeom prst="rect">
            <a:avLst/>
          </a:prstGeom>
          <a:solidFill>
            <a:srgbClr val="1E6F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37160"/>
            <a:ext cx="6400800" cy="365760"/>
          </a:xfrm>
          <a:prstGeom prst="rect">
            <a:avLst/>
          </a:prstGeom>
          <a:noFill/>
        </p:spPr>
        <p:txBody>
          <a:bodyPr wrap="square" anchor="t" lIns="45720" rIns="45720">
            <a:spAutoFit/>
          </a:bodyPr>
          <a:lstStyle/>
          <a:p>
            <a:pPr algn="l"/>
            <a:r>
              <a:rPr sz="2800" b="1" i="0">
                <a:solidFill>
                  <a:srgbClr val="FFFFFF"/>
                </a:solidFill>
                <a:latin typeface="Calibri"/>
              </a:rPr>
              <a:t>RAII as the foundation</a:t>
            </a:r>
          </a:p>
        </p:txBody>
      </p:sp>
      <p:sp>
        <p:nvSpPr>
          <p:cNvPr id="4" name="Rounded Rectangle 3"/>
          <p:cNvSpPr/>
          <p:nvPr/>
        </p:nvSpPr>
        <p:spPr>
          <a:xfrm>
            <a:off x="10454335" y="164592"/>
            <a:ext cx="1463040" cy="320040"/>
          </a:xfrm>
          <a:prstGeom prst="roundRect">
            <a:avLst>
              <a:gd name="adj" fmla="val 50000"/>
            </a:avLst>
          </a:prstGeom>
          <a:solidFill>
            <a:srgbClr val="1A2B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454335" y="164592"/>
            <a:ext cx="1463040" cy="320040"/>
          </a:xfrm>
          <a:prstGeom prst="rect">
            <a:avLst/>
          </a:prstGeom>
          <a:noFill/>
        </p:spPr>
        <p:txBody>
          <a:bodyPr wrap="square" anchor="ctr" lIns="45720" rIns="45720">
            <a:spAutoFit/>
          </a:bodyPr>
          <a:lstStyle/>
          <a:p>
            <a:pPr algn="ctr"/>
            <a:r>
              <a:rPr sz="1400" b="1" i="0">
                <a:solidFill>
                  <a:srgbClr val="FFFFFF"/>
                </a:solidFill>
                <a:latin typeface="Calibri"/>
              </a:rPr>
              <a:t>Doc 02</a:t>
            </a:r>
          </a:p>
        </p:txBody>
      </p:sp>
      <p:sp>
        <p:nvSpPr>
          <p:cNvPr id="6" name="TextBox 5"/>
          <p:cNvSpPr txBox="1"/>
          <p:nvPr/>
        </p:nvSpPr>
        <p:spPr>
          <a:xfrm>
            <a:off x="365760" y="6537960"/>
            <a:ext cx="8229600" cy="274320"/>
          </a:xfrm>
          <a:prstGeom prst="rect">
            <a:avLst/>
          </a:prstGeom>
          <a:noFill/>
        </p:spPr>
        <p:txBody>
          <a:bodyPr wrap="square" anchor="t" lIns="45720" rIns="45720">
            <a:spAutoFit/>
          </a:bodyPr>
          <a:lstStyle/>
          <a:p>
            <a:pPr algn="l"/>
            <a:r>
              <a:rPr sz="1100" b="0" i="0">
                <a:solidFill>
                  <a:srgbClr val="90A4AE"/>
                </a:solidFill>
                <a:latin typeface="Calibri"/>
              </a:rPr>
              <a:t>Optimizing Modern C++ with Containers   |   RAII as the foundation</a:t>
            </a:r>
          </a:p>
        </p:txBody>
      </p:sp>
      <p:sp>
        <p:nvSpPr>
          <p:cNvPr id="7" name="TextBox 6"/>
          <p:cNvSpPr txBox="1"/>
          <p:nvPr/>
        </p:nvSpPr>
        <p:spPr>
          <a:xfrm>
            <a:off x="10820095" y="6537960"/>
            <a:ext cx="1005840" cy="274320"/>
          </a:xfrm>
          <a:prstGeom prst="rect">
            <a:avLst/>
          </a:prstGeom>
          <a:noFill/>
        </p:spPr>
        <p:txBody>
          <a:bodyPr wrap="square" anchor="t" lIns="45720" rIns="45720">
            <a:spAutoFit/>
          </a:bodyPr>
          <a:lstStyle/>
          <a:p>
            <a:pPr algn="r"/>
            <a:r>
              <a:rPr sz="1100" b="0" i="0">
                <a:solidFill>
                  <a:srgbClr val="90A4AE"/>
                </a:solidFill>
                <a:latin typeface="Calibri"/>
              </a:rPr>
              <a:t>11 / 67</a:t>
            </a:r>
          </a:p>
        </p:txBody>
      </p:sp>
      <p:sp>
        <p:nvSpPr>
          <p:cNvPr id="8" name="TextBox 7"/>
          <p:cNvSpPr txBox="1"/>
          <p:nvPr/>
        </p:nvSpPr>
        <p:spPr>
          <a:xfrm>
            <a:off x="457200" y="822960"/>
            <a:ext cx="10972800" cy="548640"/>
          </a:xfrm>
          <a:prstGeom prst="rect">
            <a:avLst/>
          </a:prstGeom>
          <a:noFill/>
        </p:spPr>
        <p:txBody>
          <a:bodyPr wrap="square" anchor="t" lIns="45720" rIns="45720">
            <a:spAutoFit/>
          </a:bodyPr>
          <a:lstStyle/>
          <a:p>
            <a:pPr algn="l"/>
            <a:r>
              <a:rPr sz="2800" b="1" i="0">
                <a:solidFill>
                  <a:srgbClr val="1A2B3C"/>
                </a:solidFill>
                <a:latin typeface="Calibri"/>
              </a:rPr>
              <a:t>The three exception-safety guarantees</a:t>
            </a:r>
          </a:p>
        </p:txBody>
      </p:sp>
      <p:sp>
        <p:nvSpPr>
          <p:cNvPr id="9" name="TextBox 8"/>
          <p:cNvSpPr txBox="1"/>
          <p:nvPr/>
        </p:nvSpPr>
        <p:spPr>
          <a:xfrm>
            <a:off x="457200" y="1554480"/>
            <a:ext cx="11247120" cy="4572000"/>
          </a:xfrm>
          <a:prstGeom prst="rect">
            <a:avLst/>
          </a:prstGeom>
          <a:noFill/>
        </p:spPr>
        <p:txBody>
          <a:bodyPr wrap="square" anchor="t" lIns="45720" rIns="45720">
            <a:spAutoFit/>
          </a:bodyPr>
          <a:lstStyle/>
          <a:p>
            <a:pPr algn="l">
              <a:lnSpc>
                <a:spcPct val="115000"/>
              </a:lnSpc>
            </a:pPr>
            <a:r>
              <a:rPr sz="1800" b="1" i="0">
                <a:solidFill>
                  <a:srgbClr val="27AE60"/>
                </a:solidFill>
                <a:latin typeface="Calibri"/>
              </a:rPr>
              <a:t>What a function promises when it throws</a:t>
            </a:r>
          </a:p>
          <a:p>
            <a:pPr algn="l">
              <a:lnSpc>
                <a:spcPct val="115000"/>
              </a:lnSpc>
            </a:pPr>
            <a:r>
              <a:rPr sz="1500" b="0" i="0">
                <a:solidFill>
                  <a:srgbClr val="1A2B3C"/>
                </a:solidFill>
                <a:latin typeface="Calibri"/>
              </a:rPr>
              <a:t>•  Nothrow — never throws (destructors, swap, moves); the strongest</a:t>
            </a:r>
          </a:p>
          <a:p>
            <a:pPr algn="l">
              <a:lnSpc>
                <a:spcPct val="115000"/>
              </a:lnSpc>
            </a:pPr>
            <a:r>
              <a:rPr sz="1500" b="0" i="0">
                <a:solidFill>
                  <a:srgbClr val="1A2B3C"/>
                </a:solidFill>
                <a:latin typeface="Calibri"/>
              </a:rPr>
              <a:t>•  Strong — throws → state unchanged, as if the call never happened</a:t>
            </a:r>
          </a:p>
          <a:p>
            <a:pPr algn="l">
              <a:lnSpc>
                <a:spcPct val="115000"/>
              </a:lnSpc>
            </a:pPr>
            <a:r>
              <a:rPr sz="1500" b="0" i="0">
                <a:solidFill>
                  <a:srgbClr val="1A2B3C"/>
                </a:solidFill>
                <a:latin typeface="Calibri"/>
              </a:rPr>
              <a:t>•  Basic — throws → invariants hold, no leaks, but state may have moved</a:t>
            </a:r>
          </a:p>
          <a:p>
            <a:pPr algn="l">
              <a:lnSpc>
                <a:spcPct val="115000"/>
              </a:lnSpc>
            </a:pPr>
            <a:r>
              <a:rPr sz="1500" b="0" i="1">
                <a:solidFill>
                  <a:srgbClr val="90A4AE"/>
                </a:solidFill>
                <a:latin typeface="Calibri"/>
              </a:rPr>
              <a:t>RAII gives you the basic guarantee for free; the strong guarantee is a design choice (copy-and-swap, build-then-commit).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640080"/>
          </a:xfrm>
          <a:prstGeom prst="rect">
            <a:avLst/>
          </a:prstGeom>
          <a:solidFill>
            <a:srgbClr val="1E6F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37160"/>
            <a:ext cx="6400800" cy="365760"/>
          </a:xfrm>
          <a:prstGeom prst="rect">
            <a:avLst/>
          </a:prstGeom>
          <a:noFill/>
        </p:spPr>
        <p:txBody>
          <a:bodyPr wrap="square" anchor="t" lIns="45720" rIns="45720">
            <a:spAutoFit/>
          </a:bodyPr>
          <a:lstStyle/>
          <a:p>
            <a:pPr algn="l"/>
            <a:r>
              <a:rPr sz="2800" b="1" i="0">
                <a:solidFill>
                  <a:srgbClr val="FFFFFF"/>
                </a:solidFill>
                <a:latin typeface="Calibri"/>
              </a:rPr>
              <a:t>RAII as the foundation</a:t>
            </a:r>
          </a:p>
        </p:txBody>
      </p:sp>
      <p:sp>
        <p:nvSpPr>
          <p:cNvPr id="4" name="Rounded Rectangle 3"/>
          <p:cNvSpPr/>
          <p:nvPr/>
        </p:nvSpPr>
        <p:spPr>
          <a:xfrm>
            <a:off x="10454335" y="164592"/>
            <a:ext cx="1463040" cy="320040"/>
          </a:xfrm>
          <a:prstGeom prst="roundRect">
            <a:avLst>
              <a:gd name="adj" fmla="val 50000"/>
            </a:avLst>
          </a:prstGeom>
          <a:solidFill>
            <a:srgbClr val="1A2B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454335" y="164592"/>
            <a:ext cx="1463040" cy="320040"/>
          </a:xfrm>
          <a:prstGeom prst="rect">
            <a:avLst/>
          </a:prstGeom>
          <a:noFill/>
        </p:spPr>
        <p:txBody>
          <a:bodyPr wrap="square" anchor="ctr" lIns="45720" rIns="45720">
            <a:spAutoFit/>
          </a:bodyPr>
          <a:lstStyle/>
          <a:p>
            <a:pPr algn="ctr"/>
            <a:r>
              <a:rPr sz="1400" b="1" i="0">
                <a:solidFill>
                  <a:srgbClr val="FFFFFF"/>
                </a:solidFill>
                <a:latin typeface="Calibri"/>
              </a:rPr>
              <a:t>Doc 02</a:t>
            </a:r>
          </a:p>
        </p:txBody>
      </p:sp>
      <p:sp>
        <p:nvSpPr>
          <p:cNvPr id="6" name="TextBox 5"/>
          <p:cNvSpPr txBox="1"/>
          <p:nvPr/>
        </p:nvSpPr>
        <p:spPr>
          <a:xfrm>
            <a:off x="365760" y="6537960"/>
            <a:ext cx="8229600" cy="274320"/>
          </a:xfrm>
          <a:prstGeom prst="rect">
            <a:avLst/>
          </a:prstGeom>
          <a:noFill/>
        </p:spPr>
        <p:txBody>
          <a:bodyPr wrap="square" anchor="t" lIns="45720" rIns="45720">
            <a:spAutoFit/>
          </a:bodyPr>
          <a:lstStyle/>
          <a:p>
            <a:pPr algn="l"/>
            <a:r>
              <a:rPr sz="1100" b="0" i="0">
                <a:solidFill>
                  <a:srgbClr val="90A4AE"/>
                </a:solidFill>
                <a:latin typeface="Calibri"/>
              </a:rPr>
              <a:t>Optimizing Modern C++ with Containers   |   RAII as the foundation</a:t>
            </a:r>
          </a:p>
        </p:txBody>
      </p:sp>
      <p:sp>
        <p:nvSpPr>
          <p:cNvPr id="7" name="TextBox 6"/>
          <p:cNvSpPr txBox="1"/>
          <p:nvPr/>
        </p:nvSpPr>
        <p:spPr>
          <a:xfrm>
            <a:off x="10820095" y="6537960"/>
            <a:ext cx="1005840" cy="274320"/>
          </a:xfrm>
          <a:prstGeom prst="rect">
            <a:avLst/>
          </a:prstGeom>
          <a:noFill/>
        </p:spPr>
        <p:txBody>
          <a:bodyPr wrap="square" anchor="t" lIns="45720" rIns="45720">
            <a:spAutoFit/>
          </a:bodyPr>
          <a:lstStyle/>
          <a:p>
            <a:pPr algn="r"/>
            <a:r>
              <a:rPr sz="1100" b="0" i="0">
                <a:solidFill>
                  <a:srgbClr val="90A4AE"/>
                </a:solidFill>
                <a:latin typeface="Calibri"/>
              </a:rPr>
              <a:t>12 / 67</a:t>
            </a:r>
          </a:p>
        </p:txBody>
      </p:sp>
      <p:sp>
        <p:nvSpPr>
          <p:cNvPr id="8" name="TextBox 7"/>
          <p:cNvSpPr txBox="1"/>
          <p:nvPr/>
        </p:nvSpPr>
        <p:spPr>
          <a:xfrm>
            <a:off x="457200" y="822960"/>
            <a:ext cx="10972800" cy="548640"/>
          </a:xfrm>
          <a:prstGeom prst="rect">
            <a:avLst/>
          </a:prstGeom>
          <a:noFill/>
        </p:spPr>
        <p:txBody>
          <a:bodyPr wrap="square" anchor="t" lIns="45720" rIns="45720">
            <a:spAutoFit/>
          </a:bodyPr>
          <a:lstStyle/>
          <a:p>
            <a:pPr algn="l"/>
            <a:r>
              <a:rPr sz="2800" b="1" i="0">
                <a:solidFill>
                  <a:srgbClr val="1A2B3C"/>
                </a:solidFill>
                <a:latin typeface="Calibri"/>
              </a:rPr>
              <a:t>Construction cost on the hot path</a:t>
            </a:r>
          </a:p>
        </p:txBody>
      </p:sp>
      <p:sp>
        <p:nvSpPr>
          <p:cNvPr id="9" name="TextBox 8"/>
          <p:cNvSpPr txBox="1"/>
          <p:nvPr/>
        </p:nvSpPr>
        <p:spPr>
          <a:xfrm>
            <a:off x="457200" y="1554480"/>
            <a:ext cx="11247120" cy="4572000"/>
          </a:xfrm>
          <a:prstGeom prst="rect">
            <a:avLst/>
          </a:prstGeom>
          <a:noFill/>
        </p:spPr>
        <p:txBody>
          <a:bodyPr wrap="square" anchor="t" lIns="45720" rIns="45720">
            <a:spAutoFit/>
          </a:bodyPr>
          <a:lstStyle/>
          <a:p>
            <a:pPr algn="l">
              <a:lnSpc>
                <a:spcPct val="115000"/>
              </a:lnSpc>
            </a:pPr>
            <a:r>
              <a:rPr sz="1800" b="1" i="0">
                <a:solidFill>
                  <a:srgbClr val="F5A623"/>
                </a:solidFill>
                <a:latin typeface="Calibri"/>
              </a:rPr>
              <a:t>RAII is free; what you put in it may not be</a:t>
            </a:r>
          </a:p>
          <a:p>
            <a:pPr algn="l">
              <a:lnSpc>
                <a:spcPct val="115000"/>
              </a:lnSpc>
            </a:pPr>
            <a:r>
              <a:rPr sz="1500" b="0" i="0">
                <a:solidFill>
                  <a:srgbClr val="1A2B3C"/>
                </a:solidFill>
                <a:latin typeface="Calibri"/>
              </a:rPr>
              <a:t>•  The RequestContext itself is near-zero — members init in place</a:t>
            </a:r>
          </a:p>
          <a:p>
            <a:pPr algn="l">
              <a:lnSpc>
                <a:spcPct val="115000"/>
              </a:lnSpc>
            </a:pPr>
            <a:r>
              <a:rPr sz="1500" b="0" i="0">
                <a:solidFill>
                  <a:srgbClr val="1A2B3C"/>
                </a:solidFill>
                <a:latin typeface="Calibri"/>
              </a:rPr>
              <a:t>•  A std::string member under 15 bytes (libstdc++ SBO) costs no allocation</a:t>
            </a:r>
          </a:p>
          <a:p>
            <a:pPr algn="l">
              <a:lnSpc>
                <a:spcPct val="115000"/>
              </a:lnSpc>
            </a:pPr>
            <a:r>
              <a:rPr sz="1500" b="0" i="0">
                <a:solidFill>
                  <a:srgbClr val="1A2B3C"/>
                </a:solidFill>
                <a:latin typeface="Calibri"/>
              </a:rPr>
              <a:t>•  A std::map member allocates a node per insert; prefer flat/pmr</a:t>
            </a:r>
          </a:p>
          <a:p>
            <a:pPr algn="l">
              <a:lnSpc>
                <a:spcPct val="115000"/>
              </a:lnSpc>
            </a:pPr>
            <a:r>
              <a:rPr sz="1500" b="0" i="0">
                <a:solidFill>
                  <a:srgbClr val="1A2B3C"/>
                </a:solidFill>
                <a:latin typeface="Calibri"/>
              </a:rPr>
              <a:t>•  Measure the constructor: it runs on every request, in the latency path</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Rounded Rectangle 1"/>
          <p:cNvSpPr/>
          <p:nvPr/>
        </p:nvSpPr>
        <p:spPr>
          <a:xfrm>
            <a:off x="548640" y="548640"/>
            <a:ext cx="2286000" cy="594360"/>
          </a:xfrm>
          <a:prstGeom prst="roundRect">
            <a:avLst>
              <a:gd name="adj" fmla="val 50000"/>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48640"/>
            <a:ext cx="2286000" cy="594360"/>
          </a:xfrm>
          <a:prstGeom prst="rect">
            <a:avLst/>
          </a:prstGeom>
          <a:noFill/>
        </p:spPr>
        <p:txBody>
          <a:bodyPr wrap="square" anchor="ctr" lIns="45720" rIns="45720">
            <a:spAutoFit/>
          </a:bodyPr>
          <a:lstStyle/>
          <a:p>
            <a:pPr algn="ctr"/>
            <a:r>
              <a:rPr sz="2200" b="1" i="0">
                <a:solidFill>
                  <a:srgbClr val="FFFFFF"/>
                </a:solidFill>
                <a:latin typeface="Calibri"/>
              </a:rPr>
              <a:t>▶ DEMO 02</a:t>
            </a:r>
          </a:p>
        </p:txBody>
      </p:sp>
      <p:sp>
        <p:nvSpPr>
          <p:cNvPr id="4" name="TextBox 3"/>
          <p:cNvSpPr txBox="1"/>
          <p:nvPr/>
        </p:nvSpPr>
        <p:spPr>
          <a:xfrm>
            <a:off x="548640" y="1645920"/>
            <a:ext cx="10972800" cy="1097280"/>
          </a:xfrm>
          <a:prstGeom prst="rect">
            <a:avLst/>
          </a:prstGeom>
          <a:noFill/>
        </p:spPr>
        <p:txBody>
          <a:bodyPr wrap="square" anchor="t" lIns="45720" rIns="45720">
            <a:spAutoFit/>
          </a:bodyPr>
          <a:lstStyle/>
          <a:p>
            <a:pPr algn="l"/>
            <a:r>
              <a:rPr sz="3600" b="1" i="0">
                <a:solidFill>
                  <a:srgbClr val="FFFFFF"/>
                </a:solidFill>
                <a:latin typeface="Calibri"/>
              </a:rPr>
              <a:t>Demo — RequestContext RAII</a:t>
            </a:r>
          </a:p>
        </p:txBody>
      </p:sp>
      <p:sp>
        <p:nvSpPr>
          <p:cNvPr id="5" name="TextBox 4"/>
          <p:cNvSpPr txBox="1"/>
          <p:nvPr/>
        </p:nvSpPr>
        <p:spPr>
          <a:xfrm>
            <a:off x="548640" y="2743200"/>
            <a:ext cx="10972800" cy="1371600"/>
          </a:xfrm>
          <a:prstGeom prst="rect">
            <a:avLst/>
          </a:prstGeom>
          <a:noFill/>
        </p:spPr>
        <p:txBody>
          <a:bodyPr wrap="square" anchor="t" lIns="45720" rIns="45720">
            <a:spAutoFit/>
          </a:bodyPr>
          <a:lstStyle/>
          <a:p>
            <a:pPr algn="l"/>
            <a:r>
              <a:rPr sz="2000" b="0" i="0">
                <a:solidFill>
                  <a:srgbClr val="ECF0F1"/>
                </a:solidFill>
                <a:latin typeface="Calibri"/>
              </a:rPr>
              <a:t>A gRPC handler builds a RequestContext on entry, then takes one of three exit paths — normal return, early return, and throw. Logging in the destructor proves it fires on all three. RAII cleanup made visible.</a:t>
            </a:r>
          </a:p>
        </p:txBody>
      </p:sp>
      <p:sp>
        <p:nvSpPr>
          <p:cNvPr id="6" name="Rectangle 5"/>
          <p:cNvSpPr/>
          <p:nvPr/>
        </p:nvSpPr>
        <p:spPr>
          <a:xfrm>
            <a:off x="548640" y="4297680"/>
            <a:ext cx="11064240" cy="1097280"/>
          </a:xfrm>
          <a:prstGeom prst="rect">
            <a:avLst/>
          </a:prstGeom>
          <a:solidFill>
            <a:srgbClr val="0D21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4389120"/>
            <a:ext cx="10789920" cy="457200"/>
          </a:xfrm>
          <a:prstGeom prst="rect">
            <a:avLst/>
          </a:prstGeom>
          <a:noFill/>
        </p:spPr>
        <p:txBody>
          <a:bodyPr wrap="square" anchor="t" lIns="45720" rIns="45720">
            <a:spAutoFit/>
          </a:bodyPr>
          <a:lstStyle/>
          <a:p>
            <a:pPr algn="l"/>
            <a:r>
              <a:rPr sz="1800" b="0" i="0">
                <a:solidFill>
                  <a:srgbClr val="00BCD4"/>
                </a:solidFill>
                <a:latin typeface="Consolas"/>
              </a:rPr>
              <a:t>$ cd examples/statelessness/02-raii &amp;&amp; ./demo.sh</a:t>
            </a:r>
          </a:p>
        </p:txBody>
      </p:sp>
      <p:sp>
        <p:nvSpPr>
          <p:cNvPr id="8" name="TextBox 7"/>
          <p:cNvSpPr txBox="1"/>
          <p:nvPr/>
        </p:nvSpPr>
        <p:spPr>
          <a:xfrm>
            <a:off x="731520" y="4892040"/>
            <a:ext cx="10789920" cy="365760"/>
          </a:xfrm>
          <a:prstGeom prst="rect">
            <a:avLst/>
          </a:prstGeom>
          <a:noFill/>
        </p:spPr>
        <p:txBody>
          <a:bodyPr wrap="square" anchor="t" lIns="45720" rIns="45720">
            <a:spAutoFit/>
          </a:bodyPr>
          <a:lstStyle/>
          <a:p>
            <a:pPr algn="l"/>
            <a:r>
              <a:rPr sz="1100" b="0" i="0">
                <a:solidFill>
                  <a:srgbClr val="90A4AE"/>
                </a:solidFill>
                <a:latin typeface="Consolas"/>
              </a:rPr>
              <a:t>  source on site: patterncatalyst.github.io/cpp-container-optimization-tutorial/examples/statelessness-02-raii/</a:t>
            </a:r>
          </a:p>
        </p:txBody>
      </p:sp>
      <p:sp>
        <p:nvSpPr>
          <p:cNvPr id="9" name="TextBox 8"/>
          <p:cNvSpPr txBox="1"/>
          <p:nvPr/>
        </p:nvSpPr>
        <p:spPr>
          <a:xfrm>
            <a:off x="10820095" y="6400800"/>
            <a:ext cx="914400" cy="274320"/>
          </a:xfrm>
          <a:prstGeom prst="rect">
            <a:avLst/>
          </a:prstGeom>
          <a:noFill/>
        </p:spPr>
        <p:txBody>
          <a:bodyPr wrap="square" anchor="t" lIns="45720" rIns="45720">
            <a:spAutoFit/>
          </a:bodyPr>
          <a:lstStyle/>
          <a:p>
            <a:pPr algn="r"/>
            <a:r>
              <a:rPr sz="1100" b="0" i="0">
                <a:solidFill>
                  <a:srgbClr val="90A4AE"/>
                </a:solidFill>
                <a:latin typeface="Calibri"/>
              </a:rPr>
              <a:t>13 / 67</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1828800"/>
            <a:ext cx="3657600" cy="2286000"/>
          </a:xfrm>
          <a:prstGeom prst="rect">
            <a:avLst/>
          </a:prstGeom>
          <a:noFill/>
        </p:spPr>
        <p:txBody>
          <a:bodyPr wrap="square" anchor="t" lIns="45720" rIns="45720">
            <a:spAutoFit/>
          </a:bodyPr>
          <a:lstStyle/>
          <a:p>
            <a:pPr algn="l"/>
            <a:r>
              <a:rPr sz="18000" b="1" i="0">
                <a:solidFill>
                  <a:srgbClr val="00BCD4"/>
                </a:solidFill>
                <a:latin typeface="Calibri"/>
              </a:rPr>
              <a:t>§3</a:t>
            </a:r>
          </a:p>
        </p:txBody>
      </p:sp>
      <p:sp>
        <p:nvSpPr>
          <p:cNvPr id="3" name="TextBox 2"/>
          <p:cNvSpPr txBox="1"/>
          <p:nvPr/>
        </p:nvSpPr>
        <p:spPr>
          <a:xfrm>
            <a:off x="4114800" y="2103120"/>
            <a:ext cx="7772400" cy="1828800"/>
          </a:xfrm>
          <a:prstGeom prst="rect">
            <a:avLst/>
          </a:prstGeom>
          <a:noFill/>
        </p:spPr>
        <p:txBody>
          <a:bodyPr wrap="square" anchor="t" lIns="45720" rIns="45720">
            <a:spAutoFit/>
          </a:bodyPr>
          <a:lstStyle/>
          <a:p>
            <a:pPr algn="l"/>
            <a:r>
              <a:rPr sz="3600" b="1" i="0">
                <a:solidFill>
                  <a:srgbClr val="FFFFFF"/>
                </a:solidFill>
                <a:latin typeface="Calibri"/>
              </a:rPr>
              <a:t>PMR: request brings its own memory</a:t>
            </a:r>
          </a:p>
        </p:txBody>
      </p:sp>
      <p:sp>
        <p:nvSpPr>
          <p:cNvPr id="4" name="TextBox 3"/>
          <p:cNvSpPr txBox="1"/>
          <p:nvPr/>
        </p:nvSpPr>
        <p:spPr>
          <a:xfrm>
            <a:off x="4114800" y="3474720"/>
            <a:ext cx="7772400" cy="1828800"/>
          </a:xfrm>
          <a:prstGeom prst="rect">
            <a:avLst/>
          </a:prstGeom>
          <a:noFill/>
        </p:spPr>
        <p:txBody>
          <a:bodyPr wrap="square" anchor="t" lIns="45720" rIns="45720">
            <a:spAutoFit/>
          </a:bodyPr>
          <a:lstStyle/>
          <a:p>
            <a:pPr algn="l"/>
            <a:r>
              <a:rPr sz="2000" b="0" i="1">
                <a:solidFill>
                  <a:srgbClr val="90A4AE"/>
                </a:solidFill>
                <a:latin typeface="Calibri"/>
              </a:rPr>
              <a:t>monotonic_buffer_resource as architectural statelessness.</a:t>
            </a:r>
          </a:p>
        </p:txBody>
      </p:sp>
      <p:sp>
        <p:nvSpPr>
          <p:cNvPr id="5" name="TextBox 4"/>
          <p:cNvSpPr txBox="1"/>
          <p:nvPr/>
        </p:nvSpPr>
        <p:spPr>
          <a:xfrm>
            <a:off x="10820095" y="6400800"/>
            <a:ext cx="914400" cy="274320"/>
          </a:xfrm>
          <a:prstGeom prst="rect">
            <a:avLst/>
          </a:prstGeom>
          <a:noFill/>
        </p:spPr>
        <p:txBody>
          <a:bodyPr wrap="square" anchor="t" lIns="45720" rIns="45720">
            <a:spAutoFit/>
          </a:bodyPr>
          <a:lstStyle/>
          <a:p>
            <a:pPr algn="r"/>
            <a:r>
              <a:rPr sz="1100" b="0" i="0">
                <a:solidFill>
                  <a:srgbClr val="90A4AE"/>
                </a:solidFill>
                <a:latin typeface="Calibri"/>
              </a:rPr>
              <a:t>14 / 67</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640080"/>
          </a:xfrm>
          <a:prstGeom prst="rect">
            <a:avLst/>
          </a:prstGeom>
          <a:solidFill>
            <a:srgbClr val="1E6F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37160"/>
            <a:ext cx="6400800" cy="365760"/>
          </a:xfrm>
          <a:prstGeom prst="rect">
            <a:avLst/>
          </a:prstGeom>
          <a:noFill/>
        </p:spPr>
        <p:txBody>
          <a:bodyPr wrap="square" anchor="t" lIns="45720" rIns="45720">
            <a:spAutoFit/>
          </a:bodyPr>
          <a:lstStyle/>
          <a:p>
            <a:pPr algn="l"/>
            <a:r>
              <a:rPr sz="2800" b="1" i="0">
                <a:solidFill>
                  <a:srgbClr val="FFFFFF"/>
                </a:solidFill>
                <a:latin typeface="Calibri"/>
              </a:rPr>
              <a:t>PMR: request brings its own memory</a:t>
            </a:r>
          </a:p>
        </p:txBody>
      </p:sp>
      <p:sp>
        <p:nvSpPr>
          <p:cNvPr id="4" name="Rounded Rectangle 3"/>
          <p:cNvSpPr/>
          <p:nvPr/>
        </p:nvSpPr>
        <p:spPr>
          <a:xfrm>
            <a:off x="10454335" y="164592"/>
            <a:ext cx="1463040" cy="320040"/>
          </a:xfrm>
          <a:prstGeom prst="roundRect">
            <a:avLst>
              <a:gd name="adj" fmla="val 50000"/>
            </a:avLst>
          </a:prstGeom>
          <a:solidFill>
            <a:srgbClr val="1A2B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454335" y="164592"/>
            <a:ext cx="1463040" cy="320040"/>
          </a:xfrm>
          <a:prstGeom prst="rect">
            <a:avLst/>
          </a:prstGeom>
          <a:noFill/>
        </p:spPr>
        <p:txBody>
          <a:bodyPr wrap="square" anchor="ctr" lIns="45720" rIns="45720">
            <a:spAutoFit/>
          </a:bodyPr>
          <a:lstStyle/>
          <a:p>
            <a:pPr algn="ctr"/>
            <a:r>
              <a:rPr sz="1400" b="1" i="0">
                <a:solidFill>
                  <a:srgbClr val="FFFFFF"/>
                </a:solidFill>
                <a:latin typeface="Calibri"/>
              </a:rPr>
              <a:t>Doc 03</a:t>
            </a:r>
          </a:p>
        </p:txBody>
      </p:sp>
      <p:sp>
        <p:nvSpPr>
          <p:cNvPr id="6" name="TextBox 5"/>
          <p:cNvSpPr txBox="1"/>
          <p:nvPr/>
        </p:nvSpPr>
        <p:spPr>
          <a:xfrm>
            <a:off x="365760" y="6537960"/>
            <a:ext cx="8229600" cy="274320"/>
          </a:xfrm>
          <a:prstGeom prst="rect">
            <a:avLst/>
          </a:prstGeom>
          <a:noFill/>
        </p:spPr>
        <p:txBody>
          <a:bodyPr wrap="square" anchor="t" lIns="45720" rIns="45720">
            <a:spAutoFit/>
          </a:bodyPr>
          <a:lstStyle/>
          <a:p>
            <a:pPr algn="l"/>
            <a:r>
              <a:rPr sz="1100" b="0" i="0">
                <a:solidFill>
                  <a:srgbClr val="90A4AE"/>
                </a:solidFill>
                <a:latin typeface="Calibri"/>
              </a:rPr>
              <a:t>Optimizing Modern C++ with Containers   |   PMR: request brings its own memory</a:t>
            </a:r>
          </a:p>
        </p:txBody>
      </p:sp>
      <p:sp>
        <p:nvSpPr>
          <p:cNvPr id="7" name="TextBox 6"/>
          <p:cNvSpPr txBox="1"/>
          <p:nvPr/>
        </p:nvSpPr>
        <p:spPr>
          <a:xfrm>
            <a:off x="10820095" y="6537960"/>
            <a:ext cx="1005840" cy="274320"/>
          </a:xfrm>
          <a:prstGeom prst="rect">
            <a:avLst/>
          </a:prstGeom>
          <a:noFill/>
        </p:spPr>
        <p:txBody>
          <a:bodyPr wrap="square" anchor="t" lIns="45720" rIns="45720">
            <a:spAutoFit/>
          </a:bodyPr>
          <a:lstStyle/>
          <a:p>
            <a:pPr algn="r"/>
            <a:r>
              <a:rPr sz="1100" b="0" i="0">
                <a:solidFill>
                  <a:srgbClr val="90A4AE"/>
                </a:solidFill>
                <a:latin typeface="Calibri"/>
              </a:rPr>
              <a:t>15 / 67</a:t>
            </a:r>
          </a:p>
        </p:txBody>
      </p:sp>
      <p:sp>
        <p:nvSpPr>
          <p:cNvPr id="8" name="TextBox 7"/>
          <p:cNvSpPr txBox="1"/>
          <p:nvPr/>
        </p:nvSpPr>
        <p:spPr>
          <a:xfrm>
            <a:off x="457200" y="822960"/>
            <a:ext cx="10972800" cy="548640"/>
          </a:xfrm>
          <a:prstGeom prst="rect">
            <a:avLst/>
          </a:prstGeom>
          <a:noFill/>
        </p:spPr>
        <p:txBody>
          <a:bodyPr wrap="square" anchor="t" lIns="45720" rIns="45720">
            <a:spAutoFit/>
          </a:bodyPr>
          <a:lstStyle/>
          <a:p>
            <a:pPr algn="l"/>
            <a:r>
              <a:rPr sz="2800" b="1" i="0">
                <a:solidFill>
                  <a:srgbClr val="1A2B3C"/>
                </a:solidFill>
                <a:latin typeface="Calibri"/>
              </a:rPr>
              <a:t>The layered arena recipe</a:t>
            </a:r>
          </a:p>
        </p:txBody>
      </p:sp>
      <p:sp>
        <p:nvSpPr>
          <p:cNvPr id="9" name="TextBox 8"/>
          <p:cNvSpPr txBox="1"/>
          <p:nvPr/>
        </p:nvSpPr>
        <p:spPr>
          <a:xfrm>
            <a:off x="457200" y="1554480"/>
            <a:ext cx="5486400" cy="4572000"/>
          </a:xfrm>
          <a:prstGeom prst="rect">
            <a:avLst/>
          </a:prstGeom>
          <a:noFill/>
        </p:spPr>
        <p:txBody>
          <a:bodyPr wrap="square" anchor="t" lIns="45720" rIns="45720">
            <a:spAutoFit/>
          </a:bodyPr>
          <a:lstStyle/>
          <a:p>
            <a:pPr algn="l">
              <a:lnSpc>
                <a:spcPct val="115000"/>
              </a:lnSpc>
            </a:pPr>
            <a:r>
              <a:rPr sz="1800" b="1" i="0">
                <a:solidFill>
                  <a:srgbClr val="1E6FC8"/>
                </a:solidFill>
                <a:latin typeface="Calibri"/>
              </a:rPr>
              <a:t>monotonic buffer + pool resource</a:t>
            </a:r>
          </a:p>
          <a:p>
            <a:pPr algn="l">
              <a:lnSpc>
                <a:spcPct val="115000"/>
              </a:lnSpc>
            </a:pPr>
            <a:r>
              <a:rPr sz="1500" b="0" i="0">
                <a:solidFill>
                  <a:srgbClr val="1A2B3C"/>
                </a:solidFill>
                <a:latin typeface="Calibri"/>
              </a:rPr>
              <a:t>•  A fixed on-stack/in-object buffer fronts a monotonic_buffer_resource</a:t>
            </a:r>
          </a:p>
          <a:p>
            <a:pPr algn="l">
              <a:lnSpc>
                <a:spcPct val="115000"/>
              </a:lnSpc>
            </a:pPr>
            <a:r>
              <a:rPr sz="1500" b="0" i="0">
                <a:solidFill>
                  <a:srgbClr val="1A2B3C"/>
                </a:solidFill>
                <a:latin typeface="Calibri"/>
              </a:rPr>
              <a:t>•  An unsynchronized_pool_resource layers on top for varied block sizes</a:t>
            </a:r>
          </a:p>
          <a:p>
            <a:pPr algn="l">
              <a:lnSpc>
                <a:spcPct val="115000"/>
              </a:lnSpc>
            </a:pPr>
            <a:r>
              <a:rPr sz="1500" b="0" i="0">
                <a:solidFill>
                  <a:srgbClr val="1A2B3C"/>
                </a:solidFill>
                <a:latin typeface="Calibri"/>
              </a:rPr>
              <a:t>•  Per-request pmr::vector / pmr::string allocate from the arena</a:t>
            </a:r>
          </a:p>
          <a:p>
            <a:pPr algn="l">
              <a:lnSpc>
                <a:spcPct val="115000"/>
              </a:lnSpc>
            </a:pPr>
            <a:r>
              <a:rPr sz="1500" b="0" i="0">
                <a:solidFill>
                  <a:srgbClr val="1A2B3C"/>
                </a:solidFill>
                <a:latin typeface="Calibri"/>
              </a:rPr>
              <a:t>•  Destruction asymmetry: individual frees are no-ops; the whole arena is reclaimed at once</a:t>
            </a:r>
          </a:p>
        </p:txBody>
      </p:sp>
      <p:pic>
        <p:nvPicPr>
          <p:cNvPr id="10" name="Picture 9" descr="03-pmr.jpg"/>
          <p:cNvPicPr>
            <a:picLocks noChangeAspect="1"/>
          </p:cNvPicPr>
          <p:nvPr/>
        </p:nvPicPr>
        <p:blipFill>
          <a:blip r:embed="rId2"/>
          <a:stretch>
            <a:fillRect/>
          </a:stretch>
        </p:blipFill>
        <p:spPr>
          <a:xfrm>
            <a:off x="6217920" y="1554480"/>
            <a:ext cx="5486400" cy="2984988"/>
          </a:xfrm>
          <a:prstGeom prst="rect">
            <a:avLst/>
          </a:prstGeom>
        </p:spPr>
      </p:pic>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640080"/>
          </a:xfrm>
          <a:prstGeom prst="rect">
            <a:avLst/>
          </a:prstGeom>
          <a:solidFill>
            <a:srgbClr val="1E6F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37160"/>
            <a:ext cx="6400800" cy="365760"/>
          </a:xfrm>
          <a:prstGeom prst="rect">
            <a:avLst/>
          </a:prstGeom>
          <a:noFill/>
        </p:spPr>
        <p:txBody>
          <a:bodyPr wrap="square" anchor="t" lIns="45720" rIns="45720">
            <a:spAutoFit/>
          </a:bodyPr>
          <a:lstStyle/>
          <a:p>
            <a:pPr algn="l"/>
            <a:r>
              <a:rPr sz="2800" b="1" i="0">
                <a:solidFill>
                  <a:srgbClr val="FFFFFF"/>
                </a:solidFill>
                <a:latin typeface="Calibri"/>
              </a:rPr>
              <a:t>PMR: request brings its own memory</a:t>
            </a:r>
          </a:p>
        </p:txBody>
      </p:sp>
      <p:sp>
        <p:nvSpPr>
          <p:cNvPr id="4" name="Rounded Rectangle 3"/>
          <p:cNvSpPr/>
          <p:nvPr/>
        </p:nvSpPr>
        <p:spPr>
          <a:xfrm>
            <a:off x="10454335" y="164592"/>
            <a:ext cx="1463040" cy="320040"/>
          </a:xfrm>
          <a:prstGeom prst="roundRect">
            <a:avLst>
              <a:gd name="adj" fmla="val 50000"/>
            </a:avLst>
          </a:prstGeom>
          <a:solidFill>
            <a:srgbClr val="1A2B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454335" y="164592"/>
            <a:ext cx="1463040" cy="320040"/>
          </a:xfrm>
          <a:prstGeom prst="rect">
            <a:avLst/>
          </a:prstGeom>
          <a:noFill/>
        </p:spPr>
        <p:txBody>
          <a:bodyPr wrap="square" anchor="ctr" lIns="45720" rIns="45720">
            <a:spAutoFit/>
          </a:bodyPr>
          <a:lstStyle/>
          <a:p>
            <a:pPr algn="ctr"/>
            <a:r>
              <a:rPr sz="1400" b="1" i="0">
                <a:solidFill>
                  <a:srgbClr val="FFFFFF"/>
                </a:solidFill>
                <a:latin typeface="Calibri"/>
              </a:rPr>
              <a:t>Doc 03</a:t>
            </a:r>
          </a:p>
        </p:txBody>
      </p:sp>
      <p:sp>
        <p:nvSpPr>
          <p:cNvPr id="6" name="TextBox 5"/>
          <p:cNvSpPr txBox="1"/>
          <p:nvPr/>
        </p:nvSpPr>
        <p:spPr>
          <a:xfrm>
            <a:off x="365760" y="6537960"/>
            <a:ext cx="8229600" cy="274320"/>
          </a:xfrm>
          <a:prstGeom prst="rect">
            <a:avLst/>
          </a:prstGeom>
          <a:noFill/>
        </p:spPr>
        <p:txBody>
          <a:bodyPr wrap="square" anchor="t" lIns="45720" rIns="45720">
            <a:spAutoFit/>
          </a:bodyPr>
          <a:lstStyle/>
          <a:p>
            <a:pPr algn="l"/>
            <a:r>
              <a:rPr sz="1100" b="0" i="0">
                <a:solidFill>
                  <a:srgbClr val="90A4AE"/>
                </a:solidFill>
                <a:latin typeface="Calibri"/>
              </a:rPr>
              <a:t>Optimizing Modern C++ with Containers   |   PMR: request brings its own memory</a:t>
            </a:r>
          </a:p>
        </p:txBody>
      </p:sp>
      <p:sp>
        <p:nvSpPr>
          <p:cNvPr id="7" name="TextBox 6"/>
          <p:cNvSpPr txBox="1"/>
          <p:nvPr/>
        </p:nvSpPr>
        <p:spPr>
          <a:xfrm>
            <a:off x="10820095" y="6537960"/>
            <a:ext cx="1005840" cy="274320"/>
          </a:xfrm>
          <a:prstGeom prst="rect">
            <a:avLst/>
          </a:prstGeom>
          <a:noFill/>
        </p:spPr>
        <p:txBody>
          <a:bodyPr wrap="square" anchor="t" lIns="45720" rIns="45720">
            <a:spAutoFit/>
          </a:bodyPr>
          <a:lstStyle/>
          <a:p>
            <a:pPr algn="r"/>
            <a:r>
              <a:rPr sz="1100" b="0" i="0">
                <a:solidFill>
                  <a:srgbClr val="90A4AE"/>
                </a:solidFill>
                <a:latin typeface="Calibri"/>
              </a:rPr>
              <a:t>16 / 67</a:t>
            </a:r>
          </a:p>
        </p:txBody>
      </p:sp>
      <p:sp>
        <p:nvSpPr>
          <p:cNvPr id="8" name="TextBox 7"/>
          <p:cNvSpPr txBox="1"/>
          <p:nvPr/>
        </p:nvSpPr>
        <p:spPr>
          <a:xfrm>
            <a:off x="457200" y="822960"/>
            <a:ext cx="10972800" cy="548640"/>
          </a:xfrm>
          <a:prstGeom prst="rect">
            <a:avLst/>
          </a:prstGeom>
          <a:noFill/>
        </p:spPr>
        <p:txBody>
          <a:bodyPr wrap="square" anchor="t" lIns="45720" rIns="45720">
            <a:spAutoFit/>
          </a:bodyPr>
          <a:lstStyle/>
          <a:p>
            <a:pPr algn="l"/>
            <a:r>
              <a:rPr sz="2800" b="1" i="0">
                <a:solidFill>
                  <a:srgbClr val="1A2B3C"/>
                </a:solidFill>
                <a:latin typeface="Calibri"/>
              </a:rPr>
              <a:t>The lifetime trap</a:t>
            </a:r>
          </a:p>
        </p:txBody>
      </p:sp>
      <p:sp>
        <p:nvSpPr>
          <p:cNvPr id="9" name="TextBox 8"/>
          <p:cNvSpPr txBox="1"/>
          <p:nvPr/>
        </p:nvSpPr>
        <p:spPr>
          <a:xfrm>
            <a:off x="457200" y="1554480"/>
            <a:ext cx="11247120" cy="4572000"/>
          </a:xfrm>
          <a:prstGeom prst="rect">
            <a:avLst/>
          </a:prstGeom>
          <a:noFill/>
        </p:spPr>
        <p:txBody>
          <a:bodyPr wrap="square" anchor="t" lIns="45720" rIns="45720">
            <a:spAutoFit/>
          </a:bodyPr>
          <a:lstStyle/>
          <a:p>
            <a:pPr algn="l">
              <a:lnSpc>
                <a:spcPct val="115000"/>
              </a:lnSpc>
            </a:pPr>
            <a:r>
              <a:rPr sz="1800" b="1" i="0">
                <a:solidFill>
                  <a:srgbClr val="E84855"/>
                </a:solidFill>
                <a:latin typeface="Calibri"/>
              </a:rPr>
              <a:t>The one rule PMR makes easy to break</a:t>
            </a:r>
          </a:p>
          <a:p>
            <a:pPr algn="l">
              <a:lnSpc>
                <a:spcPct val="115000"/>
              </a:lnSpc>
            </a:pPr>
            <a:r>
              <a:rPr sz="1500" b="0" i="0">
                <a:solidFill>
                  <a:srgbClr val="1A2B3C"/>
                </a:solidFill>
                <a:latin typeface="Calibri"/>
              </a:rPr>
              <a:t>•  A pmr container must not outlive its memory_resource</a:t>
            </a:r>
          </a:p>
          <a:p>
            <a:pPr algn="l">
              <a:lnSpc>
                <a:spcPct val="115000"/>
              </a:lnSpc>
            </a:pPr>
            <a:r>
              <a:rPr sz="1500" b="0" i="0">
                <a:solidFill>
                  <a:srgbClr val="1A2B3C"/>
                </a:solidFill>
                <a:latin typeface="Calibri"/>
              </a:rPr>
              <a:t>•  Return a pmr::string built in a request arena → dangling after the arena dies</a:t>
            </a:r>
          </a:p>
          <a:p>
            <a:pPr algn="l">
              <a:lnSpc>
                <a:spcPct val="115000"/>
              </a:lnSpc>
            </a:pPr>
            <a:r>
              <a:rPr sz="1500" b="0" i="0">
                <a:solidFill>
                  <a:srgbClr val="1A2B3C"/>
                </a:solidFill>
                <a:latin typeface="Calibri"/>
              </a:rPr>
              <a:t>•  Caught immediately under AddressSanitizer (dev profile, Doc 11)</a:t>
            </a:r>
          </a:p>
          <a:p>
            <a:pPr algn="l">
              <a:lnSpc>
                <a:spcPct val="115000"/>
              </a:lnSpc>
            </a:pPr>
            <a:r>
              <a:rPr sz="1500" b="0" i="1">
                <a:solidFill>
                  <a:srgbClr val="90A4AE"/>
                </a:solidFill>
                <a:latin typeface="Calibri"/>
              </a:rPr>
              <a:t>Fix: return owning std:: types across the scope boundary, or keep the value inside the arena's lifetime.</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640080"/>
          </a:xfrm>
          <a:prstGeom prst="rect">
            <a:avLst/>
          </a:prstGeom>
          <a:solidFill>
            <a:srgbClr val="1E6F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37160"/>
            <a:ext cx="6400800" cy="365760"/>
          </a:xfrm>
          <a:prstGeom prst="rect">
            <a:avLst/>
          </a:prstGeom>
          <a:noFill/>
        </p:spPr>
        <p:txBody>
          <a:bodyPr wrap="square" anchor="t" lIns="45720" rIns="45720">
            <a:spAutoFit/>
          </a:bodyPr>
          <a:lstStyle/>
          <a:p>
            <a:pPr algn="l"/>
            <a:r>
              <a:rPr sz="2800" b="1" i="0">
                <a:solidFill>
                  <a:srgbClr val="FFFFFF"/>
                </a:solidFill>
                <a:latin typeface="Calibri"/>
              </a:rPr>
              <a:t>PMR: request brings its own memory</a:t>
            </a:r>
          </a:p>
        </p:txBody>
      </p:sp>
      <p:sp>
        <p:nvSpPr>
          <p:cNvPr id="4" name="Rounded Rectangle 3"/>
          <p:cNvSpPr/>
          <p:nvPr/>
        </p:nvSpPr>
        <p:spPr>
          <a:xfrm>
            <a:off x="10454335" y="164592"/>
            <a:ext cx="1463040" cy="320040"/>
          </a:xfrm>
          <a:prstGeom prst="roundRect">
            <a:avLst>
              <a:gd name="adj" fmla="val 50000"/>
            </a:avLst>
          </a:prstGeom>
          <a:solidFill>
            <a:srgbClr val="1A2B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454335" y="164592"/>
            <a:ext cx="1463040" cy="320040"/>
          </a:xfrm>
          <a:prstGeom prst="rect">
            <a:avLst/>
          </a:prstGeom>
          <a:noFill/>
        </p:spPr>
        <p:txBody>
          <a:bodyPr wrap="square" anchor="ctr" lIns="45720" rIns="45720">
            <a:spAutoFit/>
          </a:bodyPr>
          <a:lstStyle/>
          <a:p>
            <a:pPr algn="ctr"/>
            <a:r>
              <a:rPr sz="1400" b="1" i="0">
                <a:solidFill>
                  <a:srgbClr val="FFFFFF"/>
                </a:solidFill>
                <a:latin typeface="Calibri"/>
              </a:rPr>
              <a:t>Doc 03</a:t>
            </a:r>
          </a:p>
        </p:txBody>
      </p:sp>
      <p:sp>
        <p:nvSpPr>
          <p:cNvPr id="6" name="TextBox 5"/>
          <p:cNvSpPr txBox="1"/>
          <p:nvPr/>
        </p:nvSpPr>
        <p:spPr>
          <a:xfrm>
            <a:off x="365760" y="6537960"/>
            <a:ext cx="8229600" cy="274320"/>
          </a:xfrm>
          <a:prstGeom prst="rect">
            <a:avLst/>
          </a:prstGeom>
          <a:noFill/>
        </p:spPr>
        <p:txBody>
          <a:bodyPr wrap="square" anchor="t" lIns="45720" rIns="45720">
            <a:spAutoFit/>
          </a:bodyPr>
          <a:lstStyle/>
          <a:p>
            <a:pPr algn="l"/>
            <a:r>
              <a:rPr sz="1100" b="0" i="0">
                <a:solidFill>
                  <a:srgbClr val="90A4AE"/>
                </a:solidFill>
                <a:latin typeface="Calibri"/>
              </a:rPr>
              <a:t>Optimizing Modern C++ with Containers   |   PMR: request brings its own memory</a:t>
            </a:r>
          </a:p>
        </p:txBody>
      </p:sp>
      <p:sp>
        <p:nvSpPr>
          <p:cNvPr id="7" name="TextBox 6"/>
          <p:cNvSpPr txBox="1"/>
          <p:nvPr/>
        </p:nvSpPr>
        <p:spPr>
          <a:xfrm>
            <a:off x="10820095" y="6537960"/>
            <a:ext cx="1005840" cy="274320"/>
          </a:xfrm>
          <a:prstGeom prst="rect">
            <a:avLst/>
          </a:prstGeom>
          <a:noFill/>
        </p:spPr>
        <p:txBody>
          <a:bodyPr wrap="square" anchor="t" lIns="45720" rIns="45720">
            <a:spAutoFit/>
          </a:bodyPr>
          <a:lstStyle/>
          <a:p>
            <a:pPr algn="r"/>
            <a:r>
              <a:rPr sz="1100" b="0" i="0">
                <a:solidFill>
                  <a:srgbClr val="90A4AE"/>
                </a:solidFill>
                <a:latin typeface="Calibri"/>
              </a:rPr>
              <a:t>17 / 67</a:t>
            </a:r>
          </a:p>
        </p:txBody>
      </p:sp>
      <p:sp>
        <p:nvSpPr>
          <p:cNvPr id="8" name="TextBox 7"/>
          <p:cNvSpPr txBox="1"/>
          <p:nvPr/>
        </p:nvSpPr>
        <p:spPr>
          <a:xfrm>
            <a:off x="457200" y="822960"/>
            <a:ext cx="10972800" cy="548640"/>
          </a:xfrm>
          <a:prstGeom prst="rect">
            <a:avLst/>
          </a:prstGeom>
          <a:noFill/>
        </p:spPr>
        <p:txBody>
          <a:bodyPr wrap="square" anchor="t" lIns="45720" rIns="45720">
            <a:spAutoFit/>
          </a:bodyPr>
          <a:lstStyle/>
          <a:p>
            <a:pPr algn="l"/>
            <a:r>
              <a:rPr sz="2800" b="1" i="0">
                <a:solidFill>
                  <a:srgbClr val="1A2B3C"/>
                </a:solidFill>
                <a:latin typeface="Calibri"/>
              </a:rPr>
              <a:t>Which container, on PMR?</a:t>
            </a:r>
          </a:p>
        </p:txBody>
      </p:sp>
      <p:sp>
        <p:nvSpPr>
          <p:cNvPr id="9" name="TextBox 8"/>
          <p:cNvSpPr txBox="1"/>
          <p:nvPr/>
        </p:nvSpPr>
        <p:spPr>
          <a:xfrm>
            <a:off x="457200" y="1554480"/>
            <a:ext cx="11247120" cy="4572000"/>
          </a:xfrm>
          <a:prstGeom prst="rect">
            <a:avLst/>
          </a:prstGeom>
          <a:noFill/>
        </p:spPr>
        <p:txBody>
          <a:bodyPr wrap="square" anchor="t" lIns="45720" rIns="45720">
            <a:spAutoFit/>
          </a:bodyPr>
          <a:lstStyle/>
          <a:p>
            <a:pPr algn="l">
              <a:lnSpc>
                <a:spcPct val="115000"/>
              </a:lnSpc>
            </a:pPr>
            <a:r>
              <a:rPr sz="1800" b="1" i="0">
                <a:solidFill>
                  <a:srgbClr val="27AE60"/>
                </a:solidFill>
                <a:latin typeface="Calibri"/>
              </a:rPr>
              <a:t>std:: containers that take a memory_resource</a:t>
            </a:r>
          </a:p>
          <a:p>
            <a:pPr algn="l">
              <a:lnSpc>
                <a:spcPct val="115000"/>
              </a:lnSpc>
            </a:pPr>
            <a:r>
              <a:rPr sz="1500" b="0" i="0">
                <a:solidFill>
                  <a:srgbClr val="1A2B3C"/>
                </a:solidFill>
                <a:latin typeface="Calibri"/>
              </a:rPr>
              <a:t>•  pmr::vector — the workhorse; contiguous, arena-allocated</a:t>
            </a:r>
          </a:p>
          <a:p>
            <a:pPr algn="l">
              <a:lnSpc>
                <a:spcPct val="115000"/>
              </a:lnSpc>
            </a:pPr>
            <a:r>
              <a:rPr sz="1500" b="0" i="0">
                <a:solidFill>
                  <a:srgbClr val="1A2B3C"/>
                </a:solidFill>
                <a:latin typeface="Calibri"/>
              </a:rPr>
              <a:t>•  pmr::string — short ids and scratch text without the global allocator</a:t>
            </a:r>
          </a:p>
          <a:p>
            <a:pPr algn="l">
              <a:lnSpc>
                <a:spcPct val="115000"/>
              </a:lnSpc>
            </a:pPr>
            <a:r>
              <a:rPr sz="1500" b="0" i="0">
                <a:solidFill>
                  <a:srgbClr val="1A2B3C"/>
                </a:solidFill>
                <a:latin typeface="Calibri"/>
              </a:rPr>
              <a:t>•  pmr::unordered_map — per-request lookups; nodes in the arena</a:t>
            </a:r>
          </a:p>
          <a:p>
            <a:pPr algn="l">
              <a:lnSpc>
                <a:spcPct val="115000"/>
              </a:lnSpc>
            </a:pPr>
            <a:r>
              <a:rPr sz="1500" b="0" i="0">
                <a:solidFill>
                  <a:srgbClr val="1A2B3C"/>
                </a:solidFill>
                <a:latin typeface="Calibri"/>
              </a:rPr>
              <a:t>•  pmr::flat_map (C++23) — sorted, cache-friendly, fewer allocations</a:t>
            </a:r>
          </a:p>
          <a:p>
            <a:pPr algn="l">
              <a:lnSpc>
                <a:spcPct val="115000"/>
              </a:lnSpc>
            </a:pPr>
            <a:r>
              <a:rPr sz="1500" b="0" i="1">
                <a:solidFill>
                  <a:srgbClr val="90A4AE"/>
                </a:solidFill>
                <a:latin typeface="Calibri"/>
              </a:rPr>
              <a:t>Same familiar std:: types; the allocator is just plumbed to the request arena via the polymorphic resource.</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640080"/>
          </a:xfrm>
          <a:prstGeom prst="rect">
            <a:avLst/>
          </a:prstGeom>
          <a:solidFill>
            <a:srgbClr val="1E6F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37160"/>
            <a:ext cx="6400800" cy="365760"/>
          </a:xfrm>
          <a:prstGeom prst="rect">
            <a:avLst/>
          </a:prstGeom>
          <a:noFill/>
        </p:spPr>
        <p:txBody>
          <a:bodyPr wrap="square" anchor="t" lIns="45720" rIns="45720">
            <a:spAutoFit/>
          </a:bodyPr>
          <a:lstStyle/>
          <a:p>
            <a:pPr algn="l"/>
            <a:r>
              <a:rPr sz="2800" b="1" i="0">
                <a:solidFill>
                  <a:srgbClr val="FFFFFF"/>
                </a:solidFill>
                <a:latin typeface="Calibri"/>
              </a:rPr>
              <a:t>PMR: request brings its own memory</a:t>
            </a:r>
          </a:p>
        </p:txBody>
      </p:sp>
      <p:sp>
        <p:nvSpPr>
          <p:cNvPr id="4" name="Rounded Rectangle 3"/>
          <p:cNvSpPr/>
          <p:nvPr/>
        </p:nvSpPr>
        <p:spPr>
          <a:xfrm>
            <a:off x="10454335" y="164592"/>
            <a:ext cx="1463040" cy="320040"/>
          </a:xfrm>
          <a:prstGeom prst="roundRect">
            <a:avLst>
              <a:gd name="adj" fmla="val 50000"/>
            </a:avLst>
          </a:prstGeom>
          <a:solidFill>
            <a:srgbClr val="1A2B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454335" y="164592"/>
            <a:ext cx="1463040" cy="320040"/>
          </a:xfrm>
          <a:prstGeom prst="rect">
            <a:avLst/>
          </a:prstGeom>
          <a:noFill/>
        </p:spPr>
        <p:txBody>
          <a:bodyPr wrap="square" anchor="ctr" lIns="45720" rIns="45720">
            <a:spAutoFit/>
          </a:bodyPr>
          <a:lstStyle/>
          <a:p>
            <a:pPr algn="ctr"/>
            <a:r>
              <a:rPr sz="1400" b="1" i="0">
                <a:solidFill>
                  <a:srgbClr val="FFFFFF"/>
                </a:solidFill>
                <a:latin typeface="Calibri"/>
              </a:rPr>
              <a:t>Doc 03</a:t>
            </a:r>
          </a:p>
        </p:txBody>
      </p:sp>
      <p:sp>
        <p:nvSpPr>
          <p:cNvPr id="6" name="TextBox 5"/>
          <p:cNvSpPr txBox="1"/>
          <p:nvPr/>
        </p:nvSpPr>
        <p:spPr>
          <a:xfrm>
            <a:off x="365760" y="6537960"/>
            <a:ext cx="8229600" cy="274320"/>
          </a:xfrm>
          <a:prstGeom prst="rect">
            <a:avLst/>
          </a:prstGeom>
          <a:noFill/>
        </p:spPr>
        <p:txBody>
          <a:bodyPr wrap="square" anchor="t" lIns="45720" rIns="45720">
            <a:spAutoFit/>
          </a:bodyPr>
          <a:lstStyle/>
          <a:p>
            <a:pPr algn="l"/>
            <a:r>
              <a:rPr sz="1100" b="0" i="0">
                <a:solidFill>
                  <a:srgbClr val="90A4AE"/>
                </a:solidFill>
                <a:latin typeface="Calibri"/>
              </a:rPr>
              <a:t>Optimizing Modern C++ with Containers   |   PMR: request brings its own memory</a:t>
            </a:r>
          </a:p>
        </p:txBody>
      </p:sp>
      <p:sp>
        <p:nvSpPr>
          <p:cNvPr id="7" name="TextBox 6"/>
          <p:cNvSpPr txBox="1"/>
          <p:nvPr/>
        </p:nvSpPr>
        <p:spPr>
          <a:xfrm>
            <a:off x="10820095" y="6537960"/>
            <a:ext cx="1005840" cy="274320"/>
          </a:xfrm>
          <a:prstGeom prst="rect">
            <a:avLst/>
          </a:prstGeom>
          <a:noFill/>
        </p:spPr>
        <p:txBody>
          <a:bodyPr wrap="square" anchor="t" lIns="45720" rIns="45720">
            <a:spAutoFit/>
          </a:bodyPr>
          <a:lstStyle/>
          <a:p>
            <a:pPr algn="r"/>
            <a:r>
              <a:rPr sz="1100" b="0" i="0">
                <a:solidFill>
                  <a:srgbClr val="90A4AE"/>
                </a:solidFill>
                <a:latin typeface="Calibri"/>
              </a:rPr>
              <a:t>18 / 67</a:t>
            </a:r>
          </a:p>
        </p:txBody>
      </p:sp>
      <p:sp>
        <p:nvSpPr>
          <p:cNvPr id="8" name="TextBox 7"/>
          <p:cNvSpPr txBox="1"/>
          <p:nvPr/>
        </p:nvSpPr>
        <p:spPr>
          <a:xfrm>
            <a:off x="457200" y="822960"/>
            <a:ext cx="10972800" cy="548640"/>
          </a:xfrm>
          <a:prstGeom prst="rect">
            <a:avLst/>
          </a:prstGeom>
          <a:noFill/>
        </p:spPr>
        <p:txBody>
          <a:bodyPr wrap="square" anchor="t" lIns="45720" rIns="45720">
            <a:spAutoFit/>
          </a:bodyPr>
          <a:lstStyle/>
          <a:p>
            <a:pPr algn="l"/>
            <a:r>
              <a:rPr sz="2800" b="1" i="0">
                <a:solidFill>
                  <a:srgbClr val="1A2B3C"/>
                </a:solidFill>
                <a:latin typeface="Calibri"/>
              </a:rPr>
              <a:t>Why the asymmetry is the whole point</a:t>
            </a:r>
          </a:p>
        </p:txBody>
      </p:sp>
      <p:sp>
        <p:nvSpPr>
          <p:cNvPr id="9" name="TextBox 8"/>
          <p:cNvSpPr txBox="1"/>
          <p:nvPr/>
        </p:nvSpPr>
        <p:spPr>
          <a:xfrm>
            <a:off x="457200" y="1554480"/>
            <a:ext cx="11247120" cy="4572000"/>
          </a:xfrm>
          <a:prstGeom prst="rect">
            <a:avLst/>
          </a:prstGeom>
          <a:noFill/>
        </p:spPr>
        <p:txBody>
          <a:bodyPr wrap="square" anchor="t" lIns="45720" rIns="45720">
            <a:spAutoFit/>
          </a:bodyPr>
          <a:lstStyle/>
          <a:p>
            <a:pPr algn="l">
              <a:lnSpc>
                <a:spcPct val="115000"/>
              </a:lnSpc>
            </a:pPr>
            <a:r>
              <a:rPr sz="1800" b="1" i="0">
                <a:solidFill>
                  <a:srgbClr val="1E6FC8"/>
                </a:solidFill>
                <a:latin typeface="Calibri"/>
              </a:rPr>
              <a:t>Allocation vs. deallocation cost</a:t>
            </a:r>
          </a:p>
          <a:p>
            <a:pPr algn="l">
              <a:lnSpc>
                <a:spcPct val="115000"/>
              </a:lnSpc>
            </a:pPr>
            <a:r>
              <a:rPr sz="1500" b="0" i="0">
                <a:solidFill>
                  <a:srgbClr val="1A2B3C"/>
                </a:solidFill>
                <a:latin typeface="Calibri"/>
              </a:rPr>
              <a:t>•  Allocation: a pointer bump in the monotonic buffer — a few instructions</a:t>
            </a:r>
          </a:p>
          <a:p>
            <a:pPr algn="l">
              <a:lnSpc>
                <a:spcPct val="115000"/>
              </a:lnSpc>
            </a:pPr>
            <a:r>
              <a:rPr sz="1500" b="0" i="0">
                <a:solidFill>
                  <a:srgbClr val="1A2B3C"/>
                </a:solidFill>
                <a:latin typeface="Calibri"/>
              </a:rPr>
              <a:t>•  Per-object deallocation: a NO-OP (monotonic do_deallocate does nothing)</a:t>
            </a:r>
          </a:p>
          <a:p>
            <a:pPr algn="l">
              <a:lnSpc>
                <a:spcPct val="115000"/>
              </a:lnSpc>
            </a:pPr>
            <a:r>
              <a:rPr sz="1500" b="0" i="0">
                <a:solidFill>
                  <a:srgbClr val="1A2B3C"/>
                </a:solidFill>
                <a:latin typeface="Calibri"/>
              </a:rPr>
              <a:t>•  Reclamation: one buffer reset when the RequestContext destructs</a:t>
            </a:r>
          </a:p>
          <a:p>
            <a:pPr algn="l">
              <a:lnSpc>
                <a:spcPct val="115000"/>
              </a:lnSpc>
            </a:pPr>
            <a:r>
              <a:rPr sz="1500" b="0" i="0">
                <a:solidFill>
                  <a:srgbClr val="1A2B3C"/>
                </a:solidFill>
                <a:latin typeface="Calibri"/>
              </a:rPr>
              <a:t>•  Net: thousands of tiny per-request frees collapse into a single reset</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Rounded Rectangle 1"/>
          <p:cNvSpPr/>
          <p:nvPr/>
        </p:nvSpPr>
        <p:spPr>
          <a:xfrm>
            <a:off x="548640" y="548640"/>
            <a:ext cx="2286000" cy="594360"/>
          </a:xfrm>
          <a:prstGeom prst="roundRect">
            <a:avLst>
              <a:gd name="adj" fmla="val 50000"/>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48640"/>
            <a:ext cx="2286000" cy="594360"/>
          </a:xfrm>
          <a:prstGeom prst="rect">
            <a:avLst/>
          </a:prstGeom>
          <a:noFill/>
        </p:spPr>
        <p:txBody>
          <a:bodyPr wrap="square" anchor="ctr" lIns="45720" rIns="45720">
            <a:spAutoFit/>
          </a:bodyPr>
          <a:lstStyle/>
          <a:p>
            <a:pPr algn="ctr"/>
            <a:r>
              <a:rPr sz="2200" b="1" i="0">
                <a:solidFill>
                  <a:srgbClr val="FFFFFF"/>
                </a:solidFill>
                <a:latin typeface="Calibri"/>
              </a:rPr>
              <a:t>▶ DEMO 03</a:t>
            </a:r>
          </a:p>
        </p:txBody>
      </p:sp>
      <p:sp>
        <p:nvSpPr>
          <p:cNvPr id="4" name="TextBox 3"/>
          <p:cNvSpPr txBox="1"/>
          <p:nvPr/>
        </p:nvSpPr>
        <p:spPr>
          <a:xfrm>
            <a:off x="548640" y="1645920"/>
            <a:ext cx="10972800" cy="1097280"/>
          </a:xfrm>
          <a:prstGeom prst="rect">
            <a:avLst/>
          </a:prstGeom>
          <a:noFill/>
        </p:spPr>
        <p:txBody>
          <a:bodyPr wrap="square" anchor="t" lIns="45720" rIns="45720">
            <a:spAutoFit/>
          </a:bodyPr>
          <a:lstStyle/>
          <a:p>
            <a:pPr algn="l"/>
            <a:r>
              <a:rPr sz="3600" b="1" i="0">
                <a:solidFill>
                  <a:srgbClr val="FFFFFF"/>
                </a:solidFill>
                <a:latin typeface="Calibri"/>
              </a:rPr>
              <a:t>Demo — PMR request arena</a:t>
            </a:r>
          </a:p>
        </p:txBody>
      </p:sp>
      <p:sp>
        <p:nvSpPr>
          <p:cNvPr id="5" name="TextBox 4"/>
          <p:cNvSpPr txBox="1"/>
          <p:nvPr/>
        </p:nvSpPr>
        <p:spPr>
          <a:xfrm>
            <a:off x="548640" y="2743200"/>
            <a:ext cx="10972800" cy="1371600"/>
          </a:xfrm>
          <a:prstGeom prst="rect">
            <a:avLst/>
          </a:prstGeom>
          <a:noFill/>
        </p:spPr>
        <p:txBody>
          <a:bodyPr wrap="square" anchor="t" lIns="45720" rIns="45720">
            <a:spAutoFit/>
          </a:bodyPr>
          <a:lstStyle/>
          <a:p>
            <a:pPr algn="l"/>
            <a:r>
              <a:rPr sz="2000" b="0" i="0">
                <a:solidFill>
                  <a:srgbClr val="ECF0F1"/>
                </a:solidFill>
                <a:latin typeface="Calibri"/>
              </a:rPr>
              <a:t>The layered monotonic + pool arena in action: per-request allocation freed in bulk, the release-cost asymmetry measured, and the lifetime trap caught live by AddressSanitizer.</a:t>
            </a:r>
          </a:p>
        </p:txBody>
      </p:sp>
      <p:sp>
        <p:nvSpPr>
          <p:cNvPr id="6" name="Rectangle 5"/>
          <p:cNvSpPr/>
          <p:nvPr/>
        </p:nvSpPr>
        <p:spPr>
          <a:xfrm>
            <a:off x="548640" y="4297680"/>
            <a:ext cx="11064240" cy="1097280"/>
          </a:xfrm>
          <a:prstGeom prst="rect">
            <a:avLst/>
          </a:prstGeom>
          <a:solidFill>
            <a:srgbClr val="0D21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4389120"/>
            <a:ext cx="10789920" cy="457200"/>
          </a:xfrm>
          <a:prstGeom prst="rect">
            <a:avLst/>
          </a:prstGeom>
          <a:noFill/>
        </p:spPr>
        <p:txBody>
          <a:bodyPr wrap="square" anchor="t" lIns="45720" rIns="45720">
            <a:spAutoFit/>
          </a:bodyPr>
          <a:lstStyle/>
          <a:p>
            <a:pPr algn="l"/>
            <a:r>
              <a:rPr sz="1800" b="0" i="0">
                <a:solidFill>
                  <a:srgbClr val="00BCD4"/>
                </a:solidFill>
                <a:latin typeface="Consolas"/>
              </a:rPr>
              <a:t>$ cd examples/statelessness/03-pmr &amp;&amp; ./demo.sh</a:t>
            </a:r>
          </a:p>
        </p:txBody>
      </p:sp>
      <p:sp>
        <p:nvSpPr>
          <p:cNvPr id="8" name="TextBox 7"/>
          <p:cNvSpPr txBox="1"/>
          <p:nvPr/>
        </p:nvSpPr>
        <p:spPr>
          <a:xfrm>
            <a:off x="731520" y="4892040"/>
            <a:ext cx="10789920" cy="365760"/>
          </a:xfrm>
          <a:prstGeom prst="rect">
            <a:avLst/>
          </a:prstGeom>
          <a:noFill/>
        </p:spPr>
        <p:txBody>
          <a:bodyPr wrap="square" anchor="t" lIns="45720" rIns="45720">
            <a:spAutoFit/>
          </a:bodyPr>
          <a:lstStyle/>
          <a:p>
            <a:pPr algn="l"/>
            <a:r>
              <a:rPr sz="1100" b="0" i="0">
                <a:solidFill>
                  <a:srgbClr val="90A4AE"/>
                </a:solidFill>
                <a:latin typeface="Consolas"/>
              </a:rPr>
              <a:t>  source on site: patterncatalyst.github.io/cpp-container-optimization-tutorial/examples/statelessness-03-pmr/</a:t>
            </a:r>
          </a:p>
        </p:txBody>
      </p:sp>
      <p:sp>
        <p:nvSpPr>
          <p:cNvPr id="9" name="TextBox 8"/>
          <p:cNvSpPr txBox="1"/>
          <p:nvPr/>
        </p:nvSpPr>
        <p:spPr>
          <a:xfrm>
            <a:off x="10820095" y="6400800"/>
            <a:ext cx="914400" cy="274320"/>
          </a:xfrm>
          <a:prstGeom prst="rect">
            <a:avLst/>
          </a:prstGeom>
          <a:noFill/>
        </p:spPr>
        <p:txBody>
          <a:bodyPr wrap="square" anchor="t" lIns="45720" rIns="45720">
            <a:spAutoFit/>
          </a:bodyPr>
          <a:lstStyle/>
          <a:p>
            <a:pPr algn="r"/>
            <a:r>
              <a:rPr sz="1100" b="0" i="0">
                <a:solidFill>
                  <a:srgbClr val="90A4AE"/>
                </a:solidFill>
                <a:latin typeface="Calibri"/>
              </a:rPr>
              <a:t>19 / 67</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1828800"/>
            <a:ext cx="3657600" cy="2286000"/>
          </a:xfrm>
          <a:prstGeom prst="rect">
            <a:avLst/>
          </a:prstGeom>
          <a:noFill/>
        </p:spPr>
        <p:txBody>
          <a:bodyPr wrap="square" anchor="t" lIns="45720" rIns="45720">
            <a:spAutoFit/>
          </a:bodyPr>
          <a:lstStyle/>
          <a:p>
            <a:pPr algn="l"/>
            <a:r>
              <a:rPr sz="18000" b="1" i="0">
                <a:solidFill>
                  <a:srgbClr val="00BCD4"/>
                </a:solidFill>
                <a:latin typeface="Calibri"/>
              </a:rPr>
              <a:t>§4</a:t>
            </a:r>
          </a:p>
        </p:txBody>
      </p:sp>
      <p:sp>
        <p:nvSpPr>
          <p:cNvPr id="3" name="TextBox 2"/>
          <p:cNvSpPr txBox="1"/>
          <p:nvPr/>
        </p:nvSpPr>
        <p:spPr>
          <a:xfrm>
            <a:off x="4114800" y="2103120"/>
            <a:ext cx="7772400" cy="1828800"/>
          </a:xfrm>
          <a:prstGeom prst="rect">
            <a:avLst/>
          </a:prstGeom>
          <a:noFill/>
        </p:spPr>
        <p:txBody>
          <a:bodyPr wrap="square" anchor="t" lIns="45720" rIns="45720">
            <a:spAutoFit/>
          </a:bodyPr>
          <a:lstStyle/>
          <a:p>
            <a:pPr algn="l"/>
            <a:r>
              <a:rPr sz="3600" b="1" i="0">
                <a:solidFill>
                  <a:srgbClr val="FFFFFF"/>
                </a:solidFill>
                <a:latin typeface="Calibri"/>
              </a:rPr>
              <a:t>Process-scoped state, owned in main()</a:t>
            </a:r>
          </a:p>
        </p:txBody>
      </p:sp>
      <p:sp>
        <p:nvSpPr>
          <p:cNvPr id="4" name="TextBox 3"/>
          <p:cNvSpPr txBox="1"/>
          <p:nvPr/>
        </p:nvSpPr>
        <p:spPr>
          <a:xfrm>
            <a:off x="4114800" y="3474720"/>
            <a:ext cx="7772400" cy="1828800"/>
          </a:xfrm>
          <a:prstGeom prst="rect">
            <a:avLst/>
          </a:prstGeom>
          <a:noFill/>
        </p:spPr>
        <p:txBody>
          <a:bodyPr wrap="square" anchor="t" lIns="45720" rIns="45720">
            <a:spAutoFit/>
          </a:bodyPr>
          <a:lstStyle/>
          <a:p>
            <a:pPr algn="l"/>
            <a:r>
              <a:rPr sz="2000" b="0" i="1">
                <a:solidFill>
                  <a:srgbClr val="90A4AE"/>
                </a:solidFill>
                <a:latin typeface="Calibri"/>
              </a:rPr>
              <a:t>Some state legitimately lives for the process — own it explicitly.</a:t>
            </a:r>
          </a:p>
        </p:txBody>
      </p:sp>
      <p:sp>
        <p:nvSpPr>
          <p:cNvPr id="5" name="TextBox 4"/>
          <p:cNvSpPr txBox="1"/>
          <p:nvPr/>
        </p:nvSpPr>
        <p:spPr>
          <a:xfrm>
            <a:off x="10820095" y="6400800"/>
            <a:ext cx="914400" cy="274320"/>
          </a:xfrm>
          <a:prstGeom prst="rect">
            <a:avLst/>
          </a:prstGeom>
          <a:noFill/>
        </p:spPr>
        <p:txBody>
          <a:bodyPr wrap="square" anchor="t" lIns="45720" rIns="45720">
            <a:spAutoFit/>
          </a:bodyPr>
          <a:lstStyle/>
          <a:p>
            <a:pPr algn="r"/>
            <a:r>
              <a:rPr sz="1100" b="0" i="0">
                <a:solidFill>
                  <a:srgbClr val="90A4AE"/>
                </a:solidFill>
                <a:latin typeface="Calibri"/>
              </a:rPr>
              <a:t>20 / 67</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640080"/>
          </a:xfrm>
          <a:prstGeom prst="rect">
            <a:avLst/>
          </a:prstGeom>
          <a:solidFill>
            <a:srgbClr val="1E6F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37160"/>
            <a:ext cx="6400800" cy="365760"/>
          </a:xfrm>
          <a:prstGeom prst="rect">
            <a:avLst/>
          </a:prstGeom>
          <a:noFill/>
        </p:spPr>
        <p:txBody>
          <a:bodyPr wrap="square" anchor="t" lIns="45720" rIns="45720">
            <a:spAutoFit/>
          </a:bodyPr>
          <a:lstStyle/>
          <a:p>
            <a:pPr algn="l"/>
            <a:r>
              <a:rPr sz="2800" b="1" i="0">
                <a:solidFill>
                  <a:srgbClr val="FFFFFF"/>
                </a:solidFill>
                <a:latin typeface="Calibri"/>
              </a:rPr>
              <a:t>Process-scoped state, owned in main()</a:t>
            </a:r>
          </a:p>
        </p:txBody>
      </p:sp>
      <p:sp>
        <p:nvSpPr>
          <p:cNvPr id="4" name="Rounded Rectangle 3"/>
          <p:cNvSpPr/>
          <p:nvPr/>
        </p:nvSpPr>
        <p:spPr>
          <a:xfrm>
            <a:off x="10454335" y="164592"/>
            <a:ext cx="1463040" cy="320040"/>
          </a:xfrm>
          <a:prstGeom prst="roundRect">
            <a:avLst>
              <a:gd name="adj" fmla="val 50000"/>
            </a:avLst>
          </a:prstGeom>
          <a:solidFill>
            <a:srgbClr val="1A2B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454335" y="164592"/>
            <a:ext cx="1463040" cy="320040"/>
          </a:xfrm>
          <a:prstGeom prst="rect">
            <a:avLst/>
          </a:prstGeom>
          <a:noFill/>
        </p:spPr>
        <p:txBody>
          <a:bodyPr wrap="square" anchor="ctr" lIns="45720" rIns="45720">
            <a:spAutoFit/>
          </a:bodyPr>
          <a:lstStyle/>
          <a:p>
            <a:pPr algn="ctr"/>
            <a:r>
              <a:rPr sz="1400" b="1" i="0">
                <a:solidFill>
                  <a:srgbClr val="FFFFFF"/>
                </a:solidFill>
                <a:latin typeface="Calibri"/>
              </a:rPr>
              <a:t>Doc 04</a:t>
            </a:r>
          </a:p>
        </p:txBody>
      </p:sp>
      <p:sp>
        <p:nvSpPr>
          <p:cNvPr id="6" name="TextBox 5"/>
          <p:cNvSpPr txBox="1"/>
          <p:nvPr/>
        </p:nvSpPr>
        <p:spPr>
          <a:xfrm>
            <a:off x="365760" y="6537960"/>
            <a:ext cx="8229600" cy="274320"/>
          </a:xfrm>
          <a:prstGeom prst="rect">
            <a:avLst/>
          </a:prstGeom>
          <a:noFill/>
        </p:spPr>
        <p:txBody>
          <a:bodyPr wrap="square" anchor="t" lIns="45720" rIns="45720">
            <a:spAutoFit/>
          </a:bodyPr>
          <a:lstStyle/>
          <a:p>
            <a:pPr algn="l"/>
            <a:r>
              <a:rPr sz="1100" b="0" i="0">
                <a:solidFill>
                  <a:srgbClr val="90A4AE"/>
                </a:solidFill>
                <a:latin typeface="Calibri"/>
              </a:rPr>
              <a:t>Optimizing Modern C++ with Containers   |   Process-scoped state, owned in main()</a:t>
            </a:r>
          </a:p>
        </p:txBody>
      </p:sp>
      <p:sp>
        <p:nvSpPr>
          <p:cNvPr id="7" name="TextBox 6"/>
          <p:cNvSpPr txBox="1"/>
          <p:nvPr/>
        </p:nvSpPr>
        <p:spPr>
          <a:xfrm>
            <a:off x="10820095" y="6537960"/>
            <a:ext cx="1005840" cy="274320"/>
          </a:xfrm>
          <a:prstGeom prst="rect">
            <a:avLst/>
          </a:prstGeom>
          <a:noFill/>
        </p:spPr>
        <p:txBody>
          <a:bodyPr wrap="square" anchor="t" lIns="45720" rIns="45720">
            <a:spAutoFit/>
          </a:bodyPr>
          <a:lstStyle/>
          <a:p>
            <a:pPr algn="r"/>
            <a:r>
              <a:rPr sz="1100" b="0" i="0">
                <a:solidFill>
                  <a:srgbClr val="90A4AE"/>
                </a:solidFill>
                <a:latin typeface="Calibri"/>
              </a:rPr>
              <a:t>21 / 67</a:t>
            </a:r>
          </a:p>
        </p:txBody>
      </p:sp>
      <p:sp>
        <p:nvSpPr>
          <p:cNvPr id="8" name="TextBox 7"/>
          <p:cNvSpPr txBox="1"/>
          <p:nvPr/>
        </p:nvSpPr>
        <p:spPr>
          <a:xfrm>
            <a:off x="457200" y="822960"/>
            <a:ext cx="10972800" cy="548640"/>
          </a:xfrm>
          <a:prstGeom prst="rect">
            <a:avLst/>
          </a:prstGeom>
          <a:noFill/>
        </p:spPr>
        <p:txBody>
          <a:bodyPr wrap="square" anchor="t" lIns="45720" rIns="45720">
            <a:spAutoFit/>
          </a:bodyPr>
          <a:lstStyle/>
          <a:p>
            <a:pPr algn="l"/>
            <a:r>
              <a:rPr sz="2800" b="1" i="0">
                <a:solidFill>
                  <a:srgbClr val="1A2B3C"/>
                </a:solidFill>
                <a:latin typeface="Calibri"/>
              </a:rPr>
              <a:t>The composition root</a:t>
            </a:r>
          </a:p>
        </p:txBody>
      </p:sp>
      <p:sp>
        <p:nvSpPr>
          <p:cNvPr id="9" name="TextBox 8"/>
          <p:cNvSpPr txBox="1"/>
          <p:nvPr/>
        </p:nvSpPr>
        <p:spPr>
          <a:xfrm>
            <a:off x="457200" y="1554480"/>
            <a:ext cx="5486400" cy="4572000"/>
          </a:xfrm>
          <a:prstGeom prst="rect">
            <a:avLst/>
          </a:prstGeom>
          <a:noFill/>
        </p:spPr>
        <p:txBody>
          <a:bodyPr wrap="square" anchor="t" lIns="45720" rIns="45720">
            <a:spAutoFit/>
          </a:bodyPr>
          <a:lstStyle/>
          <a:p>
            <a:pPr algn="l">
              <a:lnSpc>
                <a:spcPct val="115000"/>
              </a:lnSpc>
            </a:pPr>
            <a:r>
              <a:rPr sz="1800" b="1" i="0">
                <a:solidFill>
                  <a:srgbClr val="1E6FC8"/>
                </a:solidFill>
                <a:latin typeface="Calibri"/>
              </a:rPr>
              <a:t>main() constructs everything by name</a:t>
            </a:r>
          </a:p>
          <a:p>
            <a:pPr algn="l">
              <a:lnSpc>
                <a:spcPct val="115000"/>
              </a:lnSpc>
            </a:pPr>
            <a:r>
              <a:rPr sz="1500" b="0" i="0">
                <a:solidFill>
                  <a:srgbClr val="1A2B3C"/>
                </a:solidFill>
                <a:latin typeface="Calibri"/>
              </a:rPr>
              <a:t>•  Parsed config, pools, channel cache, caches — built once, in order</a:t>
            </a:r>
          </a:p>
          <a:p>
            <a:pPr algn="l">
              <a:lnSpc>
                <a:spcPct val="115000"/>
              </a:lnSpc>
            </a:pPr>
            <a:r>
              <a:rPr sz="1500" b="0" i="0">
                <a:solidFill>
                  <a:srgbClr val="1A2B3C"/>
                </a:solidFill>
                <a:latin typeface="Calibri"/>
              </a:rPr>
              <a:t>•  Injected into services by reference; no global singletons</a:t>
            </a:r>
          </a:p>
          <a:p>
            <a:pPr algn="l">
              <a:lnSpc>
                <a:spcPct val="115000"/>
              </a:lnSpc>
            </a:pPr>
            <a:r>
              <a:rPr sz="1500" b="0" i="0">
                <a:solidFill>
                  <a:srgbClr val="1A2B3C"/>
                </a:solidFill>
                <a:latin typeface="Calibri"/>
              </a:rPr>
              <a:t>•  Reverse-order destruction at scope exit — teardown for free from RAII</a:t>
            </a:r>
          </a:p>
          <a:p>
            <a:pPr algn="l">
              <a:lnSpc>
                <a:spcPct val="115000"/>
              </a:lnSpc>
            </a:pPr>
            <a:r>
              <a:rPr sz="1500" b="0" i="0">
                <a:solidFill>
                  <a:srgbClr val="1A2B3C"/>
                </a:solidFill>
                <a:latin typeface="Calibri"/>
              </a:rPr>
              <a:t>•  The State Architecture Table: what's process-scoped vs externalized</a:t>
            </a:r>
          </a:p>
        </p:txBody>
      </p:sp>
      <p:pic>
        <p:nvPicPr>
          <p:cNvPr id="10" name="Picture 9" descr="04-process-scoped-state.jpg"/>
          <p:cNvPicPr>
            <a:picLocks noChangeAspect="1"/>
          </p:cNvPicPr>
          <p:nvPr/>
        </p:nvPicPr>
        <p:blipFill>
          <a:blip r:embed="rId2"/>
          <a:stretch>
            <a:fillRect/>
          </a:stretch>
        </p:blipFill>
        <p:spPr>
          <a:xfrm>
            <a:off x="6217920" y="1554480"/>
            <a:ext cx="5486400" cy="2984988"/>
          </a:xfrm>
          <a:prstGeom prst="rect">
            <a:avLst/>
          </a:prstGeom>
        </p:spPr>
      </p:pic>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640080"/>
          </a:xfrm>
          <a:prstGeom prst="rect">
            <a:avLst/>
          </a:prstGeom>
          <a:solidFill>
            <a:srgbClr val="1E6F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37160"/>
            <a:ext cx="6400800" cy="365760"/>
          </a:xfrm>
          <a:prstGeom prst="rect">
            <a:avLst/>
          </a:prstGeom>
          <a:noFill/>
        </p:spPr>
        <p:txBody>
          <a:bodyPr wrap="square" anchor="t" lIns="45720" rIns="45720">
            <a:spAutoFit/>
          </a:bodyPr>
          <a:lstStyle/>
          <a:p>
            <a:pPr algn="l"/>
            <a:r>
              <a:rPr sz="2800" b="1" i="0">
                <a:solidFill>
                  <a:srgbClr val="FFFFFF"/>
                </a:solidFill>
                <a:latin typeface="Calibri"/>
              </a:rPr>
              <a:t>Process-scoped state, owned in main()</a:t>
            </a:r>
          </a:p>
        </p:txBody>
      </p:sp>
      <p:sp>
        <p:nvSpPr>
          <p:cNvPr id="4" name="Rounded Rectangle 3"/>
          <p:cNvSpPr/>
          <p:nvPr/>
        </p:nvSpPr>
        <p:spPr>
          <a:xfrm>
            <a:off x="10454335" y="164592"/>
            <a:ext cx="1463040" cy="320040"/>
          </a:xfrm>
          <a:prstGeom prst="roundRect">
            <a:avLst>
              <a:gd name="adj" fmla="val 50000"/>
            </a:avLst>
          </a:prstGeom>
          <a:solidFill>
            <a:srgbClr val="1A2B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454335" y="164592"/>
            <a:ext cx="1463040" cy="320040"/>
          </a:xfrm>
          <a:prstGeom prst="rect">
            <a:avLst/>
          </a:prstGeom>
          <a:noFill/>
        </p:spPr>
        <p:txBody>
          <a:bodyPr wrap="square" anchor="ctr" lIns="45720" rIns="45720">
            <a:spAutoFit/>
          </a:bodyPr>
          <a:lstStyle/>
          <a:p>
            <a:pPr algn="ctr"/>
            <a:r>
              <a:rPr sz="1400" b="1" i="0">
                <a:solidFill>
                  <a:srgbClr val="FFFFFF"/>
                </a:solidFill>
                <a:latin typeface="Calibri"/>
              </a:rPr>
              <a:t>Doc 04</a:t>
            </a:r>
          </a:p>
        </p:txBody>
      </p:sp>
      <p:sp>
        <p:nvSpPr>
          <p:cNvPr id="6" name="TextBox 5"/>
          <p:cNvSpPr txBox="1"/>
          <p:nvPr/>
        </p:nvSpPr>
        <p:spPr>
          <a:xfrm>
            <a:off x="365760" y="6537960"/>
            <a:ext cx="8229600" cy="274320"/>
          </a:xfrm>
          <a:prstGeom prst="rect">
            <a:avLst/>
          </a:prstGeom>
          <a:noFill/>
        </p:spPr>
        <p:txBody>
          <a:bodyPr wrap="square" anchor="t" lIns="45720" rIns="45720">
            <a:spAutoFit/>
          </a:bodyPr>
          <a:lstStyle/>
          <a:p>
            <a:pPr algn="l"/>
            <a:r>
              <a:rPr sz="1100" b="0" i="0">
                <a:solidFill>
                  <a:srgbClr val="90A4AE"/>
                </a:solidFill>
                <a:latin typeface="Calibri"/>
              </a:rPr>
              <a:t>Optimizing Modern C++ with Containers   |   Process-scoped state, owned in main()</a:t>
            </a:r>
          </a:p>
        </p:txBody>
      </p:sp>
      <p:sp>
        <p:nvSpPr>
          <p:cNvPr id="7" name="TextBox 6"/>
          <p:cNvSpPr txBox="1"/>
          <p:nvPr/>
        </p:nvSpPr>
        <p:spPr>
          <a:xfrm>
            <a:off x="10820095" y="6537960"/>
            <a:ext cx="1005840" cy="274320"/>
          </a:xfrm>
          <a:prstGeom prst="rect">
            <a:avLst/>
          </a:prstGeom>
          <a:noFill/>
        </p:spPr>
        <p:txBody>
          <a:bodyPr wrap="square" anchor="t" lIns="45720" rIns="45720">
            <a:spAutoFit/>
          </a:bodyPr>
          <a:lstStyle/>
          <a:p>
            <a:pPr algn="r"/>
            <a:r>
              <a:rPr sz="1100" b="0" i="0">
                <a:solidFill>
                  <a:srgbClr val="90A4AE"/>
                </a:solidFill>
                <a:latin typeface="Calibri"/>
              </a:rPr>
              <a:t>22 / 67</a:t>
            </a:r>
          </a:p>
        </p:txBody>
      </p:sp>
      <p:sp>
        <p:nvSpPr>
          <p:cNvPr id="8" name="TextBox 7"/>
          <p:cNvSpPr txBox="1"/>
          <p:nvPr/>
        </p:nvSpPr>
        <p:spPr>
          <a:xfrm>
            <a:off x="457200" y="822960"/>
            <a:ext cx="10972800" cy="548640"/>
          </a:xfrm>
          <a:prstGeom prst="rect">
            <a:avLst/>
          </a:prstGeom>
          <a:noFill/>
        </p:spPr>
        <p:txBody>
          <a:bodyPr wrap="square" anchor="t" lIns="45720" rIns="45720">
            <a:spAutoFit/>
          </a:bodyPr>
          <a:lstStyle/>
          <a:p>
            <a:pPr algn="l"/>
            <a:r>
              <a:rPr sz="2800" b="1" i="0">
                <a:solidFill>
                  <a:srgbClr val="1A2B3C"/>
                </a:solidFill>
                <a:latin typeface="Calibri"/>
              </a:rPr>
              <a:t>Size process-scoped state from the budget</a:t>
            </a:r>
          </a:p>
        </p:txBody>
      </p:sp>
      <p:sp>
        <p:nvSpPr>
          <p:cNvPr id="9" name="TextBox 8"/>
          <p:cNvSpPr txBox="1"/>
          <p:nvPr/>
        </p:nvSpPr>
        <p:spPr>
          <a:xfrm>
            <a:off x="457200" y="1554480"/>
            <a:ext cx="11247120" cy="4572000"/>
          </a:xfrm>
          <a:prstGeom prst="rect">
            <a:avLst/>
          </a:prstGeom>
          <a:noFill/>
        </p:spPr>
        <p:txBody>
          <a:bodyPr wrap="square" anchor="t" lIns="45720" rIns="45720">
            <a:spAutoFit/>
          </a:bodyPr>
          <a:lstStyle/>
          <a:p>
            <a:pPr algn="l">
              <a:lnSpc>
                <a:spcPct val="115000"/>
              </a:lnSpc>
            </a:pPr>
            <a:r>
              <a:rPr sz="1800" b="1" i="0">
                <a:solidFill>
                  <a:srgbClr val="F5A623"/>
                </a:solidFill>
                <a:latin typeface="Calibri"/>
              </a:rPr>
              <a:t>The cgroup is the budget</a:t>
            </a:r>
          </a:p>
          <a:p>
            <a:pPr algn="l">
              <a:lnSpc>
                <a:spcPct val="115000"/>
              </a:lnSpc>
            </a:pPr>
            <a:r>
              <a:rPr sz="1500" b="0" i="0">
                <a:solidFill>
                  <a:srgbClr val="1A2B3C"/>
                </a:solidFill>
                <a:latin typeface="Calibri"/>
              </a:rPr>
              <a:t>•  Bounded caches sized against memory.max, not host RAM</a:t>
            </a:r>
          </a:p>
          <a:p>
            <a:pPr algn="l">
              <a:lnSpc>
                <a:spcPct val="115000"/>
              </a:lnSpc>
            </a:pPr>
            <a:r>
              <a:rPr sz="1500" b="0" i="0">
                <a:solidFill>
                  <a:srgbClr val="1A2B3C"/>
                </a:solidFill>
                <a:latin typeface="Calibri"/>
              </a:rPr>
              <a:t>•  An unbounded cache is a slow OOM under a memory cgroup</a:t>
            </a:r>
          </a:p>
          <a:p>
            <a:pPr algn="l">
              <a:lnSpc>
                <a:spcPct val="115000"/>
              </a:lnSpc>
            </a:pPr>
            <a:r>
              <a:rPr sz="1500" b="0" i="0">
                <a:solidFill>
                  <a:srgbClr val="1A2B3C"/>
                </a:solidFill>
                <a:latin typeface="Calibri"/>
              </a:rPr>
              <a:t>•  Pool sizes and arena counts scale from the CPU quota (Doc 5)</a:t>
            </a:r>
          </a:p>
          <a:p>
            <a:pPr algn="l">
              <a:lnSpc>
                <a:spcPct val="115000"/>
              </a:lnSpc>
            </a:pPr>
            <a:r>
              <a:rPr sz="1500" b="0" i="0">
                <a:solidFill>
                  <a:srgbClr val="1A2B3C"/>
                </a:solidFill>
                <a:latin typeface="Calibri"/>
              </a:rPr>
              <a:t>•  Bounded structures everywhere: LRU caps, pool maxima, queue limits</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640080"/>
          </a:xfrm>
          <a:prstGeom prst="rect">
            <a:avLst/>
          </a:prstGeom>
          <a:solidFill>
            <a:srgbClr val="1E6F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37160"/>
            <a:ext cx="6400800" cy="365760"/>
          </a:xfrm>
          <a:prstGeom prst="rect">
            <a:avLst/>
          </a:prstGeom>
          <a:noFill/>
        </p:spPr>
        <p:txBody>
          <a:bodyPr wrap="square" anchor="t" lIns="45720" rIns="45720">
            <a:spAutoFit/>
          </a:bodyPr>
          <a:lstStyle/>
          <a:p>
            <a:pPr algn="l"/>
            <a:r>
              <a:rPr sz="2800" b="1" i="0">
                <a:solidFill>
                  <a:srgbClr val="FFFFFF"/>
                </a:solidFill>
                <a:latin typeface="Calibri"/>
              </a:rPr>
              <a:t>Process-scoped state, owned in main()</a:t>
            </a:r>
          </a:p>
        </p:txBody>
      </p:sp>
      <p:sp>
        <p:nvSpPr>
          <p:cNvPr id="4" name="Rounded Rectangle 3"/>
          <p:cNvSpPr/>
          <p:nvPr/>
        </p:nvSpPr>
        <p:spPr>
          <a:xfrm>
            <a:off x="10454335" y="164592"/>
            <a:ext cx="1463040" cy="320040"/>
          </a:xfrm>
          <a:prstGeom prst="roundRect">
            <a:avLst>
              <a:gd name="adj" fmla="val 50000"/>
            </a:avLst>
          </a:prstGeom>
          <a:solidFill>
            <a:srgbClr val="1A2B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454335" y="164592"/>
            <a:ext cx="1463040" cy="320040"/>
          </a:xfrm>
          <a:prstGeom prst="rect">
            <a:avLst/>
          </a:prstGeom>
          <a:noFill/>
        </p:spPr>
        <p:txBody>
          <a:bodyPr wrap="square" anchor="ctr" lIns="45720" rIns="45720">
            <a:spAutoFit/>
          </a:bodyPr>
          <a:lstStyle/>
          <a:p>
            <a:pPr algn="ctr"/>
            <a:r>
              <a:rPr sz="1400" b="1" i="0">
                <a:solidFill>
                  <a:srgbClr val="FFFFFF"/>
                </a:solidFill>
                <a:latin typeface="Calibri"/>
              </a:rPr>
              <a:t>Doc 04</a:t>
            </a:r>
          </a:p>
        </p:txBody>
      </p:sp>
      <p:sp>
        <p:nvSpPr>
          <p:cNvPr id="6" name="TextBox 5"/>
          <p:cNvSpPr txBox="1"/>
          <p:nvPr/>
        </p:nvSpPr>
        <p:spPr>
          <a:xfrm>
            <a:off x="365760" y="6537960"/>
            <a:ext cx="8229600" cy="274320"/>
          </a:xfrm>
          <a:prstGeom prst="rect">
            <a:avLst/>
          </a:prstGeom>
          <a:noFill/>
        </p:spPr>
        <p:txBody>
          <a:bodyPr wrap="square" anchor="t" lIns="45720" rIns="45720">
            <a:spAutoFit/>
          </a:bodyPr>
          <a:lstStyle/>
          <a:p>
            <a:pPr algn="l"/>
            <a:r>
              <a:rPr sz="1100" b="0" i="0">
                <a:solidFill>
                  <a:srgbClr val="90A4AE"/>
                </a:solidFill>
                <a:latin typeface="Calibri"/>
              </a:rPr>
              <a:t>Optimizing Modern C++ with Containers   |   Process-scoped state, owned in main()</a:t>
            </a:r>
          </a:p>
        </p:txBody>
      </p:sp>
      <p:sp>
        <p:nvSpPr>
          <p:cNvPr id="7" name="TextBox 6"/>
          <p:cNvSpPr txBox="1"/>
          <p:nvPr/>
        </p:nvSpPr>
        <p:spPr>
          <a:xfrm>
            <a:off x="10820095" y="6537960"/>
            <a:ext cx="1005840" cy="274320"/>
          </a:xfrm>
          <a:prstGeom prst="rect">
            <a:avLst/>
          </a:prstGeom>
          <a:noFill/>
        </p:spPr>
        <p:txBody>
          <a:bodyPr wrap="square" anchor="t" lIns="45720" rIns="45720">
            <a:spAutoFit/>
          </a:bodyPr>
          <a:lstStyle/>
          <a:p>
            <a:pPr algn="r"/>
            <a:r>
              <a:rPr sz="1100" b="0" i="0">
                <a:solidFill>
                  <a:srgbClr val="90A4AE"/>
                </a:solidFill>
                <a:latin typeface="Calibri"/>
              </a:rPr>
              <a:t>23 / 67</a:t>
            </a:r>
          </a:p>
        </p:txBody>
      </p:sp>
      <p:sp>
        <p:nvSpPr>
          <p:cNvPr id="8" name="TextBox 7"/>
          <p:cNvSpPr txBox="1"/>
          <p:nvPr/>
        </p:nvSpPr>
        <p:spPr>
          <a:xfrm>
            <a:off x="457200" y="822960"/>
            <a:ext cx="10972800" cy="548640"/>
          </a:xfrm>
          <a:prstGeom prst="rect">
            <a:avLst/>
          </a:prstGeom>
          <a:noFill/>
        </p:spPr>
        <p:txBody>
          <a:bodyPr wrap="square" anchor="t" lIns="45720" rIns="45720">
            <a:spAutoFit/>
          </a:bodyPr>
          <a:lstStyle/>
          <a:p>
            <a:pPr algn="l"/>
            <a:r>
              <a:rPr sz="2800" b="1" i="0">
                <a:solidFill>
                  <a:srgbClr val="1A2B3C"/>
                </a:solidFill>
                <a:latin typeface="Calibri"/>
              </a:rPr>
              <a:t>Dependency injection over singletons</a:t>
            </a:r>
          </a:p>
        </p:txBody>
      </p:sp>
      <p:sp>
        <p:nvSpPr>
          <p:cNvPr id="9" name="TextBox 8"/>
          <p:cNvSpPr txBox="1"/>
          <p:nvPr/>
        </p:nvSpPr>
        <p:spPr>
          <a:xfrm>
            <a:off x="457200" y="1554480"/>
            <a:ext cx="5486400" cy="4572000"/>
          </a:xfrm>
          <a:prstGeom prst="rect">
            <a:avLst/>
          </a:prstGeom>
          <a:noFill/>
        </p:spPr>
        <p:txBody>
          <a:bodyPr wrap="square" anchor="t" lIns="45720" rIns="45720">
            <a:spAutoFit/>
          </a:bodyPr>
          <a:lstStyle/>
          <a:p>
            <a:pPr algn="l">
              <a:lnSpc>
                <a:spcPct val="115000"/>
              </a:lnSpc>
            </a:pPr>
            <a:r>
              <a:rPr sz="1800" b="1" i="0">
                <a:solidFill>
                  <a:srgbClr val="9B59B6"/>
                </a:solidFill>
                <a:latin typeface="Calibri"/>
              </a:rPr>
              <a:t>Inject by reference; don't reach for a singleton</a:t>
            </a:r>
          </a:p>
          <a:p>
            <a:pPr algn="l">
              <a:lnSpc>
                <a:spcPct val="115000"/>
              </a:lnSpc>
            </a:pPr>
            <a:r>
              <a:rPr sz="1500" b="0" i="0">
                <a:solidFill>
                  <a:srgbClr val="1A2B3C"/>
                </a:solidFill>
                <a:latin typeface="Calibri"/>
              </a:rPr>
              <a:t>•  The Meyers singleton hides ownership and lifetime</a:t>
            </a:r>
          </a:p>
          <a:p>
            <a:pPr algn="l">
              <a:lnSpc>
                <a:spcPct val="115000"/>
              </a:lnSpc>
            </a:pPr>
            <a:r>
              <a:rPr sz="1500" b="0" i="0">
                <a:solidFill>
                  <a:srgbClr val="1A2B3C"/>
                </a:solidFill>
                <a:latin typeface="Calibri"/>
              </a:rPr>
              <a:t>•  Pass collaborators in by const&amp; or &amp;; the service owns nothing global</a:t>
            </a:r>
          </a:p>
          <a:p>
            <a:pPr algn="l">
              <a:lnSpc>
                <a:spcPct val="115000"/>
              </a:lnSpc>
            </a:pPr>
            <a:r>
              <a:rPr sz="1500" b="0" i="0">
                <a:solidFill>
                  <a:srgbClr val="1A2B3C"/>
                </a:solidFill>
                <a:latin typeface="Calibri"/>
              </a:rPr>
              <a:t>•  Testable: substitute a fake pool or channel at the seam</a:t>
            </a:r>
          </a:p>
          <a:p>
            <a:pPr algn="l">
              <a:lnSpc>
                <a:spcPct val="115000"/>
              </a:lnSpc>
            </a:pPr>
            <a:r>
              <a:rPr sz="1500" b="0" i="0">
                <a:solidFill>
                  <a:srgbClr val="1A2B3C"/>
                </a:solidFill>
                <a:latin typeface="Calibri"/>
              </a:rPr>
              <a:t>•  Iglberger's DI chapter is the architectural underpinning</a:t>
            </a:r>
          </a:p>
        </p:txBody>
      </p:sp>
      <p:sp>
        <p:nvSpPr>
          <p:cNvPr id="10" name="Rectangle 9"/>
          <p:cNvSpPr/>
          <p:nvPr/>
        </p:nvSpPr>
        <p:spPr>
          <a:xfrm>
            <a:off x="6217920" y="1554480"/>
            <a:ext cx="5486400" cy="4572000"/>
          </a:xfrm>
          <a:prstGeom prst="rect">
            <a:avLst/>
          </a:prstGeom>
          <a:solidFill>
            <a:srgbClr val="0D21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355080" y="1645920"/>
            <a:ext cx="5212080" cy="4389120"/>
          </a:xfrm>
          <a:prstGeom prst="rect">
            <a:avLst/>
          </a:prstGeom>
          <a:noFill/>
        </p:spPr>
        <p:txBody>
          <a:bodyPr wrap="square" lIns="45720" rIns="45720">
            <a:spAutoFit/>
          </a:bodyPr>
          <a:lstStyle/>
          <a:p>
            <a:r>
              <a:rPr sz="1200">
                <a:solidFill>
                  <a:srgbClr val="ECF0F1"/>
                </a:solidFill>
                <a:latin typeface="Consolas"/>
              </a:rPr>
              <a:t>int main() {</a:t>
            </a:r>
          </a:p>
          <a:p>
            <a:r>
              <a:rPr sz="1200">
                <a:solidFill>
                  <a:srgbClr val="ECF0F1"/>
                </a:solidFill>
                <a:latin typeface="Consolas"/>
              </a:rPr>
              <a:t>  const Config cfg = parse_config();</a:t>
            </a:r>
          </a:p>
          <a:p>
            <a:r>
              <a:rPr sz="1200">
                <a:solidFill>
                  <a:srgbClr val="ECF0F1"/>
                </a:solidFill>
                <a:latin typeface="Consolas"/>
              </a:rPr>
              <a:t>  PgPool       pg{cfg.pg_conninfo, cfg.pg_pool_size};</a:t>
            </a:r>
          </a:p>
          <a:p>
            <a:r>
              <a:rPr sz="1200">
                <a:solidFill>
                  <a:srgbClr val="ECF0F1"/>
                </a:solidFill>
                <a:latin typeface="Consolas"/>
              </a:rPr>
              <a:t>  ChannelCache channels{};</a:t>
            </a:r>
          </a:p>
          <a:p>
            <a:r>
              <a:rPr sz="1200">
                <a:solidFill>
                  <a:srgbClr val="ECF0F1"/>
                </a:solidFill>
                <a:latin typeface="Consolas"/>
              </a:rPr>
              <a:t>  // dependencies injected by reference, owned here:</a:t>
            </a:r>
          </a:p>
          <a:p>
            <a:r>
              <a:rPr sz="1200">
                <a:solidFill>
                  <a:srgbClr val="ECF0F1"/>
                </a:solidFill>
                <a:latin typeface="Consolas"/>
              </a:rPr>
              <a:t>  PricingService svc{cfg, pg, channels};</a:t>
            </a:r>
          </a:p>
          <a:p>
            <a:r>
              <a:rPr sz="1200">
                <a:solidFill>
                  <a:srgbClr val="ECF0F1"/>
                </a:solidFill>
                <a:latin typeface="Consolas"/>
              </a:rPr>
              <a:t>  // ... serve ...</a:t>
            </a:r>
          </a:p>
          <a:p>
            <a:r>
              <a:rPr sz="1200">
                <a:solidFill>
                  <a:srgbClr val="ECF0F1"/>
                </a:solidFill>
                <a:latin typeface="Consolas"/>
              </a:rPr>
              <a:t>}  // svc, channels, pg, cfg destruct in REVERSE order</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640080"/>
          </a:xfrm>
          <a:prstGeom prst="rect">
            <a:avLst/>
          </a:prstGeom>
          <a:solidFill>
            <a:srgbClr val="1E6F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37160"/>
            <a:ext cx="6400800" cy="365760"/>
          </a:xfrm>
          <a:prstGeom prst="rect">
            <a:avLst/>
          </a:prstGeom>
          <a:noFill/>
        </p:spPr>
        <p:txBody>
          <a:bodyPr wrap="square" anchor="t" lIns="45720" rIns="45720">
            <a:spAutoFit/>
          </a:bodyPr>
          <a:lstStyle/>
          <a:p>
            <a:pPr algn="l"/>
            <a:r>
              <a:rPr sz="2800" b="1" i="0">
                <a:solidFill>
                  <a:srgbClr val="FFFFFF"/>
                </a:solidFill>
                <a:latin typeface="Calibri"/>
              </a:rPr>
              <a:t>Process-scoped state, owned in main()</a:t>
            </a:r>
          </a:p>
        </p:txBody>
      </p:sp>
      <p:sp>
        <p:nvSpPr>
          <p:cNvPr id="4" name="Rounded Rectangle 3"/>
          <p:cNvSpPr/>
          <p:nvPr/>
        </p:nvSpPr>
        <p:spPr>
          <a:xfrm>
            <a:off x="10454335" y="164592"/>
            <a:ext cx="1463040" cy="320040"/>
          </a:xfrm>
          <a:prstGeom prst="roundRect">
            <a:avLst>
              <a:gd name="adj" fmla="val 50000"/>
            </a:avLst>
          </a:prstGeom>
          <a:solidFill>
            <a:srgbClr val="1A2B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454335" y="164592"/>
            <a:ext cx="1463040" cy="320040"/>
          </a:xfrm>
          <a:prstGeom prst="rect">
            <a:avLst/>
          </a:prstGeom>
          <a:noFill/>
        </p:spPr>
        <p:txBody>
          <a:bodyPr wrap="square" anchor="ctr" lIns="45720" rIns="45720">
            <a:spAutoFit/>
          </a:bodyPr>
          <a:lstStyle/>
          <a:p>
            <a:pPr algn="ctr"/>
            <a:r>
              <a:rPr sz="1400" b="1" i="0">
                <a:solidFill>
                  <a:srgbClr val="FFFFFF"/>
                </a:solidFill>
                <a:latin typeface="Calibri"/>
              </a:rPr>
              <a:t>Doc 04</a:t>
            </a:r>
          </a:p>
        </p:txBody>
      </p:sp>
      <p:sp>
        <p:nvSpPr>
          <p:cNvPr id="6" name="TextBox 5"/>
          <p:cNvSpPr txBox="1"/>
          <p:nvPr/>
        </p:nvSpPr>
        <p:spPr>
          <a:xfrm>
            <a:off x="365760" y="6537960"/>
            <a:ext cx="8229600" cy="274320"/>
          </a:xfrm>
          <a:prstGeom prst="rect">
            <a:avLst/>
          </a:prstGeom>
          <a:noFill/>
        </p:spPr>
        <p:txBody>
          <a:bodyPr wrap="square" anchor="t" lIns="45720" rIns="45720">
            <a:spAutoFit/>
          </a:bodyPr>
          <a:lstStyle/>
          <a:p>
            <a:pPr algn="l"/>
            <a:r>
              <a:rPr sz="1100" b="0" i="0">
                <a:solidFill>
                  <a:srgbClr val="90A4AE"/>
                </a:solidFill>
                <a:latin typeface="Calibri"/>
              </a:rPr>
              <a:t>Optimizing Modern C++ with Containers   |   Process-scoped state, owned in main()</a:t>
            </a:r>
          </a:p>
        </p:txBody>
      </p:sp>
      <p:sp>
        <p:nvSpPr>
          <p:cNvPr id="7" name="TextBox 6"/>
          <p:cNvSpPr txBox="1"/>
          <p:nvPr/>
        </p:nvSpPr>
        <p:spPr>
          <a:xfrm>
            <a:off x="10820095" y="6537960"/>
            <a:ext cx="1005840" cy="274320"/>
          </a:xfrm>
          <a:prstGeom prst="rect">
            <a:avLst/>
          </a:prstGeom>
          <a:noFill/>
        </p:spPr>
        <p:txBody>
          <a:bodyPr wrap="square" anchor="t" lIns="45720" rIns="45720">
            <a:spAutoFit/>
          </a:bodyPr>
          <a:lstStyle/>
          <a:p>
            <a:pPr algn="r"/>
            <a:r>
              <a:rPr sz="1100" b="0" i="0">
                <a:solidFill>
                  <a:srgbClr val="90A4AE"/>
                </a:solidFill>
                <a:latin typeface="Calibri"/>
              </a:rPr>
              <a:t>24 / 67</a:t>
            </a:r>
          </a:p>
        </p:txBody>
      </p:sp>
      <p:sp>
        <p:nvSpPr>
          <p:cNvPr id="8" name="TextBox 7"/>
          <p:cNvSpPr txBox="1"/>
          <p:nvPr/>
        </p:nvSpPr>
        <p:spPr>
          <a:xfrm>
            <a:off x="457200" y="822960"/>
            <a:ext cx="10972800" cy="548640"/>
          </a:xfrm>
          <a:prstGeom prst="rect">
            <a:avLst/>
          </a:prstGeom>
          <a:noFill/>
        </p:spPr>
        <p:txBody>
          <a:bodyPr wrap="square" anchor="t" lIns="45720" rIns="45720">
            <a:spAutoFit/>
          </a:bodyPr>
          <a:lstStyle/>
          <a:p>
            <a:pPr algn="l"/>
            <a:r>
              <a:rPr sz="2800" b="1" i="0">
                <a:solidFill>
                  <a:srgbClr val="1A2B3C"/>
                </a:solidFill>
                <a:latin typeface="Calibri"/>
              </a:rPr>
              <a:t>Bounded by construction</a:t>
            </a:r>
          </a:p>
        </p:txBody>
      </p:sp>
      <p:sp>
        <p:nvSpPr>
          <p:cNvPr id="9" name="TextBox 8"/>
          <p:cNvSpPr txBox="1"/>
          <p:nvPr/>
        </p:nvSpPr>
        <p:spPr>
          <a:xfrm>
            <a:off x="457200" y="1554480"/>
            <a:ext cx="11247120" cy="4572000"/>
          </a:xfrm>
          <a:prstGeom prst="rect">
            <a:avLst/>
          </a:prstGeom>
          <a:noFill/>
        </p:spPr>
        <p:txBody>
          <a:bodyPr wrap="square" anchor="t" lIns="45720" rIns="45720">
            <a:spAutoFit/>
          </a:bodyPr>
          <a:lstStyle/>
          <a:p>
            <a:pPr algn="l">
              <a:lnSpc>
                <a:spcPct val="115000"/>
              </a:lnSpc>
            </a:pPr>
            <a:r>
              <a:rPr sz="1800" b="1" i="0">
                <a:solidFill>
                  <a:srgbClr val="E84855"/>
                </a:solidFill>
                <a:latin typeface="Calibri"/>
              </a:rPr>
              <a:t>Every process-scoped structure has a ceiling</a:t>
            </a:r>
          </a:p>
          <a:p>
            <a:pPr algn="l">
              <a:lnSpc>
                <a:spcPct val="115000"/>
              </a:lnSpc>
            </a:pPr>
            <a:r>
              <a:rPr sz="1500" b="0" i="0">
                <a:solidFill>
                  <a:srgbClr val="1A2B3C"/>
                </a:solidFill>
                <a:latin typeface="Calibri"/>
              </a:rPr>
              <a:t>•  LRU caches: a max entry count sized from memory.max</a:t>
            </a:r>
          </a:p>
          <a:p>
            <a:pPr algn="l">
              <a:lnSpc>
                <a:spcPct val="115000"/>
              </a:lnSpc>
            </a:pPr>
            <a:r>
              <a:rPr sz="1500" b="0" i="0">
                <a:solidFill>
                  <a:srgbClr val="1A2B3C"/>
                </a:solidFill>
                <a:latin typeface="Calibri"/>
              </a:rPr>
              <a:t>•  Connection pools: a hard maximum, with a checkout timeout</a:t>
            </a:r>
          </a:p>
          <a:p>
            <a:pPr algn="l">
              <a:lnSpc>
                <a:spcPct val="115000"/>
              </a:lnSpc>
            </a:pPr>
            <a:r>
              <a:rPr sz="1500" b="0" i="0">
                <a:solidFill>
                  <a:srgbClr val="1A2B3C"/>
                </a:solidFill>
                <a:latin typeface="Calibri"/>
              </a:rPr>
              <a:t>•  Queues: bounded, with a backpressure policy when full</a:t>
            </a:r>
          </a:p>
          <a:p>
            <a:pPr algn="l">
              <a:lnSpc>
                <a:spcPct val="115000"/>
              </a:lnSpc>
            </a:pPr>
            <a:r>
              <a:rPr sz="1500" b="0" i="0">
                <a:solidFill>
                  <a:srgbClr val="1A2B3C"/>
                </a:solidFill>
                <a:latin typeface="Calibri"/>
              </a:rPr>
              <a:t>•  Prepared-statement caches: capped, evicting least-recently-used</a:t>
            </a:r>
          </a:p>
          <a:p>
            <a:pPr algn="l">
              <a:lnSpc>
                <a:spcPct val="115000"/>
              </a:lnSpc>
            </a:pPr>
            <a:r>
              <a:rPr sz="1500" b="0" i="1">
                <a:solidFill>
                  <a:srgbClr val="90A4AE"/>
                </a:solidFill>
                <a:latin typeface="Calibri"/>
              </a:rPr>
              <a:t>Unbounded + a memory cgroup = a slow, surprising OOMKill under load. Bound everything.</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1828800"/>
            <a:ext cx="3657600" cy="2286000"/>
          </a:xfrm>
          <a:prstGeom prst="rect">
            <a:avLst/>
          </a:prstGeom>
          <a:noFill/>
        </p:spPr>
        <p:txBody>
          <a:bodyPr wrap="square" anchor="t" lIns="45720" rIns="45720">
            <a:spAutoFit/>
          </a:bodyPr>
          <a:lstStyle/>
          <a:p>
            <a:pPr algn="l"/>
            <a:r>
              <a:rPr sz="18000" b="1" i="0">
                <a:solidFill>
                  <a:srgbClr val="00BCD4"/>
                </a:solidFill>
                <a:latin typeface="Calibri"/>
              </a:rPr>
              <a:t>§5</a:t>
            </a:r>
          </a:p>
        </p:txBody>
      </p:sp>
      <p:sp>
        <p:nvSpPr>
          <p:cNvPr id="3" name="TextBox 2"/>
          <p:cNvSpPr txBox="1"/>
          <p:nvPr/>
        </p:nvSpPr>
        <p:spPr>
          <a:xfrm>
            <a:off x="4114800" y="2103120"/>
            <a:ext cx="7772400" cy="1828800"/>
          </a:xfrm>
          <a:prstGeom prst="rect">
            <a:avLst/>
          </a:prstGeom>
          <a:noFill/>
        </p:spPr>
        <p:txBody>
          <a:bodyPr wrap="square" anchor="t" lIns="45720" rIns="45720">
            <a:spAutoFit/>
          </a:bodyPr>
          <a:lstStyle/>
          <a:p>
            <a:pPr algn="l"/>
            <a:r>
              <a:rPr sz="3600" b="1" i="0">
                <a:solidFill>
                  <a:srgbClr val="FFFFFF"/>
                </a:solidFill>
                <a:latin typeface="Calibri"/>
              </a:rPr>
              <a:t>Threading under a CPU quota</a:t>
            </a:r>
          </a:p>
        </p:txBody>
      </p:sp>
      <p:sp>
        <p:nvSpPr>
          <p:cNvPr id="4" name="TextBox 3"/>
          <p:cNvSpPr txBox="1"/>
          <p:nvPr/>
        </p:nvSpPr>
        <p:spPr>
          <a:xfrm>
            <a:off x="4114800" y="3474720"/>
            <a:ext cx="7772400" cy="1828800"/>
          </a:xfrm>
          <a:prstGeom prst="rect">
            <a:avLst/>
          </a:prstGeom>
          <a:noFill/>
        </p:spPr>
        <p:txBody>
          <a:bodyPr wrap="square" anchor="t" lIns="45720" rIns="45720">
            <a:spAutoFit/>
          </a:bodyPr>
          <a:lstStyle/>
          <a:p>
            <a:pPr algn="l"/>
            <a:r>
              <a:rPr sz="2000" b="0" i="1">
                <a:solidFill>
                  <a:srgbClr val="90A4AE"/>
                </a:solidFill>
                <a:latin typeface="Calibri"/>
              </a:rPr>
              <a:t>hardware_concurrency() lies; the cgroup tells the truth.</a:t>
            </a:r>
          </a:p>
        </p:txBody>
      </p:sp>
      <p:sp>
        <p:nvSpPr>
          <p:cNvPr id="5" name="TextBox 4"/>
          <p:cNvSpPr txBox="1"/>
          <p:nvPr/>
        </p:nvSpPr>
        <p:spPr>
          <a:xfrm>
            <a:off x="10820095" y="6400800"/>
            <a:ext cx="914400" cy="274320"/>
          </a:xfrm>
          <a:prstGeom prst="rect">
            <a:avLst/>
          </a:prstGeom>
          <a:noFill/>
        </p:spPr>
        <p:txBody>
          <a:bodyPr wrap="square" anchor="t" lIns="45720" rIns="45720">
            <a:spAutoFit/>
          </a:bodyPr>
          <a:lstStyle/>
          <a:p>
            <a:pPr algn="r"/>
            <a:r>
              <a:rPr sz="1100" b="0" i="0">
                <a:solidFill>
                  <a:srgbClr val="90A4AE"/>
                </a:solidFill>
                <a:latin typeface="Calibri"/>
              </a:rPr>
              <a:t>25 / 67</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640080"/>
          </a:xfrm>
          <a:prstGeom prst="rect">
            <a:avLst/>
          </a:prstGeom>
          <a:solidFill>
            <a:srgbClr val="1E6F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37160"/>
            <a:ext cx="6400800" cy="365760"/>
          </a:xfrm>
          <a:prstGeom prst="rect">
            <a:avLst/>
          </a:prstGeom>
          <a:noFill/>
        </p:spPr>
        <p:txBody>
          <a:bodyPr wrap="square" anchor="t" lIns="45720" rIns="45720">
            <a:spAutoFit/>
          </a:bodyPr>
          <a:lstStyle/>
          <a:p>
            <a:pPr algn="l"/>
            <a:r>
              <a:rPr sz="2800" b="1" i="0">
                <a:solidFill>
                  <a:srgbClr val="FFFFFF"/>
                </a:solidFill>
                <a:latin typeface="Calibri"/>
              </a:rPr>
              <a:t>Threading under a CPU quota</a:t>
            </a:r>
          </a:p>
        </p:txBody>
      </p:sp>
      <p:sp>
        <p:nvSpPr>
          <p:cNvPr id="4" name="Rounded Rectangle 3"/>
          <p:cNvSpPr/>
          <p:nvPr/>
        </p:nvSpPr>
        <p:spPr>
          <a:xfrm>
            <a:off x="10454335" y="164592"/>
            <a:ext cx="1463040" cy="320040"/>
          </a:xfrm>
          <a:prstGeom prst="roundRect">
            <a:avLst>
              <a:gd name="adj" fmla="val 50000"/>
            </a:avLst>
          </a:prstGeom>
          <a:solidFill>
            <a:srgbClr val="1A2B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454335" y="164592"/>
            <a:ext cx="1463040" cy="320040"/>
          </a:xfrm>
          <a:prstGeom prst="rect">
            <a:avLst/>
          </a:prstGeom>
          <a:noFill/>
        </p:spPr>
        <p:txBody>
          <a:bodyPr wrap="square" anchor="ctr" lIns="45720" rIns="45720">
            <a:spAutoFit/>
          </a:bodyPr>
          <a:lstStyle/>
          <a:p>
            <a:pPr algn="ctr"/>
            <a:r>
              <a:rPr sz="1400" b="1" i="0">
                <a:solidFill>
                  <a:srgbClr val="FFFFFF"/>
                </a:solidFill>
                <a:latin typeface="Calibri"/>
              </a:rPr>
              <a:t>Doc 05</a:t>
            </a:r>
          </a:p>
        </p:txBody>
      </p:sp>
      <p:sp>
        <p:nvSpPr>
          <p:cNvPr id="6" name="TextBox 5"/>
          <p:cNvSpPr txBox="1"/>
          <p:nvPr/>
        </p:nvSpPr>
        <p:spPr>
          <a:xfrm>
            <a:off x="365760" y="6537960"/>
            <a:ext cx="8229600" cy="274320"/>
          </a:xfrm>
          <a:prstGeom prst="rect">
            <a:avLst/>
          </a:prstGeom>
          <a:noFill/>
        </p:spPr>
        <p:txBody>
          <a:bodyPr wrap="square" anchor="t" lIns="45720" rIns="45720">
            <a:spAutoFit/>
          </a:bodyPr>
          <a:lstStyle/>
          <a:p>
            <a:pPr algn="l"/>
            <a:r>
              <a:rPr sz="1100" b="0" i="0">
                <a:solidFill>
                  <a:srgbClr val="90A4AE"/>
                </a:solidFill>
                <a:latin typeface="Calibri"/>
              </a:rPr>
              <a:t>Optimizing Modern C++ with Containers   |   Threading under a CPU quota</a:t>
            </a:r>
          </a:p>
        </p:txBody>
      </p:sp>
      <p:sp>
        <p:nvSpPr>
          <p:cNvPr id="7" name="TextBox 6"/>
          <p:cNvSpPr txBox="1"/>
          <p:nvPr/>
        </p:nvSpPr>
        <p:spPr>
          <a:xfrm>
            <a:off x="10820095" y="6537960"/>
            <a:ext cx="1005840" cy="274320"/>
          </a:xfrm>
          <a:prstGeom prst="rect">
            <a:avLst/>
          </a:prstGeom>
          <a:noFill/>
        </p:spPr>
        <p:txBody>
          <a:bodyPr wrap="square" anchor="t" lIns="45720" rIns="45720">
            <a:spAutoFit/>
          </a:bodyPr>
          <a:lstStyle/>
          <a:p>
            <a:pPr algn="r"/>
            <a:r>
              <a:rPr sz="1100" b="0" i="0">
                <a:solidFill>
                  <a:srgbClr val="90A4AE"/>
                </a:solidFill>
                <a:latin typeface="Calibri"/>
              </a:rPr>
              <a:t>26 / 67</a:t>
            </a:r>
          </a:p>
        </p:txBody>
      </p:sp>
      <p:sp>
        <p:nvSpPr>
          <p:cNvPr id="8" name="TextBox 7"/>
          <p:cNvSpPr txBox="1"/>
          <p:nvPr/>
        </p:nvSpPr>
        <p:spPr>
          <a:xfrm>
            <a:off x="457200" y="822960"/>
            <a:ext cx="10972800" cy="548640"/>
          </a:xfrm>
          <a:prstGeom prst="rect">
            <a:avLst/>
          </a:prstGeom>
          <a:noFill/>
        </p:spPr>
        <p:txBody>
          <a:bodyPr wrap="square" anchor="t" lIns="45720" rIns="45720">
            <a:spAutoFit/>
          </a:bodyPr>
          <a:lstStyle/>
          <a:p>
            <a:pPr algn="l"/>
            <a:r>
              <a:rPr sz="2800" b="1" i="0">
                <a:solidFill>
                  <a:srgbClr val="1A2B3C"/>
                </a:solidFill>
                <a:latin typeface="Calibri"/>
              </a:rPr>
              <a:t>CFS quota and the throttling trap</a:t>
            </a:r>
          </a:p>
        </p:txBody>
      </p:sp>
      <p:sp>
        <p:nvSpPr>
          <p:cNvPr id="9" name="TextBox 8"/>
          <p:cNvSpPr txBox="1"/>
          <p:nvPr/>
        </p:nvSpPr>
        <p:spPr>
          <a:xfrm>
            <a:off x="457200" y="1554480"/>
            <a:ext cx="5486400" cy="4572000"/>
          </a:xfrm>
          <a:prstGeom prst="rect">
            <a:avLst/>
          </a:prstGeom>
          <a:noFill/>
        </p:spPr>
        <p:txBody>
          <a:bodyPr wrap="square" anchor="t" lIns="45720" rIns="45720">
            <a:spAutoFit/>
          </a:bodyPr>
          <a:lstStyle/>
          <a:p>
            <a:pPr algn="l">
              <a:lnSpc>
                <a:spcPct val="115000"/>
              </a:lnSpc>
            </a:pPr>
            <a:r>
              <a:rPr sz="1800" b="1" i="0">
                <a:solidFill>
                  <a:srgbClr val="E84855"/>
                </a:solidFill>
                <a:latin typeface="Calibri"/>
              </a:rPr>
              <a:t>Oversubscription buys nothing and costs tail latency</a:t>
            </a:r>
          </a:p>
          <a:p>
            <a:pPr algn="l">
              <a:lnSpc>
                <a:spcPct val="115000"/>
              </a:lnSpc>
            </a:pPr>
            <a:r>
              <a:rPr sz="1500" b="0" i="0">
                <a:solidFill>
                  <a:srgbClr val="1A2B3C"/>
                </a:solidFill>
                <a:latin typeface="Calibri"/>
              </a:rPr>
              <a:t>•  CFS gives the cgroup quota microseconds per period</a:t>
            </a:r>
          </a:p>
          <a:p>
            <a:pPr algn="l">
              <a:lnSpc>
                <a:spcPct val="115000"/>
              </a:lnSpc>
            </a:pPr>
            <a:r>
              <a:rPr sz="1500" b="0" i="0">
                <a:solidFill>
                  <a:srgbClr val="1A2B3C"/>
                </a:solidFill>
                <a:latin typeface="Calibri"/>
              </a:rPr>
              <a:t>•  A pool sized to nproc under --cpus=2 runs out of quota and is throttled</a:t>
            </a:r>
          </a:p>
          <a:p>
            <a:pPr algn="l">
              <a:lnSpc>
                <a:spcPct val="115000"/>
              </a:lnSpc>
            </a:pPr>
            <a:r>
              <a:rPr sz="1500" b="0" i="0">
                <a:solidFill>
                  <a:srgbClr val="1A2B3C"/>
                </a:solidFill>
                <a:latin typeface="Calibri"/>
              </a:rPr>
              <a:t>•  Throttling shows up as p99 latency spikes, not lower throughput</a:t>
            </a:r>
          </a:p>
          <a:p>
            <a:pPr algn="l">
              <a:lnSpc>
                <a:spcPct val="115000"/>
              </a:lnSpc>
            </a:pPr>
            <a:r>
              <a:rPr sz="1500" b="0" i="0">
                <a:solidFill>
                  <a:srgbClr val="1A2B3C"/>
                </a:solidFill>
                <a:latin typeface="Calibri"/>
              </a:rPr>
              <a:t>•  Fix: size pools to the cgroup quota; read it with the cgroup helper</a:t>
            </a:r>
          </a:p>
        </p:txBody>
      </p:sp>
      <p:pic>
        <p:nvPicPr>
          <p:cNvPr id="10" name="Picture 9" descr="05-threading.jpg"/>
          <p:cNvPicPr>
            <a:picLocks noChangeAspect="1"/>
          </p:cNvPicPr>
          <p:nvPr/>
        </p:nvPicPr>
        <p:blipFill>
          <a:blip r:embed="rId2"/>
          <a:stretch>
            <a:fillRect/>
          </a:stretch>
        </p:blipFill>
        <p:spPr>
          <a:xfrm>
            <a:off x="6217920" y="1554480"/>
            <a:ext cx="5486400" cy="2866292"/>
          </a:xfrm>
          <a:prstGeom prst="rect">
            <a:avLst/>
          </a:prstGeom>
        </p:spPr>
      </p:pic>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640080"/>
          </a:xfrm>
          <a:prstGeom prst="rect">
            <a:avLst/>
          </a:prstGeom>
          <a:solidFill>
            <a:srgbClr val="1E6F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37160"/>
            <a:ext cx="6400800" cy="365760"/>
          </a:xfrm>
          <a:prstGeom prst="rect">
            <a:avLst/>
          </a:prstGeom>
          <a:noFill/>
        </p:spPr>
        <p:txBody>
          <a:bodyPr wrap="square" anchor="t" lIns="45720" rIns="45720">
            <a:spAutoFit/>
          </a:bodyPr>
          <a:lstStyle/>
          <a:p>
            <a:pPr algn="l"/>
            <a:r>
              <a:rPr sz="2800" b="1" i="0">
                <a:solidFill>
                  <a:srgbClr val="FFFFFF"/>
                </a:solidFill>
                <a:latin typeface="Calibri"/>
              </a:rPr>
              <a:t>Threading under a CPU quota</a:t>
            </a:r>
          </a:p>
        </p:txBody>
      </p:sp>
      <p:sp>
        <p:nvSpPr>
          <p:cNvPr id="4" name="Rounded Rectangle 3"/>
          <p:cNvSpPr/>
          <p:nvPr/>
        </p:nvSpPr>
        <p:spPr>
          <a:xfrm>
            <a:off x="10454335" y="164592"/>
            <a:ext cx="1463040" cy="320040"/>
          </a:xfrm>
          <a:prstGeom prst="roundRect">
            <a:avLst>
              <a:gd name="adj" fmla="val 50000"/>
            </a:avLst>
          </a:prstGeom>
          <a:solidFill>
            <a:srgbClr val="1A2B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454335" y="164592"/>
            <a:ext cx="1463040" cy="320040"/>
          </a:xfrm>
          <a:prstGeom prst="rect">
            <a:avLst/>
          </a:prstGeom>
          <a:noFill/>
        </p:spPr>
        <p:txBody>
          <a:bodyPr wrap="square" anchor="ctr" lIns="45720" rIns="45720">
            <a:spAutoFit/>
          </a:bodyPr>
          <a:lstStyle/>
          <a:p>
            <a:pPr algn="ctr"/>
            <a:r>
              <a:rPr sz="1400" b="1" i="0">
                <a:solidFill>
                  <a:srgbClr val="FFFFFF"/>
                </a:solidFill>
                <a:latin typeface="Calibri"/>
              </a:rPr>
              <a:t>Doc 05</a:t>
            </a:r>
          </a:p>
        </p:txBody>
      </p:sp>
      <p:sp>
        <p:nvSpPr>
          <p:cNvPr id="6" name="TextBox 5"/>
          <p:cNvSpPr txBox="1"/>
          <p:nvPr/>
        </p:nvSpPr>
        <p:spPr>
          <a:xfrm>
            <a:off x="365760" y="6537960"/>
            <a:ext cx="8229600" cy="274320"/>
          </a:xfrm>
          <a:prstGeom prst="rect">
            <a:avLst/>
          </a:prstGeom>
          <a:noFill/>
        </p:spPr>
        <p:txBody>
          <a:bodyPr wrap="square" anchor="t" lIns="45720" rIns="45720">
            <a:spAutoFit/>
          </a:bodyPr>
          <a:lstStyle/>
          <a:p>
            <a:pPr algn="l"/>
            <a:r>
              <a:rPr sz="1100" b="0" i="0">
                <a:solidFill>
                  <a:srgbClr val="90A4AE"/>
                </a:solidFill>
                <a:latin typeface="Calibri"/>
              </a:rPr>
              <a:t>Optimizing Modern C++ with Containers   |   Threading under a CPU quota</a:t>
            </a:r>
          </a:p>
        </p:txBody>
      </p:sp>
      <p:sp>
        <p:nvSpPr>
          <p:cNvPr id="7" name="TextBox 6"/>
          <p:cNvSpPr txBox="1"/>
          <p:nvPr/>
        </p:nvSpPr>
        <p:spPr>
          <a:xfrm>
            <a:off x="10820095" y="6537960"/>
            <a:ext cx="1005840" cy="274320"/>
          </a:xfrm>
          <a:prstGeom prst="rect">
            <a:avLst/>
          </a:prstGeom>
          <a:noFill/>
        </p:spPr>
        <p:txBody>
          <a:bodyPr wrap="square" anchor="t" lIns="45720" rIns="45720">
            <a:spAutoFit/>
          </a:bodyPr>
          <a:lstStyle/>
          <a:p>
            <a:pPr algn="r"/>
            <a:r>
              <a:rPr sz="1100" b="0" i="0">
                <a:solidFill>
                  <a:srgbClr val="90A4AE"/>
                </a:solidFill>
                <a:latin typeface="Calibri"/>
              </a:rPr>
              <a:t>27 / 67</a:t>
            </a:r>
          </a:p>
        </p:txBody>
      </p:sp>
      <p:sp>
        <p:nvSpPr>
          <p:cNvPr id="8" name="TextBox 7"/>
          <p:cNvSpPr txBox="1"/>
          <p:nvPr/>
        </p:nvSpPr>
        <p:spPr>
          <a:xfrm>
            <a:off x="457200" y="822960"/>
            <a:ext cx="10972800" cy="548640"/>
          </a:xfrm>
          <a:prstGeom prst="rect">
            <a:avLst/>
          </a:prstGeom>
          <a:noFill/>
        </p:spPr>
        <p:txBody>
          <a:bodyPr wrap="square" anchor="t" lIns="45720" rIns="45720">
            <a:spAutoFit/>
          </a:bodyPr>
          <a:lstStyle/>
          <a:p>
            <a:pPr algn="l"/>
            <a:r>
              <a:rPr sz="2800" b="1" i="0">
                <a:solidFill>
                  <a:srgbClr val="1A2B3C"/>
                </a:solidFill>
                <a:latin typeface="Calibri"/>
              </a:rPr>
              <a:t>TLS, coroutines, and the co_await gotcha</a:t>
            </a:r>
          </a:p>
        </p:txBody>
      </p:sp>
      <p:sp>
        <p:nvSpPr>
          <p:cNvPr id="9" name="TextBox 8"/>
          <p:cNvSpPr txBox="1"/>
          <p:nvPr/>
        </p:nvSpPr>
        <p:spPr>
          <a:xfrm>
            <a:off x="457200" y="1554480"/>
            <a:ext cx="11247120" cy="4572000"/>
          </a:xfrm>
          <a:prstGeom prst="rect">
            <a:avLst/>
          </a:prstGeom>
          <a:noFill/>
        </p:spPr>
        <p:txBody>
          <a:bodyPr wrap="square" anchor="t" lIns="45720" rIns="45720">
            <a:spAutoFit/>
          </a:bodyPr>
          <a:lstStyle/>
          <a:p>
            <a:pPr algn="l">
              <a:lnSpc>
                <a:spcPct val="115000"/>
              </a:lnSpc>
            </a:pPr>
            <a:r>
              <a:rPr sz="1800" b="1" i="0">
                <a:solidFill>
                  <a:srgbClr val="1E6FC8"/>
                </a:solidFill>
                <a:latin typeface="Calibri"/>
              </a:rPr>
              <a:t>Concurrency models and where state hides</a:t>
            </a:r>
          </a:p>
          <a:p>
            <a:pPr algn="l">
              <a:lnSpc>
                <a:spcPct val="115000"/>
              </a:lnSpc>
            </a:pPr>
            <a:r>
              <a:rPr sz="1500" b="0" i="0">
                <a:solidFill>
                  <a:srgbClr val="1A2B3C"/>
                </a:solidFill>
                <a:latin typeface="Calibri"/>
              </a:rPr>
              <a:t>•  TLS is process-scoped, per-thread — the CorrelationGuard pattern</a:t>
            </a:r>
          </a:p>
          <a:p>
            <a:pPr algn="l">
              <a:lnSpc>
                <a:spcPct val="115000"/>
              </a:lnSpc>
            </a:pPr>
            <a:r>
              <a:rPr sz="1500" b="0" i="0">
                <a:solidFill>
                  <a:srgbClr val="1A2B3C"/>
                </a:solidFill>
                <a:latin typeface="Calibri"/>
              </a:rPr>
              <a:t>•  OS threads, C++20 stackless coroutines, Boost.Fiber stackful</a:t>
            </a:r>
          </a:p>
          <a:p>
            <a:pPr algn="l">
              <a:lnSpc>
                <a:spcPct val="115000"/>
              </a:lnSpc>
            </a:pPr>
            <a:r>
              <a:rPr sz="1500" b="0" i="0">
                <a:solidFill>
                  <a:srgbClr val="1A2B3C"/>
                </a:solidFill>
                <a:latin typeface="Calibri"/>
              </a:rPr>
              <a:t>•  The trap: a value relied on via TLS after co_await may resume on another thread</a:t>
            </a:r>
          </a:p>
          <a:p>
            <a:pPr algn="l">
              <a:lnSpc>
                <a:spcPct val="115000"/>
              </a:lnSpc>
            </a:pPr>
            <a:r>
              <a:rPr sz="1500" b="0" i="0">
                <a:solidFill>
                  <a:srgbClr val="1A2B3C"/>
                </a:solidFill>
                <a:latin typeface="Calibri"/>
              </a:rPr>
              <a:t>•  Capture request context into the coroutine frame, not TLS</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640080"/>
          </a:xfrm>
          <a:prstGeom prst="rect">
            <a:avLst/>
          </a:prstGeom>
          <a:solidFill>
            <a:srgbClr val="1E6F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37160"/>
            <a:ext cx="6400800" cy="365760"/>
          </a:xfrm>
          <a:prstGeom prst="rect">
            <a:avLst/>
          </a:prstGeom>
          <a:noFill/>
        </p:spPr>
        <p:txBody>
          <a:bodyPr wrap="square" anchor="t" lIns="45720" rIns="45720">
            <a:spAutoFit/>
          </a:bodyPr>
          <a:lstStyle/>
          <a:p>
            <a:pPr algn="l"/>
            <a:r>
              <a:rPr sz="2800" b="1" i="0">
                <a:solidFill>
                  <a:srgbClr val="FFFFFF"/>
                </a:solidFill>
                <a:latin typeface="Calibri"/>
              </a:rPr>
              <a:t>Threading under a CPU quota</a:t>
            </a:r>
          </a:p>
        </p:txBody>
      </p:sp>
      <p:sp>
        <p:nvSpPr>
          <p:cNvPr id="4" name="Rounded Rectangle 3"/>
          <p:cNvSpPr/>
          <p:nvPr/>
        </p:nvSpPr>
        <p:spPr>
          <a:xfrm>
            <a:off x="10454335" y="164592"/>
            <a:ext cx="1463040" cy="320040"/>
          </a:xfrm>
          <a:prstGeom prst="roundRect">
            <a:avLst>
              <a:gd name="adj" fmla="val 50000"/>
            </a:avLst>
          </a:prstGeom>
          <a:solidFill>
            <a:srgbClr val="1A2B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454335" y="164592"/>
            <a:ext cx="1463040" cy="320040"/>
          </a:xfrm>
          <a:prstGeom prst="rect">
            <a:avLst/>
          </a:prstGeom>
          <a:noFill/>
        </p:spPr>
        <p:txBody>
          <a:bodyPr wrap="square" anchor="ctr" lIns="45720" rIns="45720">
            <a:spAutoFit/>
          </a:bodyPr>
          <a:lstStyle/>
          <a:p>
            <a:pPr algn="ctr"/>
            <a:r>
              <a:rPr sz="1400" b="1" i="0">
                <a:solidFill>
                  <a:srgbClr val="FFFFFF"/>
                </a:solidFill>
                <a:latin typeface="Calibri"/>
              </a:rPr>
              <a:t>Doc 05</a:t>
            </a:r>
          </a:p>
        </p:txBody>
      </p:sp>
      <p:sp>
        <p:nvSpPr>
          <p:cNvPr id="6" name="TextBox 5"/>
          <p:cNvSpPr txBox="1"/>
          <p:nvPr/>
        </p:nvSpPr>
        <p:spPr>
          <a:xfrm>
            <a:off x="365760" y="6537960"/>
            <a:ext cx="8229600" cy="274320"/>
          </a:xfrm>
          <a:prstGeom prst="rect">
            <a:avLst/>
          </a:prstGeom>
          <a:noFill/>
        </p:spPr>
        <p:txBody>
          <a:bodyPr wrap="square" anchor="t" lIns="45720" rIns="45720">
            <a:spAutoFit/>
          </a:bodyPr>
          <a:lstStyle/>
          <a:p>
            <a:pPr algn="l"/>
            <a:r>
              <a:rPr sz="1100" b="0" i="0">
                <a:solidFill>
                  <a:srgbClr val="90A4AE"/>
                </a:solidFill>
                <a:latin typeface="Calibri"/>
              </a:rPr>
              <a:t>Optimizing Modern C++ with Containers   |   Threading under a CPU quota</a:t>
            </a:r>
          </a:p>
        </p:txBody>
      </p:sp>
      <p:sp>
        <p:nvSpPr>
          <p:cNvPr id="7" name="TextBox 6"/>
          <p:cNvSpPr txBox="1"/>
          <p:nvPr/>
        </p:nvSpPr>
        <p:spPr>
          <a:xfrm>
            <a:off x="10820095" y="6537960"/>
            <a:ext cx="1005840" cy="274320"/>
          </a:xfrm>
          <a:prstGeom prst="rect">
            <a:avLst/>
          </a:prstGeom>
          <a:noFill/>
        </p:spPr>
        <p:txBody>
          <a:bodyPr wrap="square" anchor="t" lIns="45720" rIns="45720">
            <a:spAutoFit/>
          </a:bodyPr>
          <a:lstStyle/>
          <a:p>
            <a:pPr algn="r"/>
            <a:r>
              <a:rPr sz="1100" b="0" i="0">
                <a:solidFill>
                  <a:srgbClr val="90A4AE"/>
                </a:solidFill>
                <a:latin typeface="Calibri"/>
              </a:rPr>
              <a:t>28 / 67</a:t>
            </a:r>
          </a:p>
        </p:txBody>
      </p:sp>
      <p:sp>
        <p:nvSpPr>
          <p:cNvPr id="8" name="TextBox 7"/>
          <p:cNvSpPr txBox="1"/>
          <p:nvPr/>
        </p:nvSpPr>
        <p:spPr>
          <a:xfrm>
            <a:off x="457200" y="822960"/>
            <a:ext cx="10972800" cy="548640"/>
          </a:xfrm>
          <a:prstGeom prst="rect">
            <a:avLst/>
          </a:prstGeom>
          <a:noFill/>
        </p:spPr>
        <p:txBody>
          <a:bodyPr wrap="square" anchor="t" lIns="45720" rIns="45720">
            <a:spAutoFit/>
          </a:bodyPr>
          <a:lstStyle/>
          <a:p>
            <a:pPr algn="l"/>
            <a:r>
              <a:rPr sz="2800" b="1" i="0">
                <a:solidFill>
                  <a:srgbClr val="1A2B3C"/>
                </a:solidFill>
                <a:latin typeface="Calibri"/>
              </a:rPr>
              <a:t>The gRPC sync-server ResourceQuota trap</a:t>
            </a:r>
          </a:p>
        </p:txBody>
      </p:sp>
      <p:sp>
        <p:nvSpPr>
          <p:cNvPr id="9" name="TextBox 8"/>
          <p:cNvSpPr txBox="1"/>
          <p:nvPr/>
        </p:nvSpPr>
        <p:spPr>
          <a:xfrm>
            <a:off x="457200" y="1554480"/>
            <a:ext cx="11247120" cy="4572000"/>
          </a:xfrm>
          <a:prstGeom prst="rect">
            <a:avLst/>
          </a:prstGeom>
          <a:noFill/>
        </p:spPr>
        <p:txBody>
          <a:bodyPr wrap="square" anchor="t" lIns="45720" rIns="45720">
            <a:spAutoFit/>
          </a:bodyPr>
          <a:lstStyle/>
          <a:p>
            <a:pPr algn="l">
              <a:lnSpc>
                <a:spcPct val="115000"/>
              </a:lnSpc>
            </a:pPr>
            <a:r>
              <a:rPr sz="1800" b="1" i="0">
                <a:solidFill>
                  <a:srgbClr val="E84855"/>
                </a:solidFill>
                <a:latin typeface="Calibri"/>
              </a:rPr>
              <a:t>Thread count is not request concurrency</a:t>
            </a:r>
          </a:p>
          <a:p>
            <a:pPr algn="l">
              <a:lnSpc>
                <a:spcPct val="115000"/>
              </a:lnSpc>
            </a:pPr>
            <a:r>
              <a:rPr sz="1500" b="0" i="0">
                <a:solidFill>
                  <a:srgbClr val="1A2B3C"/>
                </a:solidFill>
                <a:latin typeface="Calibri"/>
              </a:rPr>
              <a:t>•  Sync gRPC server: each in-flight RPC holds a thread for its duration</a:t>
            </a:r>
          </a:p>
          <a:p>
            <a:pPr algn="l">
              <a:lnSpc>
                <a:spcPct val="115000"/>
              </a:lnSpc>
            </a:pPr>
            <a:r>
              <a:rPr sz="1500" b="0" i="0">
                <a:solidFill>
                  <a:srgbClr val="1A2B3C"/>
                </a:solidFill>
                <a:latin typeface="Calibri"/>
              </a:rPr>
              <a:t>•  Set NUM_CQS, MIN/MAX_POLLERS, and a ResourceQuota max-threads from the budget</a:t>
            </a:r>
          </a:p>
          <a:p>
            <a:pPr algn="l">
              <a:lnSpc>
                <a:spcPct val="115000"/>
              </a:lnSpc>
            </a:pPr>
            <a:r>
              <a:rPr sz="1500" b="0" i="0">
                <a:solidFill>
                  <a:srgbClr val="1A2B3C"/>
                </a:solidFill>
                <a:latin typeface="Calibri"/>
              </a:rPr>
              <a:t>•  A blocking handler under-provisioned on threads serializes silently</a:t>
            </a:r>
          </a:p>
          <a:p>
            <a:pPr algn="l">
              <a:lnSpc>
                <a:spcPct val="115000"/>
              </a:lnSpc>
            </a:pPr>
            <a:r>
              <a:rPr sz="1500" b="0" i="0">
                <a:solidFill>
                  <a:srgbClr val="1A2B3C"/>
                </a:solidFill>
                <a:latin typeface="Calibri"/>
              </a:rPr>
              <a:t>•  Size the server thread pool from the cgroup quota, with headroom</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640080"/>
          </a:xfrm>
          <a:prstGeom prst="rect">
            <a:avLst/>
          </a:prstGeom>
          <a:solidFill>
            <a:srgbClr val="1E6F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37160"/>
            <a:ext cx="6400800" cy="365760"/>
          </a:xfrm>
          <a:prstGeom prst="rect">
            <a:avLst/>
          </a:prstGeom>
          <a:noFill/>
        </p:spPr>
        <p:txBody>
          <a:bodyPr wrap="square" anchor="t" lIns="45720" rIns="45720">
            <a:spAutoFit/>
          </a:bodyPr>
          <a:lstStyle/>
          <a:p>
            <a:pPr algn="l"/>
            <a:r>
              <a:rPr sz="2800" b="1" i="0">
                <a:solidFill>
                  <a:srgbClr val="FFFFFF"/>
                </a:solidFill>
                <a:latin typeface="Calibri"/>
              </a:rPr>
              <a:t>Threading under a CPU quota</a:t>
            </a:r>
          </a:p>
        </p:txBody>
      </p:sp>
      <p:sp>
        <p:nvSpPr>
          <p:cNvPr id="4" name="Rounded Rectangle 3"/>
          <p:cNvSpPr/>
          <p:nvPr/>
        </p:nvSpPr>
        <p:spPr>
          <a:xfrm>
            <a:off x="10454335" y="164592"/>
            <a:ext cx="1463040" cy="320040"/>
          </a:xfrm>
          <a:prstGeom prst="roundRect">
            <a:avLst>
              <a:gd name="adj" fmla="val 50000"/>
            </a:avLst>
          </a:prstGeom>
          <a:solidFill>
            <a:srgbClr val="1A2B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454335" y="164592"/>
            <a:ext cx="1463040" cy="320040"/>
          </a:xfrm>
          <a:prstGeom prst="rect">
            <a:avLst/>
          </a:prstGeom>
          <a:noFill/>
        </p:spPr>
        <p:txBody>
          <a:bodyPr wrap="square" anchor="ctr" lIns="45720" rIns="45720">
            <a:spAutoFit/>
          </a:bodyPr>
          <a:lstStyle/>
          <a:p>
            <a:pPr algn="ctr"/>
            <a:r>
              <a:rPr sz="1400" b="1" i="0">
                <a:solidFill>
                  <a:srgbClr val="FFFFFF"/>
                </a:solidFill>
                <a:latin typeface="Calibri"/>
              </a:rPr>
              <a:t>Doc 05</a:t>
            </a:r>
          </a:p>
        </p:txBody>
      </p:sp>
      <p:sp>
        <p:nvSpPr>
          <p:cNvPr id="6" name="TextBox 5"/>
          <p:cNvSpPr txBox="1"/>
          <p:nvPr/>
        </p:nvSpPr>
        <p:spPr>
          <a:xfrm>
            <a:off x="365760" y="6537960"/>
            <a:ext cx="8229600" cy="274320"/>
          </a:xfrm>
          <a:prstGeom prst="rect">
            <a:avLst/>
          </a:prstGeom>
          <a:noFill/>
        </p:spPr>
        <p:txBody>
          <a:bodyPr wrap="square" anchor="t" lIns="45720" rIns="45720">
            <a:spAutoFit/>
          </a:bodyPr>
          <a:lstStyle/>
          <a:p>
            <a:pPr algn="l"/>
            <a:r>
              <a:rPr sz="1100" b="0" i="0">
                <a:solidFill>
                  <a:srgbClr val="90A4AE"/>
                </a:solidFill>
                <a:latin typeface="Calibri"/>
              </a:rPr>
              <a:t>Optimizing Modern C++ with Containers   |   Threading under a CPU quota</a:t>
            </a:r>
          </a:p>
        </p:txBody>
      </p:sp>
      <p:sp>
        <p:nvSpPr>
          <p:cNvPr id="7" name="TextBox 6"/>
          <p:cNvSpPr txBox="1"/>
          <p:nvPr/>
        </p:nvSpPr>
        <p:spPr>
          <a:xfrm>
            <a:off x="10820095" y="6537960"/>
            <a:ext cx="1005840" cy="274320"/>
          </a:xfrm>
          <a:prstGeom prst="rect">
            <a:avLst/>
          </a:prstGeom>
          <a:noFill/>
        </p:spPr>
        <p:txBody>
          <a:bodyPr wrap="square" anchor="t" lIns="45720" rIns="45720">
            <a:spAutoFit/>
          </a:bodyPr>
          <a:lstStyle/>
          <a:p>
            <a:pPr algn="r"/>
            <a:r>
              <a:rPr sz="1100" b="0" i="0">
                <a:solidFill>
                  <a:srgbClr val="90A4AE"/>
                </a:solidFill>
                <a:latin typeface="Calibri"/>
              </a:rPr>
              <a:t>29 / 67</a:t>
            </a:r>
          </a:p>
        </p:txBody>
      </p:sp>
      <p:sp>
        <p:nvSpPr>
          <p:cNvPr id="8" name="TextBox 7"/>
          <p:cNvSpPr txBox="1"/>
          <p:nvPr/>
        </p:nvSpPr>
        <p:spPr>
          <a:xfrm>
            <a:off x="457200" y="822960"/>
            <a:ext cx="10972800" cy="548640"/>
          </a:xfrm>
          <a:prstGeom prst="rect">
            <a:avLst/>
          </a:prstGeom>
          <a:noFill/>
        </p:spPr>
        <p:txBody>
          <a:bodyPr wrap="square" anchor="t" lIns="45720" rIns="45720">
            <a:spAutoFit/>
          </a:bodyPr>
          <a:lstStyle/>
          <a:p>
            <a:pPr algn="l"/>
            <a:r>
              <a:rPr sz="2800" b="1" i="0">
                <a:solidFill>
                  <a:srgbClr val="1A2B3C"/>
                </a:solidFill>
                <a:latin typeface="Calibri"/>
              </a:rPr>
              <a:t>Allocator arenas under a quota</a:t>
            </a:r>
          </a:p>
        </p:txBody>
      </p:sp>
      <p:sp>
        <p:nvSpPr>
          <p:cNvPr id="9" name="TextBox 8"/>
          <p:cNvSpPr txBox="1"/>
          <p:nvPr/>
        </p:nvSpPr>
        <p:spPr>
          <a:xfrm>
            <a:off x="457200" y="1554480"/>
            <a:ext cx="11247120" cy="4572000"/>
          </a:xfrm>
          <a:prstGeom prst="rect">
            <a:avLst/>
          </a:prstGeom>
          <a:noFill/>
        </p:spPr>
        <p:txBody>
          <a:bodyPr wrap="square" anchor="t" lIns="45720" rIns="45720">
            <a:spAutoFit/>
          </a:bodyPr>
          <a:lstStyle/>
          <a:p>
            <a:pPr algn="l">
              <a:lnSpc>
                <a:spcPct val="115000"/>
              </a:lnSpc>
            </a:pPr>
            <a:r>
              <a:rPr sz="1800" b="1" i="0">
                <a:solidFill>
                  <a:srgbClr val="F5A623"/>
                </a:solidFill>
                <a:latin typeface="Calibri"/>
              </a:rPr>
              <a:t>Even malloc cares about the CPU count</a:t>
            </a:r>
          </a:p>
          <a:p>
            <a:pPr algn="l">
              <a:lnSpc>
                <a:spcPct val="115000"/>
              </a:lnSpc>
            </a:pPr>
            <a:r>
              <a:rPr sz="1500" b="0" i="0">
                <a:solidFill>
                  <a:srgbClr val="1A2B3C"/>
                </a:solidFill>
                <a:latin typeface="Calibri"/>
              </a:rPr>
              <a:t>•  jemalloc / tcmalloc shard arenas per-CPU to reduce contention</a:t>
            </a:r>
          </a:p>
          <a:p>
            <a:pPr algn="l">
              <a:lnSpc>
                <a:spcPct val="115000"/>
              </a:lnSpc>
            </a:pPr>
            <a:r>
              <a:rPr sz="1500" b="0" i="0">
                <a:solidFill>
                  <a:srgbClr val="1A2B3C"/>
                </a:solidFill>
                <a:latin typeface="Calibri"/>
              </a:rPr>
              <a:t>•  Default arena count keys off the host cores, not the cgroup</a:t>
            </a:r>
          </a:p>
          <a:p>
            <a:pPr algn="l">
              <a:lnSpc>
                <a:spcPct val="115000"/>
              </a:lnSpc>
            </a:pPr>
            <a:r>
              <a:rPr sz="1500" b="0" i="0">
                <a:solidFill>
                  <a:srgbClr val="1A2B3C"/>
                </a:solidFill>
                <a:latin typeface="Calibri"/>
              </a:rPr>
              <a:t>•  Over-arena'd under a small quota wastes memory; size from the budget</a:t>
            </a:r>
          </a:p>
          <a:p>
            <a:pPr algn="l">
              <a:lnSpc>
                <a:spcPct val="115000"/>
              </a:lnSpc>
            </a:pPr>
            <a:r>
              <a:rPr sz="1500" b="0" i="0">
                <a:solidFill>
                  <a:srgbClr val="1A2B3C"/>
                </a:solidFill>
                <a:latin typeface="Calibri"/>
              </a:rPr>
              <a:t>•  MALLOC_CONF narenas (jemalloc) tuned from cpu_limit_cores()</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640080"/>
          </a:xfrm>
          <a:prstGeom prst="rect">
            <a:avLst/>
          </a:prstGeom>
          <a:solidFill>
            <a:srgbClr val="1E6F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37160"/>
            <a:ext cx="6400800" cy="365760"/>
          </a:xfrm>
          <a:prstGeom prst="rect">
            <a:avLst/>
          </a:prstGeom>
          <a:noFill/>
        </p:spPr>
        <p:txBody>
          <a:bodyPr wrap="square" anchor="t" lIns="45720" rIns="45720">
            <a:spAutoFit/>
          </a:bodyPr>
          <a:lstStyle/>
          <a:p>
            <a:pPr algn="l"/>
            <a:r>
              <a:rPr sz="2800" b="1" i="0">
                <a:solidFill>
                  <a:srgbClr val="FFFFFF"/>
                </a:solidFill>
                <a:latin typeface="Calibri"/>
              </a:rPr>
              <a:t>Threading under a CPU quota</a:t>
            </a:r>
          </a:p>
        </p:txBody>
      </p:sp>
      <p:sp>
        <p:nvSpPr>
          <p:cNvPr id="4" name="Rounded Rectangle 3"/>
          <p:cNvSpPr/>
          <p:nvPr/>
        </p:nvSpPr>
        <p:spPr>
          <a:xfrm>
            <a:off x="10454335" y="164592"/>
            <a:ext cx="1463040" cy="320040"/>
          </a:xfrm>
          <a:prstGeom prst="roundRect">
            <a:avLst>
              <a:gd name="adj" fmla="val 50000"/>
            </a:avLst>
          </a:prstGeom>
          <a:solidFill>
            <a:srgbClr val="1A2B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454335" y="164592"/>
            <a:ext cx="1463040" cy="320040"/>
          </a:xfrm>
          <a:prstGeom prst="rect">
            <a:avLst/>
          </a:prstGeom>
          <a:noFill/>
        </p:spPr>
        <p:txBody>
          <a:bodyPr wrap="square" anchor="ctr" lIns="45720" rIns="45720">
            <a:spAutoFit/>
          </a:bodyPr>
          <a:lstStyle/>
          <a:p>
            <a:pPr algn="ctr"/>
            <a:r>
              <a:rPr sz="1400" b="1" i="0">
                <a:solidFill>
                  <a:srgbClr val="FFFFFF"/>
                </a:solidFill>
                <a:latin typeface="Calibri"/>
              </a:rPr>
              <a:t>Doc 05</a:t>
            </a:r>
          </a:p>
        </p:txBody>
      </p:sp>
      <p:sp>
        <p:nvSpPr>
          <p:cNvPr id="6" name="TextBox 5"/>
          <p:cNvSpPr txBox="1"/>
          <p:nvPr/>
        </p:nvSpPr>
        <p:spPr>
          <a:xfrm>
            <a:off x="365760" y="6537960"/>
            <a:ext cx="8229600" cy="274320"/>
          </a:xfrm>
          <a:prstGeom prst="rect">
            <a:avLst/>
          </a:prstGeom>
          <a:noFill/>
        </p:spPr>
        <p:txBody>
          <a:bodyPr wrap="square" anchor="t" lIns="45720" rIns="45720">
            <a:spAutoFit/>
          </a:bodyPr>
          <a:lstStyle/>
          <a:p>
            <a:pPr algn="l"/>
            <a:r>
              <a:rPr sz="1100" b="0" i="0">
                <a:solidFill>
                  <a:srgbClr val="90A4AE"/>
                </a:solidFill>
                <a:latin typeface="Calibri"/>
              </a:rPr>
              <a:t>Optimizing Modern C++ with Containers   |   Threading under a CPU quota</a:t>
            </a:r>
          </a:p>
        </p:txBody>
      </p:sp>
      <p:sp>
        <p:nvSpPr>
          <p:cNvPr id="7" name="TextBox 6"/>
          <p:cNvSpPr txBox="1"/>
          <p:nvPr/>
        </p:nvSpPr>
        <p:spPr>
          <a:xfrm>
            <a:off x="10820095" y="6537960"/>
            <a:ext cx="1005840" cy="274320"/>
          </a:xfrm>
          <a:prstGeom prst="rect">
            <a:avLst/>
          </a:prstGeom>
          <a:noFill/>
        </p:spPr>
        <p:txBody>
          <a:bodyPr wrap="square" anchor="t" lIns="45720" rIns="45720">
            <a:spAutoFit/>
          </a:bodyPr>
          <a:lstStyle/>
          <a:p>
            <a:pPr algn="r"/>
            <a:r>
              <a:rPr sz="1100" b="0" i="0">
                <a:solidFill>
                  <a:srgbClr val="90A4AE"/>
                </a:solidFill>
                <a:latin typeface="Calibri"/>
              </a:rPr>
              <a:t>30 / 67</a:t>
            </a:r>
          </a:p>
        </p:txBody>
      </p:sp>
      <p:sp>
        <p:nvSpPr>
          <p:cNvPr id="8" name="TextBox 7"/>
          <p:cNvSpPr txBox="1"/>
          <p:nvPr/>
        </p:nvSpPr>
        <p:spPr>
          <a:xfrm>
            <a:off x="457200" y="822960"/>
            <a:ext cx="10972800" cy="548640"/>
          </a:xfrm>
          <a:prstGeom prst="rect">
            <a:avLst/>
          </a:prstGeom>
          <a:noFill/>
        </p:spPr>
        <p:txBody>
          <a:bodyPr wrap="square" anchor="t" lIns="45720" rIns="45720">
            <a:spAutoFit/>
          </a:bodyPr>
          <a:lstStyle/>
          <a:p>
            <a:pPr algn="l"/>
            <a:r>
              <a:rPr sz="2800" b="1" i="0">
                <a:solidFill>
                  <a:srgbClr val="1A2B3C"/>
                </a:solidFill>
                <a:latin typeface="Calibri"/>
              </a:rPr>
              <a:t>Cooperative cancellation with stop_token</a:t>
            </a:r>
          </a:p>
        </p:txBody>
      </p:sp>
      <p:sp>
        <p:nvSpPr>
          <p:cNvPr id="9" name="TextBox 8"/>
          <p:cNvSpPr txBox="1"/>
          <p:nvPr/>
        </p:nvSpPr>
        <p:spPr>
          <a:xfrm>
            <a:off x="457200" y="1554480"/>
            <a:ext cx="11247120" cy="4572000"/>
          </a:xfrm>
          <a:prstGeom prst="rect">
            <a:avLst/>
          </a:prstGeom>
          <a:noFill/>
        </p:spPr>
        <p:txBody>
          <a:bodyPr wrap="square" anchor="t" lIns="45720" rIns="45720">
            <a:spAutoFit/>
          </a:bodyPr>
          <a:lstStyle/>
          <a:p>
            <a:pPr algn="l">
              <a:lnSpc>
                <a:spcPct val="115000"/>
              </a:lnSpc>
            </a:pPr>
            <a:r>
              <a:rPr sz="1800" b="1" i="0">
                <a:solidFill>
                  <a:srgbClr val="27AE60"/>
                </a:solidFill>
                <a:latin typeface="Calibri"/>
              </a:rPr>
              <a:t>std::jthread + std::stop_token (C++20)</a:t>
            </a:r>
          </a:p>
          <a:p>
            <a:pPr algn="l">
              <a:lnSpc>
                <a:spcPct val="115000"/>
              </a:lnSpc>
            </a:pPr>
            <a:r>
              <a:rPr sz="1500" b="0" i="0">
                <a:solidFill>
                  <a:srgbClr val="1A2B3C"/>
                </a:solidFill>
                <a:latin typeface="Calibri"/>
              </a:rPr>
              <a:t>•  Background workers take a stop_token; loop while !stop_requested()</a:t>
            </a:r>
          </a:p>
          <a:p>
            <a:pPr algn="l">
              <a:lnSpc>
                <a:spcPct val="115000"/>
              </a:lnSpc>
            </a:pPr>
            <a:r>
              <a:rPr sz="1500" b="0" i="0">
                <a:solidFill>
                  <a:srgbClr val="1A2B3C"/>
                </a:solidFill>
                <a:latin typeface="Calibri"/>
              </a:rPr>
              <a:t>•  std::jthread joins on destruction — no detached threads outliving main()</a:t>
            </a:r>
          </a:p>
          <a:p>
            <a:pPr algn="l">
              <a:lnSpc>
                <a:spcPct val="115000"/>
              </a:lnSpc>
            </a:pPr>
            <a:r>
              <a:rPr sz="1500" b="0" i="0">
                <a:solidFill>
                  <a:srgbClr val="1A2B3C"/>
                </a:solidFill>
                <a:latin typeface="Calibri"/>
              </a:rPr>
              <a:t>•  Shutdown requests stop, the worker drains, the jthread joins cleanly</a:t>
            </a:r>
          </a:p>
          <a:p>
            <a:pPr algn="l">
              <a:lnSpc>
                <a:spcPct val="115000"/>
              </a:lnSpc>
            </a:pPr>
            <a:r>
              <a:rPr sz="1500" b="0" i="0">
                <a:solidFill>
                  <a:srgbClr val="1A2B3C"/>
                </a:solidFill>
                <a:latin typeface="Calibri"/>
              </a:rPr>
              <a:t>•  Ties directly into the graceful-shutdown sequence (Doc 9)</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Rounded Rectangle 1"/>
          <p:cNvSpPr/>
          <p:nvPr/>
        </p:nvSpPr>
        <p:spPr>
          <a:xfrm>
            <a:off x="548640" y="548640"/>
            <a:ext cx="2286000" cy="594360"/>
          </a:xfrm>
          <a:prstGeom prst="roundRect">
            <a:avLst>
              <a:gd name="adj" fmla="val 50000"/>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48640"/>
            <a:ext cx="2286000" cy="594360"/>
          </a:xfrm>
          <a:prstGeom prst="rect">
            <a:avLst/>
          </a:prstGeom>
          <a:noFill/>
        </p:spPr>
        <p:txBody>
          <a:bodyPr wrap="square" anchor="ctr" lIns="45720" rIns="45720">
            <a:spAutoFit/>
          </a:bodyPr>
          <a:lstStyle/>
          <a:p>
            <a:pPr algn="ctr"/>
            <a:r>
              <a:rPr sz="2200" b="1" i="0">
                <a:solidFill>
                  <a:srgbClr val="FFFFFF"/>
                </a:solidFill>
                <a:latin typeface="Calibri"/>
              </a:rPr>
              <a:t>▶ DEMO 05</a:t>
            </a:r>
          </a:p>
        </p:txBody>
      </p:sp>
      <p:sp>
        <p:nvSpPr>
          <p:cNvPr id="4" name="TextBox 3"/>
          <p:cNvSpPr txBox="1"/>
          <p:nvPr/>
        </p:nvSpPr>
        <p:spPr>
          <a:xfrm>
            <a:off x="548640" y="1645920"/>
            <a:ext cx="10972800" cy="1097280"/>
          </a:xfrm>
          <a:prstGeom prst="rect">
            <a:avLst/>
          </a:prstGeom>
          <a:noFill/>
        </p:spPr>
        <p:txBody>
          <a:bodyPr wrap="square" anchor="t" lIns="45720" rIns="45720">
            <a:spAutoFit/>
          </a:bodyPr>
          <a:lstStyle/>
          <a:p>
            <a:pPr algn="l"/>
            <a:r>
              <a:rPr sz="3600" b="1" i="0">
                <a:solidFill>
                  <a:srgbClr val="FFFFFF"/>
                </a:solidFill>
                <a:latin typeface="Calibri"/>
              </a:rPr>
              <a:t>Demo — Threading &amp; CPU budget</a:t>
            </a:r>
          </a:p>
        </p:txBody>
      </p:sp>
      <p:sp>
        <p:nvSpPr>
          <p:cNvPr id="5" name="TextBox 4"/>
          <p:cNvSpPr txBox="1"/>
          <p:nvPr/>
        </p:nvSpPr>
        <p:spPr>
          <a:xfrm>
            <a:off x="548640" y="2743200"/>
            <a:ext cx="10972800" cy="1371600"/>
          </a:xfrm>
          <a:prstGeom prst="rect">
            <a:avLst/>
          </a:prstGeom>
          <a:noFill/>
        </p:spPr>
        <p:txBody>
          <a:bodyPr wrap="square" anchor="t" lIns="45720" rIns="45720">
            <a:spAutoFit/>
          </a:bodyPr>
          <a:lstStyle/>
          <a:p>
            <a:pPr algn="l"/>
            <a:r>
              <a:rPr sz="2000" b="0" i="0">
                <a:solidFill>
                  <a:srgbClr val="ECF0F1"/>
                </a:solidFill>
                <a:latin typeface="Calibri"/>
              </a:rPr>
              <a:t>A cgroup-aware probe and a pool-size sweep under --cpus=2 show that oversubscription buys no throughput and wrecks tail latency through CFS throttling.</a:t>
            </a:r>
          </a:p>
        </p:txBody>
      </p:sp>
      <p:sp>
        <p:nvSpPr>
          <p:cNvPr id="6" name="Rectangle 5"/>
          <p:cNvSpPr/>
          <p:nvPr/>
        </p:nvSpPr>
        <p:spPr>
          <a:xfrm>
            <a:off x="548640" y="4297680"/>
            <a:ext cx="11064240" cy="1097280"/>
          </a:xfrm>
          <a:prstGeom prst="rect">
            <a:avLst/>
          </a:prstGeom>
          <a:solidFill>
            <a:srgbClr val="0D21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4389120"/>
            <a:ext cx="10789920" cy="457200"/>
          </a:xfrm>
          <a:prstGeom prst="rect">
            <a:avLst/>
          </a:prstGeom>
          <a:noFill/>
        </p:spPr>
        <p:txBody>
          <a:bodyPr wrap="square" anchor="t" lIns="45720" rIns="45720">
            <a:spAutoFit/>
          </a:bodyPr>
          <a:lstStyle/>
          <a:p>
            <a:pPr algn="l"/>
            <a:r>
              <a:rPr sz="1800" b="0" i="0">
                <a:solidFill>
                  <a:srgbClr val="00BCD4"/>
                </a:solidFill>
                <a:latin typeface="Consolas"/>
              </a:rPr>
              <a:t>$ cd examples/statelessness/05-threading &amp;&amp; ./demo.sh</a:t>
            </a:r>
          </a:p>
        </p:txBody>
      </p:sp>
      <p:sp>
        <p:nvSpPr>
          <p:cNvPr id="8" name="TextBox 7"/>
          <p:cNvSpPr txBox="1"/>
          <p:nvPr/>
        </p:nvSpPr>
        <p:spPr>
          <a:xfrm>
            <a:off x="731520" y="4892040"/>
            <a:ext cx="10789920" cy="365760"/>
          </a:xfrm>
          <a:prstGeom prst="rect">
            <a:avLst/>
          </a:prstGeom>
          <a:noFill/>
        </p:spPr>
        <p:txBody>
          <a:bodyPr wrap="square" anchor="t" lIns="45720" rIns="45720">
            <a:spAutoFit/>
          </a:bodyPr>
          <a:lstStyle/>
          <a:p>
            <a:pPr algn="l"/>
            <a:r>
              <a:rPr sz="1100" b="0" i="0">
                <a:solidFill>
                  <a:srgbClr val="90A4AE"/>
                </a:solidFill>
                <a:latin typeface="Consolas"/>
              </a:rPr>
              <a:t>  source on site: patterncatalyst.github.io/cpp-container-optimization-tutorial/examples/statelessness-05-threading/</a:t>
            </a:r>
          </a:p>
        </p:txBody>
      </p:sp>
      <p:sp>
        <p:nvSpPr>
          <p:cNvPr id="9" name="TextBox 8"/>
          <p:cNvSpPr txBox="1"/>
          <p:nvPr/>
        </p:nvSpPr>
        <p:spPr>
          <a:xfrm>
            <a:off x="10820095" y="6400800"/>
            <a:ext cx="914400" cy="274320"/>
          </a:xfrm>
          <a:prstGeom prst="rect">
            <a:avLst/>
          </a:prstGeom>
          <a:noFill/>
        </p:spPr>
        <p:txBody>
          <a:bodyPr wrap="square" anchor="t" lIns="45720" rIns="45720">
            <a:spAutoFit/>
          </a:bodyPr>
          <a:lstStyle/>
          <a:p>
            <a:pPr algn="r"/>
            <a:r>
              <a:rPr sz="1100" b="0" i="0">
                <a:solidFill>
                  <a:srgbClr val="90A4AE"/>
                </a:solidFill>
                <a:latin typeface="Calibri"/>
              </a:rPr>
              <a:t>31 / 67</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1828800"/>
            <a:ext cx="3657600" cy="2286000"/>
          </a:xfrm>
          <a:prstGeom prst="rect">
            <a:avLst/>
          </a:prstGeom>
          <a:noFill/>
        </p:spPr>
        <p:txBody>
          <a:bodyPr wrap="square" anchor="t" lIns="45720" rIns="45720">
            <a:spAutoFit/>
          </a:bodyPr>
          <a:lstStyle/>
          <a:p>
            <a:pPr algn="l"/>
            <a:r>
              <a:rPr sz="18000" b="1" i="0">
                <a:solidFill>
                  <a:srgbClr val="00BCD4"/>
                </a:solidFill>
                <a:latin typeface="Calibri"/>
              </a:rPr>
              <a:t>§6</a:t>
            </a:r>
          </a:p>
        </p:txBody>
      </p:sp>
      <p:sp>
        <p:nvSpPr>
          <p:cNvPr id="3" name="TextBox 2"/>
          <p:cNvSpPr txBox="1"/>
          <p:nvPr/>
        </p:nvSpPr>
        <p:spPr>
          <a:xfrm>
            <a:off x="4114800" y="2103120"/>
            <a:ext cx="7772400" cy="1828800"/>
          </a:xfrm>
          <a:prstGeom prst="rect">
            <a:avLst/>
          </a:prstGeom>
          <a:noFill/>
        </p:spPr>
        <p:txBody>
          <a:bodyPr wrap="square" anchor="t" lIns="45720" rIns="45720">
            <a:spAutoFit/>
          </a:bodyPr>
          <a:lstStyle/>
          <a:p>
            <a:pPr algn="l"/>
            <a:r>
              <a:rPr sz="3600" b="1" i="0">
                <a:solidFill>
                  <a:srgbClr val="FFFFFF"/>
                </a:solidFill>
                <a:latin typeface="Calibri"/>
              </a:rPr>
              <a:t>12-Factor adapted to C++</a:t>
            </a:r>
          </a:p>
        </p:txBody>
      </p:sp>
      <p:sp>
        <p:nvSpPr>
          <p:cNvPr id="4" name="TextBox 3"/>
          <p:cNvSpPr txBox="1"/>
          <p:nvPr/>
        </p:nvSpPr>
        <p:spPr>
          <a:xfrm>
            <a:off x="4114800" y="3474720"/>
            <a:ext cx="7772400" cy="1828800"/>
          </a:xfrm>
          <a:prstGeom prst="rect">
            <a:avLst/>
          </a:prstGeom>
          <a:noFill/>
        </p:spPr>
        <p:txBody>
          <a:bodyPr wrap="square" anchor="t" lIns="45720" rIns="45720">
            <a:spAutoFit/>
          </a:bodyPr>
          <a:lstStyle/>
          <a:p>
            <a:pPr algn="l"/>
            <a:r>
              <a:rPr sz="2000" b="0" i="1">
                <a:solidFill>
                  <a:srgbClr val="90A4AE"/>
                </a:solidFill>
                <a:latin typeface="Calibri"/>
              </a:rPr>
              <a:t>Most factors map directly; three collide with C++ idioms.</a:t>
            </a:r>
          </a:p>
        </p:txBody>
      </p:sp>
      <p:sp>
        <p:nvSpPr>
          <p:cNvPr id="5" name="TextBox 4"/>
          <p:cNvSpPr txBox="1"/>
          <p:nvPr/>
        </p:nvSpPr>
        <p:spPr>
          <a:xfrm>
            <a:off x="10820095" y="6400800"/>
            <a:ext cx="914400" cy="274320"/>
          </a:xfrm>
          <a:prstGeom prst="rect">
            <a:avLst/>
          </a:prstGeom>
          <a:noFill/>
        </p:spPr>
        <p:txBody>
          <a:bodyPr wrap="square" anchor="t" lIns="45720" rIns="45720">
            <a:spAutoFit/>
          </a:bodyPr>
          <a:lstStyle/>
          <a:p>
            <a:pPr algn="r"/>
            <a:r>
              <a:rPr sz="1100" b="0" i="0">
                <a:solidFill>
                  <a:srgbClr val="90A4AE"/>
                </a:solidFill>
                <a:latin typeface="Calibri"/>
              </a:rPr>
              <a:t>32 / 67</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640080"/>
          </a:xfrm>
          <a:prstGeom prst="rect">
            <a:avLst/>
          </a:prstGeom>
          <a:solidFill>
            <a:srgbClr val="1E6F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37160"/>
            <a:ext cx="6400800" cy="365760"/>
          </a:xfrm>
          <a:prstGeom prst="rect">
            <a:avLst/>
          </a:prstGeom>
          <a:noFill/>
        </p:spPr>
        <p:txBody>
          <a:bodyPr wrap="square" anchor="t" lIns="45720" rIns="45720">
            <a:spAutoFit/>
          </a:bodyPr>
          <a:lstStyle/>
          <a:p>
            <a:pPr algn="l"/>
            <a:r>
              <a:rPr sz="2800" b="1" i="0">
                <a:solidFill>
                  <a:srgbClr val="FFFFFF"/>
                </a:solidFill>
                <a:latin typeface="Calibri"/>
              </a:rPr>
              <a:t>12-Factor adapted to C++</a:t>
            </a:r>
          </a:p>
        </p:txBody>
      </p:sp>
      <p:sp>
        <p:nvSpPr>
          <p:cNvPr id="4" name="Rounded Rectangle 3"/>
          <p:cNvSpPr/>
          <p:nvPr/>
        </p:nvSpPr>
        <p:spPr>
          <a:xfrm>
            <a:off x="10454335" y="164592"/>
            <a:ext cx="1463040" cy="320040"/>
          </a:xfrm>
          <a:prstGeom prst="roundRect">
            <a:avLst>
              <a:gd name="adj" fmla="val 50000"/>
            </a:avLst>
          </a:prstGeom>
          <a:solidFill>
            <a:srgbClr val="1A2B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454335" y="164592"/>
            <a:ext cx="1463040" cy="320040"/>
          </a:xfrm>
          <a:prstGeom prst="rect">
            <a:avLst/>
          </a:prstGeom>
          <a:noFill/>
        </p:spPr>
        <p:txBody>
          <a:bodyPr wrap="square" anchor="ctr" lIns="45720" rIns="45720">
            <a:spAutoFit/>
          </a:bodyPr>
          <a:lstStyle/>
          <a:p>
            <a:pPr algn="ctr"/>
            <a:r>
              <a:rPr sz="1400" b="1" i="0">
                <a:solidFill>
                  <a:srgbClr val="FFFFFF"/>
                </a:solidFill>
                <a:latin typeface="Calibri"/>
              </a:rPr>
              <a:t>Doc 06</a:t>
            </a:r>
          </a:p>
        </p:txBody>
      </p:sp>
      <p:sp>
        <p:nvSpPr>
          <p:cNvPr id="6" name="TextBox 5"/>
          <p:cNvSpPr txBox="1"/>
          <p:nvPr/>
        </p:nvSpPr>
        <p:spPr>
          <a:xfrm>
            <a:off x="365760" y="6537960"/>
            <a:ext cx="8229600" cy="274320"/>
          </a:xfrm>
          <a:prstGeom prst="rect">
            <a:avLst/>
          </a:prstGeom>
          <a:noFill/>
        </p:spPr>
        <p:txBody>
          <a:bodyPr wrap="square" anchor="t" lIns="45720" rIns="45720">
            <a:spAutoFit/>
          </a:bodyPr>
          <a:lstStyle/>
          <a:p>
            <a:pPr algn="l"/>
            <a:r>
              <a:rPr sz="1100" b="0" i="0">
                <a:solidFill>
                  <a:srgbClr val="90A4AE"/>
                </a:solidFill>
                <a:latin typeface="Calibri"/>
              </a:rPr>
              <a:t>Optimizing Modern C++ with Containers   |   12-Factor adapted to C++</a:t>
            </a:r>
          </a:p>
        </p:txBody>
      </p:sp>
      <p:sp>
        <p:nvSpPr>
          <p:cNvPr id="7" name="TextBox 6"/>
          <p:cNvSpPr txBox="1"/>
          <p:nvPr/>
        </p:nvSpPr>
        <p:spPr>
          <a:xfrm>
            <a:off x="10820095" y="6537960"/>
            <a:ext cx="1005840" cy="274320"/>
          </a:xfrm>
          <a:prstGeom prst="rect">
            <a:avLst/>
          </a:prstGeom>
          <a:noFill/>
        </p:spPr>
        <p:txBody>
          <a:bodyPr wrap="square" anchor="t" lIns="45720" rIns="45720">
            <a:spAutoFit/>
          </a:bodyPr>
          <a:lstStyle/>
          <a:p>
            <a:pPr algn="r"/>
            <a:r>
              <a:rPr sz="1100" b="0" i="0">
                <a:solidFill>
                  <a:srgbClr val="90A4AE"/>
                </a:solidFill>
                <a:latin typeface="Calibri"/>
              </a:rPr>
              <a:t>33 / 67</a:t>
            </a:r>
          </a:p>
        </p:txBody>
      </p:sp>
      <p:sp>
        <p:nvSpPr>
          <p:cNvPr id="8" name="TextBox 7"/>
          <p:cNvSpPr txBox="1"/>
          <p:nvPr/>
        </p:nvSpPr>
        <p:spPr>
          <a:xfrm>
            <a:off x="457200" y="822960"/>
            <a:ext cx="10972800" cy="548640"/>
          </a:xfrm>
          <a:prstGeom prst="rect">
            <a:avLst/>
          </a:prstGeom>
          <a:noFill/>
        </p:spPr>
        <p:txBody>
          <a:bodyPr wrap="square" anchor="t" lIns="45720" rIns="45720">
            <a:spAutoFit/>
          </a:bodyPr>
          <a:lstStyle/>
          <a:p>
            <a:pPr algn="l"/>
            <a:r>
              <a:rPr sz="2800" b="1" i="0">
                <a:solidFill>
                  <a:srgbClr val="1A2B3C"/>
                </a:solidFill>
                <a:latin typeface="Calibri"/>
              </a:rPr>
              <a:t>Config: four binding times</a:t>
            </a:r>
          </a:p>
        </p:txBody>
      </p:sp>
      <p:sp>
        <p:nvSpPr>
          <p:cNvPr id="9" name="TextBox 8"/>
          <p:cNvSpPr txBox="1"/>
          <p:nvPr/>
        </p:nvSpPr>
        <p:spPr>
          <a:xfrm>
            <a:off x="457200" y="1554480"/>
            <a:ext cx="5486400" cy="4572000"/>
          </a:xfrm>
          <a:prstGeom prst="rect">
            <a:avLst/>
          </a:prstGeom>
          <a:noFill/>
        </p:spPr>
        <p:txBody>
          <a:bodyPr wrap="square" anchor="t" lIns="45720" rIns="45720">
            <a:spAutoFit/>
          </a:bodyPr>
          <a:lstStyle/>
          <a:p>
            <a:pPr algn="l">
              <a:lnSpc>
                <a:spcPct val="115000"/>
              </a:lnSpc>
            </a:pPr>
            <a:r>
              <a:rPr sz="1800" b="1" i="0">
                <a:solidFill>
                  <a:srgbClr val="1E6FC8"/>
                </a:solidFill>
                <a:latin typeface="Calibri"/>
              </a:rPr>
              <a:t>Where a value gets fixed matters</a:t>
            </a:r>
          </a:p>
          <a:p>
            <a:pPr algn="l">
              <a:lnSpc>
                <a:spcPct val="115000"/>
              </a:lnSpc>
            </a:pPr>
            <a:r>
              <a:rPr sz="1500" b="0" i="0">
                <a:solidFill>
                  <a:srgbClr val="1A2B3C"/>
                </a:solidFill>
                <a:latin typeface="Calibri"/>
              </a:rPr>
              <a:t>•  Compile-time — constexpr, template params; zero runtime cost, needs a rebuild</a:t>
            </a:r>
          </a:p>
          <a:p>
            <a:pPr algn="l">
              <a:lnSpc>
                <a:spcPct val="115000"/>
              </a:lnSpc>
            </a:pPr>
            <a:r>
              <a:rPr sz="1500" b="0" i="0">
                <a:solidFill>
                  <a:srgbClr val="1A2B3C"/>
                </a:solidFill>
                <a:latin typeface="Calibri"/>
              </a:rPr>
              <a:t>•  Link-time — which libraries, which ABI</a:t>
            </a:r>
          </a:p>
          <a:p>
            <a:pPr algn="l">
              <a:lnSpc>
                <a:spcPct val="115000"/>
              </a:lnSpc>
            </a:pPr>
            <a:r>
              <a:rPr sz="1500" b="0" i="0">
                <a:solidFill>
                  <a:srgbClr val="1A2B3C"/>
                </a:solidFill>
                <a:latin typeface="Calibri"/>
              </a:rPr>
              <a:t>•  Env-time — parsed once in main() from the environment (12-factor's Config)</a:t>
            </a:r>
          </a:p>
          <a:p>
            <a:pPr algn="l">
              <a:lnSpc>
                <a:spcPct val="115000"/>
              </a:lnSpc>
            </a:pPr>
            <a:r>
              <a:rPr sz="1500" b="0" i="0">
                <a:solidFill>
                  <a:srgbClr val="1A2B3C"/>
                </a:solidFill>
                <a:latin typeface="Calibri"/>
              </a:rPr>
              <a:t>•  Runtime — reloadable policy; rare, and the most expensive</a:t>
            </a:r>
          </a:p>
          <a:p>
            <a:pPr algn="l">
              <a:lnSpc>
                <a:spcPct val="115000"/>
              </a:lnSpc>
            </a:pPr>
            <a:r>
              <a:rPr sz="1500" b="0" i="1">
                <a:solidFill>
                  <a:srgbClr val="90A4AE"/>
                </a:solidFill>
                <a:latin typeface="Calibri"/>
              </a:rPr>
              <a:t>Parse env-time config once into an immutable struct; pass it by const reference. No getenv scattered around.</a:t>
            </a:r>
          </a:p>
        </p:txBody>
      </p:sp>
      <p:pic>
        <p:nvPicPr>
          <p:cNvPr id="10" name="Picture 9" descr="06-twelve-factor.jpg"/>
          <p:cNvPicPr>
            <a:picLocks noChangeAspect="1"/>
          </p:cNvPicPr>
          <p:nvPr/>
        </p:nvPicPr>
        <p:blipFill>
          <a:blip r:embed="rId2"/>
          <a:stretch>
            <a:fillRect/>
          </a:stretch>
        </p:blipFill>
        <p:spPr>
          <a:xfrm>
            <a:off x="6217920" y="1554480"/>
            <a:ext cx="5486400" cy="2923442"/>
          </a:xfrm>
          <a:prstGeom prst="rect">
            <a:avLst/>
          </a:prstGeom>
        </p:spPr>
      </p:pic>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640080"/>
          </a:xfrm>
          <a:prstGeom prst="rect">
            <a:avLst/>
          </a:prstGeom>
          <a:solidFill>
            <a:srgbClr val="1E6F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37160"/>
            <a:ext cx="6400800" cy="365760"/>
          </a:xfrm>
          <a:prstGeom prst="rect">
            <a:avLst/>
          </a:prstGeom>
          <a:noFill/>
        </p:spPr>
        <p:txBody>
          <a:bodyPr wrap="square" anchor="t" lIns="45720" rIns="45720">
            <a:spAutoFit/>
          </a:bodyPr>
          <a:lstStyle/>
          <a:p>
            <a:pPr algn="l"/>
            <a:r>
              <a:rPr sz="2800" b="1" i="0">
                <a:solidFill>
                  <a:srgbClr val="FFFFFF"/>
                </a:solidFill>
                <a:latin typeface="Calibri"/>
              </a:rPr>
              <a:t>12-Factor adapted to C++</a:t>
            </a:r>
          </a:p>
        </p:txBody>
      </p:sp>
      <p:sp>
        <p:nvSpPr>
          <p:cNvPr id="4" name="Rounded Rectangle 3"/>
          <p:cNvSpPr/>
          <p:nvPr/>
        </p:nvSpPr>
        <p:spPr>
          <a:xfrm>
            <a:off x="10454335" y="164592"/>
            <a:ext cx="1463040" cy="320040"/>
          </a:xfrm>
          <a:prstGeom prst="roundRect">
            <a:avLst>
              <a:gd name="adj" fmla="val 50000"/>
            </a:avLst>
          </a:prstGeom>
          <a:solidFill>
            <a:srgbClr val="1A2B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454335" y="164592"/>
            <a:ext cx="1463040" cy="320040"/>
          </a:xfrm>
          <a:prstGeom prst="rect">
            <a:avLst/>
          </a:prstGeom>
          <a:noFill/>
        </p:spPr>
        <p:txBody>
          <a:bodyPr wrap="square" anchor="ctr" lIns="45720" rIns="45720">
            <a:spAutoFit/>
          </a:bodyPr>
          <a:lstStyle/>
          <a:p>
            <a:pPr algn="ctr"/>
            <a:r>
              <a:rPr sz="1400" b="1" i="0">
                <a:solidFill>
                  <a:srgbClr val="FFFFFF"/>
                </a:solidFill>
                <a:latin typeface="Calibri"/>
              </a:rPr>
              <a:t>Doc 06</a:t>
            </a:r>
          </a:p>
        </p:txBody>
      </p:sp>
      <p:sp>
        <p:nvSpPr>
          <p:cNvPr id="6" name="TextBox 5"/>
          <p:cNvSpPr txBox="1"/>
          <p:nvPr/>
        </p:nvSpPr>
        <p:spPr>
          <a:xfrm>
            <a:off x="365760" y="6537960"/>
            <a:ext cx="8229600" cy="274320"/>
          </a:xfrm>
          <a:prstGeom prst="rect">
            <a:avLst/>
          </a:prstGeom>
          <a:noFill/>
        </p:spPr>
        <p:txBody>
          <a:bodyPr wrap="square" anchor="t" lIns="45720" rIns="45720">
            <a:spAutoFit/>
          </a:bodyPr>
          <a:lstStyle/>
          <a:p>
            <a:pPr algn="l"/>
            <a:r>
              <a:rPr sz="1100" b="0" i="0">
                <a:solidFill>
                  <a:srgbClr val="90A4AE"/>
                </a:solidFill>
                <a:latin typeface="Calibri"/>
              </a:rPr>
              <a:t>Optimizing Modern C++ with Containers   |   12-Factor adapted to C++</a:t>
            </a:r>
          </a:p>
        </p:txBody>
      </p:sp>
      <p:sp>
        <p:nvSpPr>
          <p:cNvPr id="7" name="TextBox 6"/>
          <p:cNvSpPr txBox="1"/>
          <p:nvPr/>
        </p:nvSpPr>
        <p:spPr>
          <a:xfrm>
            <a:off x="10820095" y="6537960"/>
            <a:ext cx="1005840" cy="274320"/>
          </a:xfrm>
          <a:prstGeom prst="rect">
            <a:avLst/>
          </a:prstGeom>
          <a:noFill/>
        </p:spPr>
        <p:txBody>
          <a:bodyPr wrap="square" anchor="t" lIns="45720" rIns="45720">
            <a:spAutoFit/>
          </a:bodyPr>
          <a:lstStyle/>
          <a:p>
            <a:pPr algn="r"/>
            <a:r>
              <a:rPr sz="1100" b="0" i="0">
                <a:solidFill>
                  <a:srgbClr val="90A4AE"/>
                </a:solidFill>
                <a:latin typeface="Calibri"/>
              </a:rPr>
              <a:t>34 / 67</a:t>
            </a:r>
          </a:p>
        </p:txBody>
      </p:sp>
      <p:sp>
        <p:nvSpPr>
          <p:cNvPr id="8" name="TextBox 7"/>
          <p:cNvSpPr txBox="1"/>
          <p:nvPr/>
        </p:nvSpPr>
        <p:spPr>
          <a:xfrm>
            <a:off x="457200" y="822960"/>
            <a:ext cx="10972800" cy="548640"/>
          </a:xfrm>
          <a:prstGeom prst="rect">
            <a:avLst/>
          </a:prstGeom>
          <a:noFill/>
        </p:spPr>
        <p:txBody>
          <a:bodyPr wrap="square" anchor="t" lIns="45720" rIns="45720">
            <a:spAutoFit/>
          </a:bodyPr>
          <a:lstStyle/>
          <a:p>
            <a:pPr algn="l"/>
            <a:r>
              <a:rPr sz="2800" b="1" i="0">
                <a:solidFill>
                  <a:srgbClr val="1A2B3C"/>
                </a:solidFill>
                <a:latin typeface="Calibri"/>
              </a:rPr>
              <a:t>Processes &amp; Disposability</a:t>
            </a:r>
          </a:p>
        </p:txBody>
      </p:sp>
      <p:sp>
        <p:nvSpPr>
          <p:cNvPr id="9" name="TextBox 8"/>
          <p:cNvSpPr txBox="1"/>
          <p:nvPr/>
        </p:nvSpPr>
        <p:spPr>
          <a:xfrm>
            <a:off x="457200" y="1554480"/>
            <a:ext cx="11247120" cy="4572000"/>
          </a:xfrm>
          <a:prstGeom prst="rect">
            <a:avLst/>
          </a:prstGeom>
          <a:noFill/>
        </p:spPr>
        <p:txBody>
          <a:bodyPr wrap="square" anchor="t" lIns="45720" rIns="45720">
            <a:spAutoFit/>
          </a:bodyPr>
          <a:lstStyle/>
          <a:p>
            <a:pPr algn="l">
              <a:lnSpc>
                <a:spcPct val="115000"/>
              </a:lnSpc>
            </a:pPr>
            <a:r>
              <a:rPr sz="1800" b="1" i="0">
                <a:solidFill>
                  <a:srgbClr val="F5A623"/>
                </a:solidFill>
                <a:latin typeface="Calibri"/>
              </a:rPr>
              <a:t>Singletons and the startup tax</a:t>
            </a:r>
          </a:p>
          <a:p>
            <a:pPr algn="l">
              <a:lnSpc>
                <a:spcPct val="115000"/>
              </a:lnSpc>
            </a:pPr>
            <a:r>
              <a:rPr sz="1500" b="0" i="0">
                <a:solidFill>
                  <a:srgbClr val="1A2B3C"/>
                </a:solidFill>
                <a:latin typeface="Calibri"/>
              </a:rPr>
              <a:t>•  Processes: the Meyers singleton hides ownership — inject instead</a:t>
            </a:r>
          </a:p>
          <a:p>
            <a:pPr algn="l">
              <a:lnSpc>
                <a:spcPct val="115000"/>
              </a:lnSpc>
            </a:pPr>
            <a:r>
              <a:rPr sz="1500" b="0" i="0">
                <a:solidFill>
                  <a:srgbClr val="1A2B3C"/>
                </a:solidFill>
                <a:latin typeface="Calibri"/>
              </a:rPr>
              <a:t>•  Disposability: fast startup and clean shutdown are features under orchestration</a:t>
            </a:r>
          </a:p>
          <a:p>
            <a:pPr algn="l">
              <a:lnSpc>
                <a:spcPct val="115000"/>
              </a:lnSpc>
            </a:pPr>
            <a:r>
              <a:rPr sz="1500" b="0" i="0">
                <a:solidFill>
                  <a:srgbClr val="1A2B3C"/>
                </a:solidFill>
                <a:latin typeface="Calibri"/>
              </a:rPr>
              <a:t>•  The C++ startup tax — static initialization order, constinit to tame it</a:t>
            </a:r>
          </a:p>
          <a:p>
            <a:pPr algn="l">
              <a:lnSpc>
                <a:spcPct val="115000"/>
              </a:lnSpc>
            </a:pPr>
            <a:r>
              <a:rPr sz="1500" b="0" i="0">
                <a:solidFill>
                  <a:srgbClr val="1A2B3C"/>
                </a:solidFill>
                <a:latin typeface="Calibri"/>
              </a:rPr>
              <a:t>•  Staged startup: NOT_SERVING → warm → SERVING (Doc 9)</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640080"/>
          </a:xfrm>
          <a:prstGeom prst="rect">
            <a:avLst/>
          </a:prstGeom>
          <a:solidFill>
            <a:srgbClr val="1E6F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37160"/>
            <a:ext cx="6400800" cy="365760"/>
          </a:xfrm>
          <a:prstGeom prst="rect">
            <a:avLst/>
          </a:prstGeom>
          <a:noFill/>
        </p:spPr>
        <p:txBody>
          <a:bodyPr wrap="square" anchor="t" lIns="45720" rIns="45720">
            <a:spAutoFit/>
          </a:bodyPr>
          <a:lstStyle/>
          <a:p>
            <a:pPr algn="l"/>
            <a:r>
              <a:rPr sz="2800" b="1" i="0">
                <a:solidFill>
                  <a:srgbClr val="FFFFFF"/>
                </a:solidFill>
                <a:latin typeface="Calibri"/>
              </a:rPr>
              <a:t>12-Factor adapted to C++</a:t>
            </a:r>
          </a:p>
        </p:txBody>
      </p:sp>
      <p:sp>
        <p:nvSpPr>
          <p:cNvPr id="4" name="Rounded Rectangle 3"/>
          <p:cNvSpPr/>
          <p:nvPr/>
        </p:nvSpPr>
        <p:spPr>
          <a:xfrm>
            <a:off x="10454335" y="164592"/>
            <a:ext cx="1463040" cy="320040"/>
          </a:xfrm>
          <a:prstGeom prst="roundRect">
            <a:avLst>
              <a:gd name="adj" fmla="val 50000"/>
            </a:avLst>
          </a:prstGeom>
          <a:solidFill>
            <a:srgbClr val="1A2B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454335" y="164592"/>
            <a:ext cx="1463040" cy="320040"/>
          </a:xfrm>
          <a:prstGeom prst="rect">
            <a:avLst/>
          </a:prstGeom>
          <a:noFill/>
        </p:spPr>
        <p:txBody>
          <a:bodyPr wrap="square" anchor="ctr" lIns="45720" rIns="45720">
            <a:spAutoFit/>
          </a:bodyPr>
          <a:lstStyle/>
          <a:p>
            <a:pPr algn="ctr"/>
            <a:r>
              <a:rPr sz="1400" b="1" i="0">
                <a:solidFill>
                  <a:srgbClr val="FFFFFF"/>
                </a:solidFill>
                <a:latin typeface="Calibri"/>
              </a:rPr>
              <a:t>Doc 06</a:t>
            </a:r>
          </a:p>
        </p:txBody>
      </p:sp>
      <p:sp>
        <p:nvSpPr>
          <p:cNvPr id="6" name="TextBox 5"/>
          <p:cNvSpPr txBox="1"/>
          <p:nvPr/>
        </p:nvSpPr>
        <p:spPr>
          <a:xfrm>
            <a:off x="365760" y="6537960"/>
            <a:ext cx="8229600" cy="274320"/>
          </a:xfrm>
          <a:prstGeom prst="rect">
            <a:avLst/>
          </a:prstGeom>
          <a:noFill/>
        </p:spPr>
        <p:txBody>
          <a:bodyPr wrap="square" anchor="t" lIns="45720" rIns="45720">
            <a:spAutoFit/>
          </a:bodyPr>
          <a:lstStyle/>
          <a:p>
            <a:pPr algn="l"/>
            <a:r>
              <a:rPr sz="1100" b="0" i="0">
                <a:solidFill>
                  <a:srgbClr val="90A4AE"/>
                </a:solidFill>
                <a:latin typeface="Calibri"/>
              </a:rPr>
              <a:t>Optimizing Modern C++ with Containers   |   12-Factor adapted to C++</a:t>
            </a:r>
          </a:p>
        </p:txBody>
      </p:sp>
      <p:sp>
        <p:nvSpPr>
          <p:cNvPr id="7" name="TextBox 6"/>
          <p:cNvSpPr txBox="1"/>
          <p:nvPr/>
        </p:nvSpPr>
        <p:spPr>
          <a:xfrm>
            <a:off x="10820095" y="6537960"/>
            <a:ext cx="1005840" cy="274320"/>
          </a:xfrm>
          <a:prstGeom prst="rect">
            <a:avLst/>
          </a:prstGeom>
          <a:noFill/>
        </p:spPr>
        <p:txBody>
          <a:bodyPr wrap="square" anchor="t" lIns="45720" rIns="45720">
            <a:spAutoFit/>
          </a:bodyPr>
          <a:lstStyle/>
          <a:p>
            <a:pPr algn="r"/>
            <a:r>
              <a:rPr sz="1100" b="0" i="0">
                <a:solidFill>
                  <a:srgbClr val="90A4AE"/>
                </a:solidFill>
                <a:latin typeface="Calibri"/>
              </a:rPr>
              <a:t>35 / 67</a:t>
            </a:r>
          </a:p>
        </p:txBody>
      </p:sp>
      <p:sp>
        <p:nvSpPr>
          <p:cNvPr id="8" name="TextBox 7"/>
          <p:cNvSpPr txBox="1"/>
          <p:nvPr/>
        </p:nvSpPr>
        <p:spPr>
          <a:xfrm>
            <a:off x="457200" y="822960"/>
            <a:ext cx="10972800" cy="548640"/>
          </a:xfrm>
          <a:prstGeom prst="rect">
            <a:avLst/>
          </a:prstGeom>
          <a:noFill/>
        </p:spPr>
        <p:txBody>
          <a:bodyPr wrap="square" anchor="t" lIns="45720" rIns="45720">
            <a:spAutoFit/>
          </a:bodyPr>
          <a:lstStyle/>
          <a:p>
            <a:pPr algn="l"/>
            <a:r>
              <a:rPr sz="2800" b="1" i="0">
                <a:solidFill>
                  <a:srgbClr val="1A2B3C"/>
                </a:solidFill>
                <a:latin typeface="Calibri"/>
              </a:rPr>
              <a:t>Taming the startup tax with constinit</a:t>
            </a:r>
          </a:p>
        </p:txBody>
      </p:sp>
      <p:sp>
        <p:nvSpPr>
          <p:cNvPr id="9" name="TextBox 8"/>
          <p:cNvSpPr txBox="1"/>
          <p:nvPr/>
        </p:nvSpPr>
        <p:spPr>
          <a:xfrm>
            <a:off x="457200" y="1554480"/>
            <a:ext cx="5486400" cy="4572000"/>
          </a:xfrm>
          <a:prstGeom prst="rect">
            <a:avLst/>
          </a:prstGeom>
          <a:noFill/>
        </p:spPr>
        <p:txBody>
          <a:bodyPr wrap="square" anchor="t" lIns="45720" rIns="45720">
            <a:spAutoFit/>
          </a:bodyPr>
          <a:lstStyle/>
          <a:p>
            <a:pPr algn="l">
              <a:lnSpc>
                <a:spcPct val="115000"/>
              </a:lnSpc>
            </a:pPr>
            <a:r>
              <a:rPr sz="1800" b="1" i="0">
                <a:solidFill>
                  <a:srgbClr val="E84855"/>
                </a:solidFill>
                <a:latin typeface="Calibri"/>
              </a:rPr>
              <a:t>Static init order is a latency and correctness risk</a:t>
            </a:r>
          </a:p>
          <a:p>
            <a:pPr algn="l">
              <a:lnSpc>
                <a:spcPct val="115000"/>
              </a:lnSpc>
            </a:pPr>
            <a:r>
              <a:rPr sz="1500" b="0" i="0">
                <a:solidFill>
                  <a:srgbClr val="1A2B3C"/>
                </a:solidFill>
                <a:latin typeface="Calibri"/>
              </a:rPr>
              <a:t>•  Non-trivial globals run constructors before main() — the startup tax</a:t>
            </a:r>
          </a:p>
          <a:p>
            <a:pPr algn="l">
              <a:lnSpc>
                <a:spcPct val="115000"/>
              </a:lnSpc>
            </a:pPr>
            <a:r>
              <a:rPr sz="1500" b="0" i="0">
                <a:solidFill>
                  <a:srgbClr val="1A2B3C"/>
                </a:solidFill>
                <a:latin typeface="Calibri"/>
              </a:rPr>
              <a:t>•  The static initialization order fiasco: cross-TU ordering is undefined</a:t>
            </a:r>
          </a:p>
          <a:p>
            <a:pPr algn="l">
              <a:lnSpc>
                <a:spcPct val="115000"/>
              </a:lnSpc>
            </a:pPr>
            <a:r>
              <a:rPr sz="1500" b="0" i="0">
                <a:solidFill>
                  <a:srgbClr val="1A2B3C"/>
                </a:solidFill>
                <a:latin typeface="Calibri"/>
              </a:rPr>
              <a:t>•  constinit forces compile-time init — no runtime constructor, defined order</a:t>
            </a:r>
          </a:p>
          <a:p>
            <a:pPr algn="l">
              <a:lnSpc>
                <a:spcPct val="115000"/>
              </a:lnSpc>
            </a:pPr>
            <a:r>
              <a:rPr sz="1500" b="0" i="0">
                <a:solidFill>
                  <a:srgbClr val="1A2B3C"/>
                </a:solidFill>
                <a:latin typeface="Calibri"/>
              </a:rPr>
              <a:t>•  Prefer locals in main() over globals; constinit for the unavoidable ones</a:t>
            </a:r>
          </a:p>
        </p:txBody>
      </p:sp>
      <p:sp>
        <p:nvSpPr>
          <p:cNvPr id="10" name="Rectangle 9"/>
          <p:cNvSpPr/>
          <p:nvPr/>
        </p:nvSpPr>
        <p:spPr>
          <a:xfrm>
            <a:off x="6217920" y="1554480"/>
            <a:ext cx="5486400" cy="4572000"/>
          </a:xfrm>
          <a:prstGeom prst="rect">
            <a:avLst/>
          </a:prstGeom>
          <a:solidFill>
            <a:srgbClr val="0D21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355080" y="1645920"/>
            <a:ext cx="5212080" cy="4389120"/>
          </a:xfrm>
          <a:prstGeom prst="rect">
            <a:avLst/>
          </a:prstGeom>
          <a:noFill/>
        </p:spPr>
        <p:txBody>
          <a:bodyPr wrap="square" lIns="45720" rIns="45720">
            <a:spAutoFit/>
          </a:bodyPr>
          <a:lstStyle/>
          <a:p>
            <a:r>
              <a:rPr sz="1100">
                <a:solidFill>
                  <a:srgbClr val="ECF0F1"/>
                </a:solidFill>
                <a:latin typeface="Consolas"/>
              </a:rPr>
              <a:t>// Forced to be initialized at compile time — zero startup cost,</a:t>
            </a:r>
          </a:p>
          <a:p>
            <a:r>
              <a:rPr sz="1100">
                <a:solidFill>
                  <a:srgbClr val="ECF0F1"/>
                </a:solidFill>
                <a:latin typeface="Consolas"/>
              </a:rPr>
              <a:t>// no ordering fiasco:</a:t>
            </a:r>
          </a:p>
          <a:p>
            <a:r>
              <a:rPr sz="1100">
                <a:solidFill>
                  <a:srgbClr val="ECF0F1"/>
                </a:solidFill>
                <a:latin typeface="Consolas"/>
              </a:rPr>
              <a:t>constinit std::string_view kBuildVersion = "1.4.2";</a:t>
            </a:r>
          </a:p>
          <a:p>
            <a:r>
              <a:rPr sz="1100">
                <a:solidFill>
                  <a:srgbClr val="ECF0F1"/>
                </a:solidFill>
                <a:latin typeface="Consolas"/>
              </a:rPr>
              <a:t> </a:t>
            </a:r>
          </a:p>
          <a:p>
            <a:r>
              <a:rPr sz="1100">
                <a:solidFill>
                  <a:srgbClr val="ECF0F1"/>
                </a:solidFill>
                <a:latin typeface="Consolas"/>
              </a:rPr>
              <a:t>// Better still: own it in main() and inject it.</a:t>
            </a:r>
          </a:p>
          <a:p>
            <a:r>
              <a:rPr sz="1100">
                <a:solidFill>
                  <a:srgbClr val="ECF0F1"/>
                </a:solidFill>
                <a:latin typeface="Consolas"/>
              </a:rPr>
              <a:t>// Worst: a non-trivial global that runs a constructor</a:t>
            </a:r>
          </a:p>
          <a:p>
            <a:r>
              <a:rPr sz="1100">
                <a:solidFill>
                  <a:srgbClr val="ECF0F1"/>
                </a:solidFill>
                <a:latin typeface="Consolas"/>
              </a:rPr>
              <a:t>//        before main() in an undefined cross-TU order.</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640080"/>
          </a:xfrm>
          <a:prstGeom prst="rect">
            <a:avLst/>
          </a:prstGeom>
          <a:solidFill>
            <a:srgbClr val="1E6F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37160"/>
            <a:ext cx="6400800" cy="365760"/>
          </a:xfrm>
          <a:prstGeom prst="rect">
            <a:avLst/>
          </a:prstGeom>
          <a:noFill/>
        </p:spPr>
        <p:txBody>
          <a:bodyPr wrap="square" anchor="t" lIns="45720" rIns="45720">
            <a:spAutoFit/>
          </a:bodyPr>
          <a:lstStyle/>
          <a:p>
            <a:pPr algn="l"/>
            <a:r>
              <a:rPr sz="2800" b="1" i="0">
                <a:solidFill>
                  <a:srgbClr val="FFFFFF"/>
                </a:solidFill>
                <a:latin typeface="Calibri"/>
              </a:rPr>
              <a:t>12-Factor adapted to C++</a:t>
            </a:r>
          </a:p>
        </p:txBody>
      </p:sp>
      <p:sp>
        <p:nvSpPr>
          <p:cNvPr id="4" name="Rounded Rectangle 3"/>
          <p:cNvSpPr/>
          <p:nvPr/>
        </p:nvSpPr>
        <p:spPr>
          <a:xfrm>
            <a:off x="10454335" y="164592"/>
            <a:ext cx="1463040" cy="320040"/>
          </a:xfrm>
          <a:prstGeom prst="roundRect">
            <a:avLst>
              <a:gd name="adj" fmla="val 50000"/>
            </a:avLst>
          </a:prstGeom>
          <a:solidFill>
            <a:srgbClr val="1A2B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454335" y="164592"/>
            <a:ext cx="1463040" cy="320040"/>
          </a:xfrm>
          <a:prstGeom prst="rect">
            <a:avLst/>
          </a:prstGeom>
          <a:noFill/>
        </p:spPr>
        <p:txBody>
          <a:bodyPr wrap="square" anchor="ctr" lIns="45720" rIns="45720">
            <a:spAutoFit/>
          </a:bodyPr>
          <a:lstStyle/>
          <a:p>
            <a:pPr algn="ctr"/>
            <a:r>
              <a:rPr sz="1400" b="1" i="0">
                <a:solidFill>
                  <a:srgbClr val="FFFFFF"/>
                </a:solidFill>
                <a:latin typeface="Calibri"/>
              </a:rPr>
              <a:t>Doc 06</a:t>
            </a:r>
          </a:p>
        </p:txBody>
      </p:sp>
      <p:sp>
        <p:nvSpPr>
          <p:cNvPr id="6" name="TextBox 5"/>
          <p:cNvSpPr txBox="1"/>
          <p:nvPr/>
        </p:nvSpPr>
        <p:spPr>
          <a:xfrm>
            <a:off x="365760" y="6537960"/>
            <a:ext cx="8229600" cy="274320"/>
          </a:xfrm>
          <a:prstGeom prst="rect">
            <a:avLst/>
          </a:prstGeom>
          <a:noFill/>
        </p:spPr>
        <p:txBody>
          <a:bodyPr wrap="square" anchor="t" lIns="45720" rIns="45720">
            <a:spAutoFit/>
          </a:bodyPr>
          <a:lstStyle/>
          <a:p>
            <a:pPr algn="l"/>
            <a:r>
              <a:rPr sz="1100" b="0" i="0">
                <a:solidFill>
                  <a:srgbClr val="90A4AE"/>
                </a:solidFill>
                <a:latin typeface="Calibri"/>
              </a:rPr>
              <a:t>Optimizing Modern C++ with Containers   |   12-Factor adapted to C++</a:t>
            </a:r>
          </a:p>
        </p:txBody>
      </p:sp>
      <p:sp>
        <p:nvSpPr>
          <p:cNvPr id="7" name="TextBox 6"/>
          <p:cNvSpPr txBox="1"/>
          <p:nvPr/>
        </p:nvSpPr>
        <p:spPr>
          <a:xfrm>
            <a:off x="10820095" y="6537960"/>
            <a:ext cx="1005840" cy="274320"/>
          </a:xfrm>
          <a:prstGeom prst="rect">
            <a:avLst/>
          </a:prstGeom>
          <a:noFill/>
        </p:spPr>
        <p:txBody>
          <a:bodyPr wrap="square" anchor="t" lIns="45720" rIns="45720">
            <a:spAutoFit/>
          </a:bodyPr>
          <a:lstStyle/>
          <a:p>
            <a:pPr algn="r"/>
            <a:r>
              <a:rPr sz="1100" b="0" i="0">
                <a:solidFill>
                  <a:srgbClr val="90A4AE"/>
                </a:solidFill>
                <a:latin typeface="Calibri"/>
              </a:rPr>
              <a:t>36 / 67</a:t>
            </a:r>
          </a:p>
        </p:txBody>
      </p:sp>
      <p:sp>
        <p:nvSpPr>
          <p:cNvPr id="8" name="TextBox 7"/>
          <p:cNvSpPr txBox="1"/>
          <p:nvPr/>
        </p:nvSpPr>
        <p:spPr>
          <a:xfrm>
            <a:off x="457200" y="822960"/>
            <a:ext cx="10972800" cy="548640"/>
          </a:xfrm>
          <a:prstGeom prst="rect">
            <a:avLst/>
          </a:prstGeom>
          <a:noFill/>
        </p:spPr>
        <p:txBody>
          <a:bodyPr wrap="square" anchor="t" lIns="45720" rIns="45720">
            <a:spAutoFit/>
          </a:bodyPr>
          <a:lstStyle/>
          <a:p>
            <a:pPr algn="l"/>
            <a:r>
              <a:rPr sz="2800" b="1" i="0">
                <a:solidFill>
                  <a:srgbClr val="1A2B3C"/>
                </a:solidFill>
                <a:latin typeface="Calibri"/>
              </a:rPr>
              <a:t>The other factors, briefly</a:t>
            </a:r>
          </a:p>
        </p:txBody>
      </p:sp>
      <p:sp>
        <p:nvSpPr>
          <p:cNvPr id="9" name="TextBox 8"/>
          <p:cNvSpPr txBox="1"/>
          <p:nvPr/>
        </p:nvSpPr>
        <p:spPr>
          <a:xfrm>
            <a:off x="457200" y="1554480"/>
            <a:ext cx="11247120" cy="4572000"/>
          </a:xfrm>
          <a:prstGeom prst="rect">
            <a:avLst/>
          </a:prstGeom>
          <a:noFill/>
        </p:spPr>
        <p:txBody>
          <a:bodyPr wrap="square" anchor="t" lIns="45720" rIns="45720">
            <a:spAutoFit/>
          </a:bodyPr>
          <a:lstStyle/>
          <a:p>
            <a:pPr algn="l">
              <a:lnSpc>
                <a:spcPct val="115000"/>
              </a:lnSpc>
            </a:pPr>
            <a:r>
              <a:rPr sz="1800" b="1" i="0">
                <a:solidFill>
                  <a:srgbClr val="1E6FC8"/>
                </a:solidFill>
                <a:latin typeface="Calibri"/>
              </a:rPr>
              <a:t>Most of 12-factor maps cleanly</a:t>
            </a:r>
          </a:p>
          <a:p>
            <a:pPr algn="l">
              <a:lnSpc>
                <a:spcPct val="115000"/>
              </a:lnSpc>
            </a:pPr>
            <a:r>
              <a:rPr sz="1500" b="0" i="0">
                <a:solidFill>
                  <a:srgbClr val="1A2B3C"/>
                </a:solidFill>
                <a:latin typeface="Calibri"/>
              </a:rPr>
              <a:t>•  Logs → stdout, the collector owns persistence (Doc 8)</a:t>
            </a:r>
          </a:p>
          <a:p>
            <a:pPr algn="l">
              <a:lnSpc>
                <a:spcPct val="115000"/>
              </a:lnSpc>
            </a:pPr>
            <a:r>
              <a:rPr sz="1500" b="0" i="0">
                <a:solidFill>
                  <a:srgbClr val="1A2B3C"/>
                </a:solidFill>
                <a:latin typeface="Calibri"/>
              </a:rPr>
              <a:t>•  Backing services → attached resources, swappable by config (Doc 7)</a:t>
            </a:r>
          </a:p>
          <a:p>
            <a:pPr algn="l">
              <a:lnSpc>
                <a:spcPct val="115000"/>
              </a:lnSpc>
            </a:pPr>
            <a:r>
              <a:rPr sz="1500" b="0" i="0">
                <a:solidFill>
                  <a:srgbClr val="1A2B3C"/>
                </a:solidFill>
                <a:latin typeface="Calibri"/>
              </a:rPr>
              <a:t>•  Build/release/run → the multi-stage Containerfile + a lockfile (Doc 11)</a:t>
            </a:r>
          </a:p>
          <a:p>
            <a:pPr algn="l">
              <a:lnSpc>
                <a:spcPct val="115000"/>
              </a:lnSpc>
            </a:pPr>
            <a:r>
              <a:rPr sz="1500" b="0" i="0">
                <a:solidFill>
                  <a:srgbClr val="1A2B3C"/>
                </a:solidFill>
                <a:latin typeface="Calibri"/>
              </a:rPr>
              <a:t>•  Port binding, concurrency, dev/prod parity → natural fits for a C++ service</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1828800"/>
            <a:ext cx="3657600" cy="2286000"/>
          </a:xfrm>
          <a:prstGeom prst="rect">
            <a:avLst/>
          </a:prstGeom>
          <a:noFill/>
        </p:spPr>
        <p:txBody>
          <a:bodyPr wrap="square" anchor="t" lIns="45720" rIns="45720">
            <a:spAutoFit/>
          </a:bodyPr>
          <a:lstStyle/>
          <a:p>
            <a:pPr algn="l"/>
            <a:r>
              <a:rPr sz="18000" b="1" i="0">
                <a:solidFill>
                  <a:srgbClr val="00BCD4"/>
                </a:solidFill>
                <a:latin typeface="Calibri"/>
              </a:rPr>
              <a:t>§7</a:t>
            </a:r>
          </a:p>
        </p:txBody>
      </p:sp>
      <p:sp>
        <p:nvSpPr>
          <p:cNvPr id="3" name="TextBox 2"/>
          <p:cNvSpPr txBox="1"/>
          <p:nvPr/>
        </p:nvSpPr>
        <p:spPr>
          <a:xfrm>
            <a:off x="4114800" y="2103120"/>
            <a:ext cx="7772400" cy="1828800"/>
          </a:xfrm>
          <a:prstGeom prst="rect">
            <a:avLst/>
          </a:prstGeom>
          <a:noFill/>
        </p:spPr>
        <p:txBody>
          <a:bodyPr wrap="square" anchor="t" lIns="45720" rIns="45720">
            <a:spAutoFit/>
          </a:bodyPr>
          <a:lstStyle/>
          <a:p>
            <a:pPr algn="l"/>
            <a:r>
              <a:rPr sz="3600" b="1" i="0">
                <a:solidFill>
                  <a:srgbClr val="FFFFFF"/>
                </a:solidFill>
                <a:latin typeface="Calibri"/>
              </a:rPr>
              <a:t>State externalization</a:t>
            </a:r>
          </a:p>
        </p:txBody>
      </p:sp>
      <p:sp>
        <p:nvSpPr>
          <p:cNvPr id="4" name="TextBox 3"/>
          <p:cNvSpPr txBox="1"/>
          <p:nvPr/>
        </p:nvSpPr>
        <p:spPr>
          <a:xfrm>
            <a:off x="4114800" y="3474720"/>
            <a:ext cx="7772400" cy="1828800"/>
          </a:xfrm>
          <a:prstGeom prst="rect">
            <a:avLst/>
          </a:prstGeom>
          <a:noFill/>
        </p:spPr>
        <p:txBody>
          <a:bodyPr wrap="square" anchor="t" lIns="45720" rIns="45720">
            <a:spAutoFit/>
          </a:bodyPr>
          <a:lstStyle/>
          <a:p>
            <a:pPr algn="l"/>
            <a:r>
              <a:rPr sz="2000" b="0" i="1">
                <a:solidFill>
                  <a:srgbClr val="90A4AE"/>
                </a:solidFill>
                <a:latin typeface="Calibri"/>
              </a:rPr>
              <a:t>What goes outside the process, and how to reach it safely.</a:t>
            </a:r>
          </a:p>
        </p:txBody>
      </p:sp>
      <p:sp>
        <p:nvSpPr>
          <p:cNvPr id="5" name="TextBox 4"/>
          <p:cNvSpPr txBox="1"/>
          <p:nvPr/>
        </p:nvSpPr>
        <p:spPr>
          <a:xfrm>
            <a:off x="10820095" y="6400800"/>
            <a:ext cx="914400" cy="274320"/>
          </a:xfrm>
          <a:prstGeom prst="rect">
            <a:avLst/>
          </a:prstGeom>
          <a:noFill/>
        </p:spPr>
        <p:txBody>
          <a:bodyPr wrap="square" anchor="t" lIns="45720" rIns="45720">
            <a:spAutoFit/>
          </a:bodyPr>
          <a:lstStyle/>
          <a:p>
            <a:pPr algn="r"/>
            <a:r>
              <a:rPr sz="1100" b="0" i="0">
                <a:solidFill>
                  <a:srgbClr val="90A4AE"/>
                </a:solidFill>
                <a:latin typeface="Calibri"/>
              </a:rPr>
              <a:t>37 / 67</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640080"/>
          </a:xfrm>
          <a:prstGeom prst="rect">
            <a:avLst/>
          </a:prstGeom>
          <a:solidFill>
            <a:srgbClr val="1E6F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37160"/>
            <a:ext cx="6400800" cy="365760"/>
          </a:xfrm>
          <a:prstGeom prst="rect">
            <a:avLst/>
          </a:prstGeom>
          <a:noFill/>
        </p:spPr>
        <p:txBody>
          <a:bodyPr wrap="square" anchor="t" lIns="45720" rIns="45720">
            <a:spAutoFit/>
          </a:bodyPr>
          <a:lstStyle/>
          <a:p>
            <a:pPr algn="l"/>
            <a:r>
              <a:rPr sz="2800" b="1" i="0">
                <a:solidFill>
                  <a:srgbClr val="FFFFFF"/>
                </a:solidFill>
                <a:latin typeface="Calibri"/>
              </a:rPr>
              <a:t>State externalization</a:t>
            </a:r>
          </a:p>
        </p:txBody>
      </p:sp>
      <p:sp>
        <p:nvSpPr>
          <p:cNvPr id="4" name="Rounded Rectangle 3"/>
          <p:cNvSpPr/>
          <p:nvPr/>
        </p:nvSpPr>
        <p:spPr>
          <a:xfrm>
            <a:off x="10454335" y="164592"/>
            <a:ext cx="1463040" cy="320040"/>
          </a:xfrm>
          <a:prstGeom prst="roundRect">
            <a:avLst>
              <a:gd name="adj" fmla="val 50000"/>
            </a:avLst>
          </a:prstGeom>
          <a:solidFill>
            <a:srgbClr val="1A2B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454335" y="164592"/>
            <a:ext cx="1463040" cy="320040"/>
          </a:xfrm>
          <a:prstGeom prst="rect">
            <a:avLst/>
          </a:prstGeom>
          <a:noFill/>
        </p:spPr>
        <p:txBody>
          <a:bodyPr wrap="square" anchor="ctr" lIns="45720" rIns="45720">
            <a:spAutoFit/>
          </a:bodyPr>
          <a:lstStyle/>
          <a:p>
            <a:pPr algn="ctr"/>
            <a:r>
              <a:rPr sz="1400" b="1" i="0">
                <a:solidFill>
                  <a:srgbClr val="FFFFFF"/>
                </a:solidFill>
                <a:latin typeface="Calibri"/>
              </a:rPr>
              <a:t>Doc 07</a:t>
            </a:r>
          </a:p>
        </p:txBody>
      </p:sp>
      <p:sp>
        <p:nvSpPr>
          <p:cNvPr id="6" name="TextBox 5"/>
          <p:cNvSpPr txBox="1"/>
          <p:nvPr/>
        </p:nvSpPr>
        <p:spPr>
          <a:xfrm>
            <a:off x="365760" y="6537960"/>
            <a:ext cx="8229600" cy="274320"/>
          </a:xfrm>
          <a:prstGeom prst="rect">
            <a:avLst/>
          </a:prstGeom>
          <a:noFill/>
        </p:spPr>
        <p:txBody>
          <a:bodyPr wrap="square" anchor="t" lIns="45720" rIns="45720">
            <a:spAutoFit/>
          </a:bodyPr>
          <a:lstStyle/>
          <a:p>
            <a:pPr algn="l"/>
            <a:r>
              <a:rPr sz="1100" b="0" i="0">
                <a:solidFill>
                  <a:srgbClr val="90A4AE"/>
                </a:solidFill>
                <a:latin typeface="Calibri"/>
              </a:rPr>
              <a:t>Optimizing Modern C++ with Containers   |   State externalization</a:t>
            </a:r>
          </a:p>
        </p:txBody>
      </p:sp>
      <p:sp>
        <p:nvSpPr>
          <p:cNvPr id="7" name="TextBox 6"/>
          <p:cNvSpPr txBox="1"/>
          <p:nvPr/>
        </p:nvSpPr>
        <p:spPr>
          <a:xfrm>
            <a:off x="10820095" y="6537960"/>
            <a:ext cx="1005840" cy="274320"/>
          </a:xfrm>
          <a:prstGeom prst="rect">
            <a:avLst/>
          </a:prstGeom>
          <a:noFill/>
        </p:spPr>
        <p:txBody>
          <a:bodyPr wrap="square" anchor="t" lIns="45720" rIns="45720">
            <a:spAutoFit/>
          </a:bodyPr>
          <a:lstStyle/>
          <a:p>
            <a:pPr algn="r"/>
            <a:r>
              <a:rPr sz="1100" b="0" i="0">
                <a:solidFill>
                  <a:srgbClr val="90A4AE"/>
                </a:solidFill>
                <a:latin typeface="Calibri"/>
              </a:rPr>
              <a:t>38 / 67</a:t>
            </a:r>
          </a:p>
        </p:txBody>
      </p:sp>
      <p:sp>
        <p:nvSpPr>
          <p:cNvPr id="8" name="TextBox 7"/>
          <p:cNvSpPr txBox="1"/>
          <p:nvPr/>
        </p:nvSpPr>
        <p:spPr>
          <a:xfrm>
            <a:off x="457200" y="822960"/>
            <a:ext cx="10972800" cy="548640"/>
          </a:xfrm>
          <a:prstGeom prst="rect">
            <a:avLst/>
          </a:prstGeom>
          <a:noFill/>
        </p:spPr>
        <p:txBody>
          <a:bodyPr wrap="square" anchor="t" lIns="45720" rIns="45720">
            <a:spAutoFit/>
          </a:bodyPr>
          <a:lstStyle/>
          <a:p>
            <a:pPr algn="l"/>
            <a:r>
              <a:rPr sz="2800" b="1" i="0">
                <a:solidFill>
                  <a:srgbClr val="1A2B3C"/>
                </a:solidFill>
                <a:latin typeface="Calibri"/>
              </a:rPr>
              <a:t>Pools, RAII checkout, idempotency</a:t>
            </a:r>
          </a:p>
        </p:txBody>
      </p:sp>
      <p:sp>
        <p:nvSpPr>
          <p:cNvPr id="9" name="TextBox 8"/>
          <p:cNvSpPr txBox="1"/>
          <p:nvPr/>
        </p:nvSpPr>
        <p:spPr>
          <a:xfrm>
            <a:off x="457200" y="1554480"/>
            <a:ext cx="5486400" cy="4572000"/>
          </a:xfrm>
          <a:prstGeom prst="rect">
            <a:avLst/>
          </a:prstGeom>
          <a:noFill/>
        </p:spPr>
        <p:txBody>
          <a:bodyPr wrap="square" anchor="t" lIns="45720" rIns="45720">
            <a:spAutoFit/>
          </a:bodyPr>
          <a:lstStyle/>
          <a:p>
            <a:pPr algn="l">
              <a:lnSpc>
                <a:spcPct val="115000"/>
              </a:lnSpc>
            </a:pPr>
            <a:r>
              <a:rPr sz="1800" b="1" i="0">
                <a:solidFill>
                  <a:srgbClr val="1E6FC8"/>
                </a:solidFill>
                <a:latin typeface="Calibri"/>
              </a:rPr>
              <a:t>Backing services done right</a:t>
            </a:r>
          </a:p>
          <a:p>
            <a:pPr algn="l">
              <a:lnSpc>
                <a:spcPct val="115000"/>
              </a:lnSpc>
            </a:pPr>
            <a:r>
              <a:rPr sz="1500" b="0" i="0">
                <a:solidFill>
                  <a:srgbClr val="1A2B3C"/>
                </a:solidFill>
                <a:latin typeface="Calibri"/>
              </a:rPr>
              <a:t>•  Connection pool = process-scoped infra; per-handler RAII checkout</a:t>
            </a:r>
          </a:p>
          <a:p>
            <a:pPr algn="l">
              <a:lnSpc>
                <a:spcPct val="115000"/>
              </a:lnSpc>
            </a:pPr>
            <a:r>
              <a:rPr sz="1500" b="0" i="0">
                <a:solidFill>
                  <a:srgbClr val="1A2B3C"/>
                </a:solidFill>
                <a:latin typeface="Calibri"/>
              </a:rPr>
              <a:t>•  ScopedConnection returns the connection on scope exit; invalidate() on broken</a:t>
            </a:r>
          </a:p>
          <a:p>
            <a:pPr algn="l">
              <a:lnSpc>
                <a:spcPct val="115000"/>
              </a:lnSpc>
            </a:pPr>
            <a:r>
              <a:rPr sz="1500" b="0" i="0">
                <a:solidFill>
                  <a:srgbClr val="1A2B3C"/>
                </a:solidFill>
                <a:latin typeface="Calibri"/>
              </a:rPr>
              <a:t>•  Idempotency keys + ON CONFLICT DO NOTHING = DB-authoritative dedup</a:t>
            </a:r>
          </a:p>
          <a:p>
            <a:pPr algn="l">
              <a:lnSpc>
                <a:spcPct val="115000"/>
              </a:lnSpc>
            </a:pPr>
            <a:r>
              <a:rPr sz="1500" b="0" i="0">
                <a:solidFill>
                  <a:srgbClr val="1A2B3C"/>
                </a:solidFill>
                <a:latin typeface="Calibri"/>
              </a:rPr>
              <a:t>•  Deadlines propagate to the backing service (statement_timeout from the budget)</a:t>
            </a:r>
          </a:p>
        </p:txBody>
      </p:sp>
      <p:pic>
        <p:nvPicPr>
          <p:cNvPr id="10" name="Picture 9" descr="07-state-externalization.jpg"/>
          <p:cNvPicPr>
            <a:picLocks noChangeAspect="1"/>
          </p:cNvPicPr>
          <p:nvPr/>
        </p:nvPicPr>
        <p:blipFill>
          <a:blip r:embed="rId2"/>
          <a:stretch>
            <a:fillRect/>
          </a:stretch>
        </p:blipFill>
        <p:spPr>
          <a:xfrm>
            <a:off x="6217920" y="1554480"/>
            <a:ext cx="5486400" cy="2866292"/>
          </a:xfrm>
          <a:prstGeom prst="rect">
            <a:avLst/>
          </a:prstGeom>
        </p:spPr>
      </p:pic>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640080"/>
          </a:xfrm>
          <a:prstGeom prst="rect">
            <a:avLst/>
          </a:prstGeom>
          <a:solidFill>
            <a:srgbClr val="1E6F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37160"/>
            <a:ext cx="6400800" cy="365760"/>
          </a:xfrm>
          <a:prstGeom prst="rect">
            <a:avLst/>
          </a:prstGeom>
          <a:noFill/>
        </p:spPr>
        <p:txBody>
          <a:bodyPr wrap="square" anchor="t" lIns="45720" rIns="45720">
            <a:spAutoFit/>
          </a:bodyPr>
          <a:lstStyle/>
          <a:p>
            <a:pPr algn="l"/>
            <a:r>
              <a:rPr sz="2800" b="1" i="0">
                <a:solidFill>
                  <a:srgbClr val="FFFFFF"/>
                </a:solidFill>
                <a:latin typeface="Calibri"/>
              </a:rPr>
              <a:t>State externalization</a:t>
            </a:r>
          </a:p>
        </p:txBody>
      </p:sp>
      <p:sp>
        <p:nvSpPr>
          <p:cNvPr id="4" name="Rounded Rectangle 3"/>
          <p:cNvSpPr/>
          <p:nvPr/>
        </p:nvSpPr>
        <p:spPr>
          <a:xfrm>
            <a:off x="10454335" y="164592"/>
            <a:ext cx="1463040" cy="320040"/>
          </a:xfrm>
          <a:prstGeom prst="roundRect">
            <a:avLst>
              <a:gd name="adj" fmla="val 50000"/>
            </a:avLst>
          </a:prstGeom>
          <a:solidFill>
            <a:srgbClr val="1A2B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454335" y="164592"/>
            <a:ext cx="1463040" cy="320040"/>
          </a:xfrm>
          <a:prstGeom prst="rect">
            <a:avLst/>
          </a:prstGeom>
          <a:noFill/>
        </p:spPr>
        <p:txBody>
          <a:bodyPr wrap="square" anchor="ctr" lIns="45720" rIns="45720">
            <a:spAutoFit/>
          </a:bodyPr>
          <a:lstStyle/>
          <a:p>
            <a:pPr algn="ctr"/>
            <a:r>
              <a:rPr sz="1400" b="1" i="0">
                <a:solidFill>
                  <a:srgbClr val="FFFFFF"/>
                </a:solidFill>
                <a:latin typeface="Calibri"/>
              </a:rPr>
              <a:t>Doc 07</a:t>
            </a:r>
          </a:p>
        </p:txBody>
      </p:sp>
      <p:sp>
        <p:nvSpPr>
          <p:cNvPr id="6" name="TextBox 5"/>
          <p:cNvSpPr txBox="1"/>
          <p:nvPr/>
        </p:nvSpPr>
        <p:spPr>
          <a:xfrm>
            <a:off x="365760" y="6537960"/>
            <a:ext cx="8229600" cy="274320"/>
          </a:xfrm>
          <a:prstGeom prst="rect">
            <a:avLst/>
          </a:prstGeom>
          <a:noFill/>
        </p:spPr>
        <p:txBody>
          <a:bodyPr wrap="square" anchor="t" lIns="45720" rIns="45720">
            <a:spAutoFit/>
          </a:bodyPr>
          <a:lstStyle/>
          <a:p>
            <a:pPr algn="l"/>
            <a:r>
              <a:rPr sz="1100" b="0" i="0">
                <a:solidFill>
                  <a:srgbClr val="90A4AE"/>
                </a:solidFill>
                <a:latin typeface="Calibri"/>
              </a:rPr>
              <a:t>Optimizing Modern C++ with Containers   |   State externalization</a:t>
            </a:r>
          </a:p>
        </p:txBody>
      </p:sp>
      <p:sp>
        <p:nvSpPr>
          <p:cNvPr id="7" name="TextBox 6"/>
          <p:cNvSpPr txBox="1"/>
          <p:nvPr/>
        </p:nvSpPr>
        <p:spPr>
          <a:xfrm>
            <a:off x="10820095" y="6537960"/>
            <a:ext cx="1005840" cy="274320"/>
          </a:xfrm>
          <a:prstGeom prst="rect">
            <a:avLst/>
          </a:prstGeom>
          <a:noFill/>
        </p:spPr>
        <p:txBody>
          <a:bodyPr wrap="square" anchor="t" lIns="45720" rIns="45720">
            <a:spAutoFit/>
          </a:bodyPr>
          <a:lstStyle/>
          <a:p>
            <a:pPr algn="r"/>
            <a:r>
              <a:rPr sz="1100" b="0" i="0">
                <a:solidFill>
                  <a:srgbClr val="90A4AE"/>
                </a:solidFill>
                <a:latin typeface="Calibri"/>
              </a:rPr>
              <a:t>39 / 67</a:t>
            </a:r>
          </a:p>
        </p:txBody>
      </p:sp>
      <p:sp>
        <p:nvSpPr>
          <p:cNvPr id="8" name="TextBox 7"/>
          <p:cNvSpPr txBox="1"/>
          <p:nvPr/>
        </p:nvSpPr>
        <p:spPr>
          <a:xfrm>
            <a:off x="457200" y="822960"/>
            <a:ext cx="10972800" cy="548640"/>
          </a:xfrm>
          <a:prstGeom prst="rect">
            <a:avLst/>
          </a:prstGeom>
          <a:noFill/>
        </p:spPr>
        <p:txBody>
          <a:bodyPr wrap="square" anchor="t" lIns="45720" rIns="45720">
            <a:spAutoFit/>
          </a:bodyPr>
          <a:lstStyle/>
          <a:p>
            <a:pPr algn="l"/>
            <a:r>
              <a:rPr sz="2800" b="1" i="0">
                <a:solidFill>
                  <a:srgbClr val="1A2B3C"/>
                </a:solidFill>
                <a:latin typeface="Calibri"/>
              </a:rPr>
              <a:t>The outbox pattern</a:t>
            </a:r>
          </a:p>
        </p:txBody>
      </p:sp>
      <p:sp>
        <p:nvSpPr>
          <p:cNvPr id="9" name="TextBox 8"/>
          <p:cNvSpPr txBox="1"/>
          <p:nvPr/>
        </p:nvSpPr>
        <p:spPr>
          <a:xfrm>
            <a:off x="457200" y="1554480"/>
            <a:ext cx="11247120" cy="4572000"/>
          </a:xfrm>
          <a:prstGeom prst="rect">
            <a:avLst/>
          </a:prstGeom>
          <a:noFill/>
        </p:spPr>
        <p:txBody>
          <a:bodyPr wrap="square" anchor="t" lIns="45720" rIns="45720">
            <a:spAutoFit/>
          </a:bodyPr>
          <a:lstStyle/>
          <a:p>
            <a:pPr algn="l">
              <a:lnSpc>
                <a:spcPct val="115000"/>
              </a:lnSpc>
            </a:pPr>
            <a:r>
              <a:rPr sz="1800" b="1" i="0">
                <a:solidFill>
                  <a:srgbClr val="9B59B6"/>
                </a:solidFill>
                <a:latin typeface="Calibri"/>
              </a:rPr>
              <a:t>Atomic DB write + event emission</a:t>
            </a:r>
          </a:p>
          <a:p>
            <a:pPr algn="l">
              <a:lnSpc>
                <a:spcPct val="115000"/>
              </a:lnSpc>
            </a:pPr>
            <a:r>
              <a:rPr sz="1500" b="0" i="0">
                <a:solidFill>
                  <a:srgbClr val="1A2B3C"/>
                </a:solidFill>
                <a:latin typeface="Calibri"/>
              </a:rPr>
              <a:t>•  Write the row and an outbox event in ONE transaction</a:t>
            </a:r>
          </a:p>
          <a:p>
            <a:pPr algn="l">
              <a:lnSpc>
                <a:spcPct val="115000"/>
              </a:lnSpc>
            </a:pPr>
            <a:r>
              <a:rPr sz="1500" b="0" i="0">
                <a:solidFill>
                  <a:srgbClr val="1A2B3C"/>
                </a:solidFill>
                <a:latin typeface="Calibri"/>
              </a:rPr>
              <a:t>•  A relay polls the outbox with FOR UPDATE SKIP LOCKED, publishes to Kafka</a:t>
            </a:r>
          </a:p>
          <a:p>
            <a:pPr algn="l">
              <a:lnSpc>
                <a:spcPct val="115000"/>
              </a:lnSpc>
            </a:pPr>
            <a:r>
              <a:rPr sz="1500" b="0" i="0">
                <a:solidFill>
                  <a:srgbClr val="1A2B3C"/>
                </a:solidFill>
                <a:latin typeface="Calibri"/>
              </a:rPr>
              <a:t>•  An idempotent consumer applies events with ON CONFLICT DO NOTHING</a:t>
            </a:r>
          </a:p>
          <a:p>
            <a:pPr algn="l">
              <a:lnSpc>
                <a:spcPct val="115000"/>
              </a:lnSpc>
            </a:pPr>
            <a:r>
              <a:rPr sz="1500" b="0" i="0">
                <a:solidFill>
                  <a:srgbClr val="1A2B3C"/>
                </a:solidFill>
                <a:latin typeface="Calibri"/>
              </a:rPr>
              <a:t>•  At-least-once delivery + idempotent apply = exactly-once effect</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640080"/>
          </a:xfrm>
          <a:prstGeom prst="rect">
            <a:avLst/>
          </a:prstGeom>
          <a:solidFill>
            <a:srgbClr val="1E6F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37160"/>
            <a:ext cx="6400800" cy="365760"/>
          </a:xfrm>
          <a:prstGeom prst="rect">
            <a:avLst/>
          </a:prstGeom>
          <a:noFill/>
        </p:spPr>
        <p:txBody>
          <a:bodyPr wrap="square" anchor="t" lIns="45720" rIns="45720">
            <a:spAutoFit/>
          </a:bodyPr>
          <a:lstStyle/>
          <a:p>
            <a:pPr algn="l"/>
            <a:r>
              <a:rPr sz="2800" b="1" i="0">
                <a:solidFill>
                  <a:srgbClr val="FFFFFF"/>
                </a:solidFill>
                <a:latin typeface="Calibri"/>
              </a:rPr>
              <a:t>State externalization</a:t>
            </a:r>
          </a:p>
        </p:txBody>
      </p:sp>
      <p:sp>
        <p:nvSpPr>
          <p:cNvPr id="4" name="Rounded Rectangle 3"/>
          <p:cNvSpPr/>
          <p:nvPr/>
        </p:nvSpPr>
        <p:spPr>
          <a:xfrm>
            <a:off x="10454335" y="164592"/>
            <a:ext cx="1463040" cy="320040"/>
          </a:xfrm>
          <a:prstGeom prst="roundRect">
            <a:avLst>
              <a:gd name="adj" fmla="val 50000"/>
            </a:avLst>
          </a:prstGeom>
          <a:solidFill>
            <a:srgbClr val="1A2B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454335" y="164592"/>
            <a:ext cx="1463040" cy="320040"/>
          </a:xfrm>
          <a:prstGeom prst="rect">
            <a:avLst/>
          </a:prstGeom>
          <a:noFill/>
        </p:spPr>
        <p:txBody>
          <a:bodyPr wrap="square" anchor="ctr" lIns="45720" rIns="45720">
            <a:spAutoFit/>
          </a:bodyPr>
          <a:lstStyle/>
          <a:p>
            <a:pPr algn="ctr"/>
            <a:r>
              <a:rPr sz="1400" b="1" i="0">
                <a:solidFill>
                  <a:srgbClr val="FFFFFF"/>
                </a:solidFill>
                <a:latin typeface="Calibri"/>
              </a:rPr>
              <a:t>Doc 07</a:t>
            </a:r>
          </a:p>
        </p:txBody>
      </p:sp>
      <p:sp>
        <p:nvSpPr>
          <p:cNvPr id="6" name="TextBox 5"/>
          <p:cNvSpPr txBox="1"/>
          <p:nvPr/>
        </p:nvSpPr>
        <p:spPr>
          <a:xfrm>
            <a:off x="365760" y="6537960"/>
            <a:ext cx="8229600" cy="274320"/>
          </a:xfrm>
          <a:prstGeom prst="rect">
            <a:avLst/>
          </a:prstGeom>
          <a:noFill/>
        </p:spPr>
        <p:txBody>
          <a:bodyPr wrap="square" anchor="t" lIns="45720" rIns="45720">
            <a:spAutoFit/>
          </a:bodyPr>
          <a:lstStyle/>
          <a:p>
            <a:pPr algn="l"/>
            <a:r>
              <a:rPr sz="1100" b="0" i="0">
                <a:solidFill>
                  <a:srgbClr val="90A4AE"/>
                </a:solidFill>
                <a:latin typeface="Calibri"/>
              </a:rPr>
              <a:t>Optimizing Modern C++ with Containers   |   State externalization</a:t>
            </a:r>
          </a:p>
        </p:txBody>
      </p:sp>
      <p:sp>
        <p:nvSpPr>
          <p:cNvPr id="7" name="TextBox 6"/>
          <p:cNvSpPr txBox="1"/>
          <p:nvPr/>
        </p:nvSpPr>
        <p:spPr>
          <a:xfrm>
            <a:off x="10820095" y="6537960"/>
            <a:ext cx="1005840" cy="274320"/>
          </a:xfrm>
          <a:prstGeom prst="rect">
            <a:avLst/>
          </a:prstGeom>
          <a:noFill/>
        </p:spPr>
        <p:txBody>
          <a:bodyPr wrap="square" anchor="t" lIns="45720" rIns="45720">
            <a:spAutoFit/>
          </a:bodyPr>
          <a:lstStyle/>
          <a:p>
            <a:pPr algn="r"/>
            <a:r>
              <a:rPr sz="1100" b="0" i="0">
                <a:solidFill>
                  <a:srgbClr val="90A4AE"/>
                </a:solidFill>
                <a:latin typeface="Calibri"/>
              </a:rPr>
              <a:t>40 / 67</a:t>
            </a:r>
          </a:p>
        </p:txBody>
      </p:sp>
      <p:sp>
        <p:nvSpPr>
          <p:cNvPr id="8" name="TextBox 7"/>
          <p:cNvSpPr txBox="1"/>
          <p:nvPr/>
        </p:nvSpPr>
        <p:spPr>
          <a:xfrm>
            <a:off x="457200" y="822960"/>
            <a:ext cx="10972800" cy="548640"/>
          </a:xfrm>
          <a:prstGeom prst="rect">
            <a:avLst/>
          </a:prstGeom>
          <a:noFill/>
        </p:spPr>
        <p:txBody>
          <a:bodyPr wrap="square" anchor="t" lIns="45720" rIns="45720">
            <a:spAutoFit/>
          </a:bodyPr>
          <a:lstStyle/>
          <a:p>
            <a:pPr algn="l"/>
            <a:r>
              <a:rPr sz="2800" b="1" i="0">
                <a:solidFill>
                  <a:srgbClr val="1A2B3C"/>
                </a:solidFill>
                <a:latin typeface="Calibri"/>
              </a:rPr>
              <a:t>Deadlines propagate all the way down</a:t>
            </a:r>
          </a:p>
        </p:txBody>
      </p:sp>
      <p:sp>
        <p:nvSpPr>
          <p:cNvPr id="9" name="TextBox 8"/>
          <p:cNvSpPr txBox="1"/>
          <p:nvPr/>
        </p:nvSpPr>
        <p:spPr>
          <a:xfrm>
            <a:off x="457200" y="1554480"/>
            <a:ext cx="5486400" cy="4572000"/>
          </a:xfrm>
          <a:prstGeom prst="rect">
            <a:avLst/>
          </a:prstGeom>
          <a:noFill/>
        </p:spPr>
        <p:txBody>
          <a:bodyPr wrap="square" anchor="t" lIns="45720" rIns="45720">
            <a:spAutoFit/>
          </a:bodyPr>
          <a:lstStyle/>
          <a:p>
            <a:pPr algn="l">
              <a:lnSpc>
                <a:spcPct val="115000"/>
              </a:lnSpc>
            </a:pPr>
            <a:r>
              <a:rPr sz="1800" b="1" i="0">
                <a:solidFill>
                  <a:srgbClr val="1E6FC8"/>
                </a:solidFill>
                <a:latin typeface="Calibri"/>
              </a:rPr>
              <a:t>One budget, enforced at every hop</a:t>
            </a:r>
          </a:p>
          <a:p>
            <a:pPr algn="l">
              <a:lnSpc>
                <a:spcPct val="115000"/>
              </a:lnSpc>
            </a:pPr>
            <a:r>
              <a:rPr sz="1500" b="0" i="0">
                <a:solidFill>
                  <a:srgbClr val="1A2B3C"/>
                </a:solidFill>
                <a:latin typeface="Calibri"/>
              </a:rPr>
              <a:t>•  The request deadline comes from the gRPC ServerContext</a:t>
            </a:r>
          </a:p>
          <a:p>
            <a:pPr algn="l">
              <a:lnSpc>
                <a:spcPct val="115000"/>
              </a:lnSpc>
            </a:pPr>
            <a:r>
              <a:rPr sz="1500" b="0" i="0">
                <a:solidFill>
                  <a:srgbClr val="1A2B3C"/>
                </a:solidFill>
                <a:latin typeface="Calibri"/>
              </a:rPr>
              <a:t>•  Compute remaining budget; set it as the DB statement_timeout</a:t>
            </a:r>
          </a:p>
          <a:p>
            <a:pPr algn="l">
              <a:lnSpc>
                <a:spcPct val="115000"/>
              </a:lnSpc>
            </a:pPr>
            <a:r>
              <a:rPr sz="1500" b="0" i="0">
                <a:solidFill>
                  <a:srgbClr val="1A2B3C"/>
                </a:solidFill>
                <a:latin typeface="Calibri"/>
              </a:rPr>
              <a:t>•  Pass the same deadline to outbound gRPC ClientContext</a:t>
            </a:r>
          </a:p>
          <a:p>
            <a:pPr algn="l">
              <a:lnSpc>
                <a:spcPct val="115000"/>
              </a:lnSpc>
            </a:pPr>
            <a:r>
              <a:rPr sz="1500" b="0" i="0">
                <a:solidFill>
                  <a:srgbClr val="1A2B3C"/>
                </a:solidFill>
                <a:latin typeface="Calibri"/>
              </a:rPr>
              <a:t>•  A blown budget surfaces as DEADLINE_EXCEEDED, not a hung handler</a:t>
            </a:r>
          </a:p>
        </p:txBody>
      </p:sp>
      <p:sp>
        <p:nvSpPr>
          <p:cNvPr id="10" name="Rectangle 9"/>
          <p:cNvSpPr/>
          <p:nvPr/>
        </p:nvSpPr>
        <p:spPr>
          <a:xfrm>
            <a:off x="6217920" y="1554480"/>
            <a:ext cx="5486400" cy="4572000"/>
          </a:xfrm>
          <a:prstGeom prst="rect">
            <a:avLst/>
          </a:prstGeom>
          <a:solidFill>
            <a:srgbClr val="0D21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355080" y="1645920"/>
            <a:ext cx="5212080" cy="4389120"/>
          </a:xfrm>
          <a:prstGeom prst="rect">
            <a:avLst/>
          </a:prstGeom>
          <a:noFill/>
        </p:spPr>
        <p:txBody>
          <a:bodyPr wrap="square" lIns="45720" rIns="45720">
            <a:spAutoFit/>
          </a:bodyPr>
          <a:lstStyle/>
          <a:p>
            <a:r>
              <a:rPr sz="1200">
                <a:solidFill>
                  <a:srgbClr val="ECF0F1"/>
                </a:solidFill>
                <a:latin typeface="Consolas"/>
              </a:rPr>
              <a:t>auto remaining = deadline - now();</a:t>
            </a:r>
          </a:p>
          <a:p>
            <a:r>
              <a:rPr sz="1200">
                <a:solidFill>
                  <a:srgbClr val="ECF0F1"/>
                </a:solidFill>
                <a:latin typeface="Consolas"/>
              </a:rPr>
              <a:t>if (remaining &lt;= 0ms)</a:t>
            </a:r>
          </a:p>
          <a:p>
            <a:r>
              <a:rPr sz="1200">
                <a:solidFill>
                  <a:srgbClr val="ECF0F1"/>
                </a:solidFill>
                <a:latin typeface="Consolas"/>
              </a:rPr>
              <a:t>  throw grpc::Status{DEADLINE_EXCEEDED, "..."};</a:t>
            </a:r>
          </a:p>
          <a:p>
            <a:r>
              <a:rPr sz="1200">
                <a:solidFill>
                  <a:srgbClr val="ECF0F1"/>
                </a:solidFill>
                <a:latin typeface="Consolas"/>
              </a:rPr>
              <a:t>// DB: SET statement_timeout = &lt;remaining ms&gt;</a:t>
            </a:r>
          </a:p>
          <a:p>
            <a:r>
              <a:rPr sz="1200">
                <a:solidFill>
                  <a:srgbClr val="ECF0F1"/>
                </a:solidFill>
                <a:latin typeface="Consolas"/>
              </a:rPr>
              <a:t>// gRPC: client_ctx.set_deadline(rc.deadline());</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640080"/>
          </a:xfrm>
          <a:prstGeom prst="rect">
            <a:avLst/>
          </a:prstGeom>
          <a:solidFill>
            <a:srgbClr val="1E6F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37160"/>
            <a:ext cx="6400800" cy="365760"/>
          </a:xfrm>
          <a:prstGeom prst="rect">
            <a:avLst/>
          </a:prstGeom>
          <a:noFill/>
        </p:spPr>
        <p:txBody>
          <a:bodyPr wrap="square" anchor="t" lIns="45720" rIns="45720">
            <a:spAutoFit/>
          </a:bodyPr>
          <a:lstStyle/>
          <a:p>
            <a:pPr algn="l"/>
            <a:r>
              <a:rPr sz="2800" b="1" i="0">
                <a:solidFill>
                  <a:srgbClr val="FFFFFF"/>
                </a:solidFill>
                <a:latin typeface="Calibri"/>
              </a:rPr>
              <a:t>State externalization</a:t>
            </a:r>
          </a:p>
        </p:txBody>
      </p:sp>
      <p:sp>
        <p:nvSpPr>
          <p:cNvPr id="4" name="Rounded Rectangle 3"/>
          <p:cNvSpPr/>
          <p:nvPr/>
        </p:nvSpPr>
        <p:spPr>
          <a:xfrm>
            <a:off x="10454335" y="164592"/>
            <a:ext cx="1463040" cy="320040"/>
          </a:xfrm>
          <a:prstGeom prst="roundRect">
            <a:avLst>
              <a:gd name="adj" fmla="val 50000"/>
            </a:avLst>
          </a:prstGeom>
          <a:solidFill>
            <a:srgbClr val="1A2B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454335" y="164592"/>
            <a:ext cx="1463040" cy="320040"/>
          </a:xfrm>
          <a:prstGeom prst="rect">
            <a:avLst/>
          </a:prstGeom>
          <a:noFill/>
        </p:spPr>
        <p:txBody>
          <a:bodyPr wrap="square" anchor="ctr" lIns="45720" rIns="45720">
            <a:spAutoFit/>
          </a:bodyPr>
          <a:lstStyle/>
          <a:p>
            <a:pPr algn="ctr"/>
            <a:r>
              <a:rPr sz="1400" b="1" i="0">
                <a:solidFill>
                  <a:srgbClr val="FFFFFF"/>
                </a:solidFill>
                <a:latin typeface="Calibri"/>
              </a:rPr>
              <a:t>Doc 07</a:t>
            </a:r>
          </a:p>
        </p:txBody>
      </p:sp>
      <p:sp>
        <p:nvSpPr>
          <p:cNvPr id="6" name="TextBox 5"/>
          <p:cNvSpPr txBox="1"/>
          <p:nvPr/>
        </p:nvSpPr>
        <p:spPr>
          <a:xfrm>
            <a:off x="365760" y="6537960"/>
            <a:ext cx="8229600" cy="274320"/>
          </a:xfrm>
          <a:prstGeom prst="rect">
            <a:avLst/>
          </a:prstGeom>
          <a:noFill/>
        </p:spPr>
        <p:txBody>
          <a:bodyPr wrap="square" anchor="t" lIns="45720" rIns="45720">
            <a:spAutoFit/>
          </a:bodyPr>
          <a:lstStyle/>
          <a:p>
            <a:pPr algn="l"/>
            <a:r>
              <a:rPr sz="1100" b="0" i="0">
                <a:solidFill>
                  <a:srgbClr val="90A4AE"/>
                </a:solidFill>
                <a:latin typeface="Calibri"/>
              </a:rPr>
              <a:t>Optimizing Modern C++ with Containers   |   State externalization</a:t>
            </a:r>
          </a:p>
        </p:txBody>
      </p:sp>
      <p:sp>
        <p:nvSpPr>
          <p:cNvPr id="7" name="TextBox 6"/>
          <p:cNvSpPr txBox="1"/>
          <p:nvPr/>
        </p:nvSpPr>
        <p:spPr>
          <a:xfrm>
            <a:off x="10820095" y="6537960"/>
            <a:ext cx="1005840" cy="274320"/>
          </a:xfrm>
          <a:prstGeom prst="rect">
            <a:avLst/>
          </a:prstGeom>
          <a:noFill/>
        </p:spPr>
        <p:txBody>
          <a:bodyPr wrap="square" anchor="t" lIns="45720" rIns="45720">
            <a:spAutoFit/>
          </a:bodyPr>
          <a:lstStyle/>
          <a:p>
            <a:pPr algn="r"/>
            <a:r>
              <a:rPr sz="1100" b="0" i="0">
                <a:solidFill>
                  <a:srgbClr val="90A4AE"/>
                </a:solidFill>
                <a:latin typeface="Calibri"/>
              </a:rPr>
              <a:t>41 / 67</a:t>
            </a:r>
          </a:p>
        </p:txBody>
      </p:sp>
      <p:sp>
        <p:nvSpPr>
          <p:cNvPr id="8" name="TextBox 7"/>
          <p:cNvSpPr txBox="1"/>
          <p:nvPr/>
        </p:nvSpPr>
        <p:spPr>
          <a:xfrm>
            <a:off x="457200" y="822960"/>
            <a:ext cx="10972800" cy="548640"/>
          </a:xfrm>
          <a:prstGeom prst="rect">
            <a:avLst/>
          </a:prstGeom>
          <a:noFill/>
        </p:spPr>
        <p:txBody>
          <a:bodyPr wrap="square" anchor="t" lIns="45720" rIns="45720">
            <a:spAutoFit/>
          </a:bodyPr>
          <a:lstStyle/>
          <a:p>
            <a:pPr algn="l"/>
            <a:r>
              <a:rPr sz="2800" b="1" i="0">
                <a:solidFill>
                  <a:srgbClr val="1A2B3C"/>
                </a:solidFill>
                <a:latin typeface="Calibri"/>
              </a:rPr>
              <a:t>Retry-with-backoff vs. fail-fast</a:t>
            </a:r>
          </a:p>
        </p:txBody>
      </p:sp>
      <p:sp>
        <p:nvSpPr>
          <p:cNvPr id="9" name="TextBox 8"/>
          <p:cNvSpPr txBox="1"/>
          <p:nvPr/>
        </p:nvSpPr>
        <p:spPr>
          <a:xfrm>
            <a:off x="457200" y="1554480"/>
            <a:ext cx="11247120" cy="4572000"/>
          </a:xfrm>
          <a:prstGeom prst="rect">
            <a:avLst/>
          </a:prstGeom>
          <a:noFill/>
        </p:spPr>
        <p:txBody>
          <a:bodyPr wrap="square" anchor="t" lIns="45720" rIns="45720">
            <a:spAutoFit/>
          </a:bodyPr>
          <a:lstStyle/>
          <a:p>
            <a:pPr algn="l">
              <a:lnSpc>
                <a:spcPct val="115000"/>
              </a:lnSpc>
            </a:pPr>
            <a:r>
              <a:rPr sz="1800" b="1" i="0">
                <a:solidFill>
                  <a:srgbClr val="F5A623"/>
                </a:solidFill>
                <a:latin typeface="Calibri"/>
              </a:rPr>
              <a:t>When to retry and when to give up</a:t>
            </a:r>
          </a:p>
          <a:p>
            <a:pPr algn="l">
              <a:lnSpc>
                <a:spcPct val="115000"/>
              </a:lnSpc>
            </a:pPr>
            <a:r>
              <a:rPr sz="1500" b="0" i="0">
                <a:solidFill>
                  <a:srgbClr val="1A2B3C"/>
                </a:solidFill>
                <a:latin typeface="Calibri"/>
              </a:rPr>
              <a:t>•  Idempotent + transient failure → retry with capped exponential backoff + jitter</a:t>
            </a:r>
          </a:p>
          <a:p>
            <a:pPr algn="l">
              <a:lnSpc>
                <a:spcPct val="115000"/>
              </a:lnSpc>
            </a:pPr>
            <a:r>
              <a:rPr sz="1500" b="0" i="0">
                <a:solidFill>
                  <a:srgbClr val="1A2B3C"/>
                </a:solidFill>
                <a:latin typeface="Calibri"/>
              </a:rPr>
              <a:t>•  Non-idempotent without a key → do NOT blindly retry</a:t>
            </a:r>
          </a:p>
          <a:p>
            <a:pPr algn="l">
              <a:lnSpc>
                <a:spcPct val="115000"/>
              </a:lnSpc>
            </a:pPr>
            <a:r>
              <a:rPr sz="1500" b="0" i="0">
                <a:solidFill>
                  <a:srgbClr val="1A2B3C"/>
                </a:solidFill>
                <a:latin typeface="Calibri"/>
              </a:rPr>
              <a:t>•  Budget-aware: never retry past the request deadline</a:t>
            </a:r>
          </a:p>
          <a:p>
            <a:pPr algn="l">
              <a:lnSpc>
                <a:spcPct val="115000"/>
              </a:lnSpc>
            </a:pPr>
            <a:r>
              <a:rPr sz="1500" b="0" i="0">
                <a:solidFill>
                  <a:srgbClr val="1A2B3C"/>
                </a:solidFill>
                <a:latin typeface="Calibri"/>
              </a:rPr>
              <a:t>•  invalidate() a broken pooled connection so it isn't reused</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640080"/>
          </a:xfrm>
          <a:prstGeom prst="rect">
            <a:avLst/>
          </a:prstGeom>
          <a:solidFill>
            <a:srgbClr val="1E6F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37160"/>
            <a:ext cx="6400800" cy="365760"/>
          </a:xfrm>
          <a:prstGeom prst="rect">
            <a:avLst/>
          </a:prstGeom>
          <a:noFill/>
        </p:spPr>
        <p:txBody>
          <a:bodyPr wrap="square" anchor="t" lIns="45720" rIns="45720">
            <a:spAutoFit/>
          </a:bodyPr>
          <a:lstStyle/>
          <a:p>
            <a:pPr algn="l"/>
            <a:r>
              <a:rPr sz="2800" b="1" i="0">
                <a:solidFill>
                  <a:srgbClr val="FFFFFF"/>
                </a:solidFill>
                <a:latin typeface="Calibri"/>
              </a:rPr>
              <a:t>State externalization</a:t>
            </a:r>
          </a:p>
        </p:txBody>
      </p:sp>
      <p:sp>
        <p:nvSpPr>
          <p:cNvPr id="4" name="Rounded Rectangle 3"/>
          <p:cNvSpPr/>
          <p:nvPr/>
        </p:nvSpPr>
        <p:spPr>
          <a:xfrm>
            <a:off x="10454335" y="164592"/>
            <a:ext cx="1463040" cy="320040"/>
          </a:xfrm>
          <a:prstGeom prst="roundRect">
            <a:avLst>
              <a:gd name="adj" fmla="val 50000"/>
            </a:avLst>
          </a:prstGeom>
          <a:solidFill>
            <a:srgbClr val="1A2B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454335" y="164592"/>
            <a:ext cx="1463040" cy="320040"/>
          </a:xfrm>
          <a:prstGeom prst="rect">
            <a:avLst/>
          </a:prstGeom>
          <a:noFill/>
        </p:spPr>
        <p:txBody>
          <a:bodyPr wrap="square" anchor="ctr" lIns="45720" rIns="45720">
            <a:spAutoFit/>
          </a:bodyPr>
          <a:lstStyle/>
          <a:p>
            <a:pPr algn="ctr"/>
            <a:r>
              <a:rPr sz="1400" b="1" i="0">
                <a:solidFill>
                  <a:srgbClr val="FFFFFF"/>
                </a:solidFill>
                <a:latin typeface="Calibri"/>
              </a:rPr>
              <a:t>Doc 07</a:t>
            </a:r>
          </a:p>
        </p:txBody>
      </p:sp>
      <p:sp>
        <p:nvSpPr>
          <p:cNvPr id="6" name="TextBox 5"/>
          <p:cNvSpPr txBox="1"/>
          <p:nvPr/>
        </p:nvSpPr>
        <p:spPr>
          <a:xfrm>
            <a:off x="365760" y="6537960"/>
            <a:ext cx="8229600" cy="274320"/>
          </a:xfrm>
          <a:prstGeom prst="rect">
            <a:avLst/>
          </a:prstGeom>
          <a:noFill/>
        </p:spPr>
        <p:txBody>
          <a:bodyPr wrap="square" anchor="t" lIns="45720" rIns="45720">
            <a:spAutoFit/>
          </a:bodyPr>
          <a:lstStyle/>
          <a:p>
            <a:pPr algn="l"/>
            <a:r>
              <a:rPr sz="1100" b="0" i="0">
                <a:solidFill>
                  <a:srgbClr val="90A4AE"/>
                </a:solidFill>
                <a:latin typeface="Calibri"/>
              </a:rPr>
              <a:t>Optimizing Modern C++ with Containers   |   State externalization</a:t>
            </a:r>
          </a:p>
        </p:txBody>
      </p:sp>
      <p:sp>
        <p:nvSpPr>
          <p:cNvPr id="7" name="TextBox 6"/>
          <p:cNvSpPr txBox="1"/>
          <p:nvPr/>
        </p:nvSpPr>
        <p:spPr>
          <a:xfrm>
            <a:off x="10820095" y="6537960"/>
            <a:ext cx="1005840" cy="274320"/>
          </a:xfrm>
          <a:prstGeom prst="rect">
            <a:avLst/>
          </a:prstGeom>
          <a:noFill/>
        </p:spPr>
        <p:txBody>
          <a:bodyPr wrap="square" anchor="t" lIns="45720" rIns="45720">
            <a:spAutoFit/>
          </a:bodyPr>
          <a:lstStyle/>
          <a:p>
            <a:pPr algn="r"/>
            <a:r>
              <a:rPr sz="1100" b="0" i="0">
                <a:solidFill>
                  <a:srgbClr val="90A4AE"/>
                </a:solidFill>
                <a:latin typeface="Calibri"/>
              </a:rPr>
              <a:t>42 / 67</a:t>
            </a:r>
          </a:p>
        </p:txBody>
      </p:sp>
      <p:sp>
        <p:nvSpPr>
          <p:cNvPr id="8" name="TextBox 7"/>
          <p:cNvSpPr txBox="1"/>
          <p:nvPr/>
        </p:nvSpPr>
        <p:spPr>
          <a:xfrm>
            <a:off x="457200" y="822960"/>
            <a:ext cx="10972800" cy="548640"/>
          </a:xfrm>
          <a:prstGeom prst="rect">
            <a:avLst/>
          </a:prstGeom>
          <a:noFill/>
        </p:spPr>
        <p:txBody>
          <a:bodyPr wrap="square" anchor="t" lIns="45720" rIns="45720">
            <a:spAutoFit/>
          </a:bodyPr>
          <a:lstStyle/>
          <a:p>
            <a:pPr algn="l"/>
            <a:r>
              <a:rPr sz="2800" b="1" i="0">
                <a:solidFill>
                  <a:srgbClr val="1A2B3C"/>
                </a:solidFill>
                <a:latin typeface="Calibri"/>
              </a:rPr>
              <a:t>The cache counterexample, fixed</a:t>
            </a:r>
          </a:p>
        </p:txBody>
      </p:sp>
      <p:sp>
        <p:nvSpPr>
          <p:cNvPr id="9" name="TextBox 8"/>
          <p:cNvSpPr txBox="1"/>
          <p:nvPr/>
        </p:nvSpPr>
        <p:spPr>
          <a:xfrm>
            <a:off x="457200" y="1554480"/>
            <a:ext cx="11247120" cy="4572000"/>
          </a:xfrm>
          <a:prstGeom prst="rect">
            <a:avLst/>
          </a:prstGeom>
          <a:noFill/>
        </p:spPr>
        <p:txBody>
          <a:bodyPr wrap="square" anchor="t" lIns="45720" rIns="45720">
            <a:spAutoFit/>
          </a:bodyPr>
          <a:lstStyle/>
          <a:p>
            <a:pPr algn="l">
              <a:lnSpc>
                <a:spcPct val="115000"/>
              </a:lnSpc>
            </a:pPr>
            <a:r>
              <a:rPr sz="1800" b="1" i="0">
                <a:solidFill>
                  <a:srgbClr val="E84855"/>
                </a:solidFill>
                <a:latin typeface="Calibri"/>
              </a:rPr>
              <a:t>Why the local cache from Doc 1 was the bug</a:t>
            </a:r>
          </a:p>
          <a:p>
            <a:pPr algn="l">
              <a:lnSpc>
                <a:spcPct val="115000"/>
              </a:lnSpc>
            </a:pPr>
            <a:r>
              <a:rPr sz="1500" b="0" i="0">
                <a:solidFill>
                  <a:srgbClr val="1A2B3C"/>
                </a:solidFill>
                <a:latin typeface="Calibri"/>
              </a:rPr>
              <a:t>•  An in-process cache of authoritative data desyncs across replicas</a:t>
            </a:r>
          </a:p>
          <a:p>
            <a:pPr algn="l">
              <a:lnSpc>
                <a:spcPct val="115000"/>
              </a:lnSpc>
            </a:pPr>
            <a:r>
              <a:rPr sz="1500" b="0" i="0">
                <a:solidFill>
                  <a:srgbClr val="1A2B3C"/>
                </a:solidFill>
                <a:latin typeface="Calibri"/>
              </a:rPr>
              <a:t>•  Replica A updates; replica B serves a stale read — non-deterministic</a:t>
            </a:r>
          </a:p>
          <a:p>
            <a:pPr algn="l">
              <a:lnSpc>
                <a:spcPct val="115000"/>
              </a:lnSpc>
            </a:pPr>
            <a:r>
              <a:rPr sz="1500" b="0" i="0">
                <a:solidFill>
                  <a:srgbClr val="1A2B3C"/>
                </a:solidFill>
                <a:latin typeface="Calibri"/>
              </a:rPr>
              <a:t>•  Fix: the cache tier is deploy-time scope, shared and authoritative</a:t>
            </a:r>
          </a:p>
          <a:p>
            <a:pPr algn="l">
              <a:lnSpc>
                <a:spcPct val="115000"/>
              </a:lnSpc>
            </a:pPr>
            <a:r>
              <a:rPr sz="1500" b="0" i="0">
                <a:solidFill>
                  <a:srgbClr val="1A2B3C"/>
                </a:solidFill>
                <a:latin typeface="Calibri"/>
              </a:rPr>
              <a:t>•  In-process caches are fine ONLY for derived/immutable data</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Rounded Rectangle 1"/>
          <p:cNvSpPr/>
          <p:nvPr/>
        </p:nvSpPr>
        <p:spPr>
          <a:xfrm>
            <a:off x="548640" y="548640"/>
            <a:ext cx="2286000" cy="594360"/>
          </a:xfrm>
          <a:prstGeom prst="roundRect">
            <a:avLst>
              <a:gd name="adj" fmla="val 50000"/>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48640"/>
            <a:ext cx="2286000" cy="594360"/>
          </a:xfrm>
          <a:prstGeom prst="rect">
            <a:avLst/>
          </a:prstGeom>
          <a:noFill/>
        </p:spPr>
        <p:txBody>
          <a:bodyPr wrap="square" anchor="ctr" lIns="45720" rIns="45720">
            <a:spAutoFit/>
          </a:bodyPr>
          <a:lstStyle/>
          <a:p>
            <a:pPr algn="ctr"/>
            <a:r>
              <a:rPr sz="2200" b="1" i="0">
                <a:solidFill>
                  <a:srgbClr val="FFFFFF"/>
                </a:solidFill>
                <a:latin typeface="Calibri"/>
              </a:rPr>
              <a:t>▶ DEMO 07</a:t>
            </a:r>
          </a:p>
        </p:txBody>
      </p:sp>
      <p:sp>
        <p:nvSpPr>
          <p:cNvPr id="4" name="TextBox 3"/>
          <p:cNvSpPr txBox="1"/>
          <p:nvPr/>
        </p:nvSpPr>
        <p:spPr>
          <a:xfrm>
            <a:off x="548640" y="1645920"/>
            <a:ext cx="10972800" cy="1097280"/>
          </a:xfrm>
          <a:prstGeom prst="rect">
            <a:avLst/>
          </a:prstGeom>
          <a:noFill/>
        </p:spPr>
        <p:txBody>
          <a:bodyPr wrap="square" anchor="t" lIns="45720" rIns="45720">
            <a:spAutoFit/>
          </a:bodyPr>
          <a:lstStyle/>
          <a:p>
            <a:pPr algn="l"/>
            <a:r>
              <a:rPr sz="3600" b="1" i="0">
                <a:solidFill>
                  <a:srgbClr val="FFFFFF"/>
                </a:solidFill>
                <a:latin typeface="Calibri"/>
              </a:rPr>
              <a:t>Demo — State externalization + outbox</a:t>
            </a:r>
          </a:p>
        </p:txBody>
      </p:sp>
      <p:sp>
        <p:nvSpPr>
          <p:cNvPr id="5" name="TextBox 4"/>
          <p:cNvSpPr txBox="1"/>
          <p:nvPr/>
        </p:nvSpPr>
        <p:spPr>
          <a:xfrm>
            <a:off x="548640" y="2743200"/>
            <a:ext cx="10972800" cy="1371600"/>
          </a:xfrm>
          <a:prstGeom prst="rect">
            <a:avLst/>
          </a:prstGeom>
          <a:noFill/>
        </p:spPr>
        <p:txBody>
          <a:bodyPr wrap="square" anchor="t" lIns="45720" rIns="45720">
            <a:spAutoFit/>
          </a:bodyPr>
          <a:lstStyle/>
          <a:p>
            <a:pPr algn="l"/>
            <a:r>
              <a:rPr sz="2000" b="0" i="0">
                <a:solidFill>
                  <a:srgbClr val="ECF0F1"/>
                </a:solidFill>
                <a:latin typeface="Calibri"/>
              </a:rPr>
              <a:t>An order and its event written in one transaction; a relay publishes the outbox to Kafka with FOR UPDATE SKIP LOCKED; an idempotent consumer applies it. A crash mid-publish still yields an exactly-once effect.</a:t>
            </a:r>
          </a:p>
        </p:txBody>
      </p:sp>
      <p:sp>
        <p:nvSpPr>
          <p:cNvPr id="6" name="Rectangle 5"/>
          <p:cNvSpPr/>
          <p:nvPr/>
        </p:nvSpPr>
        <p:spPr>
          <a:xfrm>
            <a:off x="548640" y="4297680"/>
            <a:ext cx="11064240" cy="1097280"/>
          </a:xfrm>
          <a:prstGeom prst="rect">
            <a:avLst/>
          </a:prstGeom>
          <a:solidFill>
            <a:srgbClr val="0D21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4389120"/>
            <a:ext cx="10789920" cy="457200"/>
          </a:xfrm>
          <a:prstGeom prst="rect">
            <a:avLst/>
          </a:prstGeom>
          <a:noFill/>
        </p:spPr>
        <p:txBody>
          <a:bodyPr wrap="square" anchor="t" lIns="45720" rIns="45720">
            <a:spAutoFit/>
          </a:bodyPr>
          <a:lstStyle/>
          <a:p>
            <a:pPr algn="l"/>
            <a:r>
              <a:rPr sz="1800" b="0" i="0">
                <a:solidFill>
                  <a:srgbClr val="00BCD4"/>
                </a:solidFill>
                <a:latin typeface="Consolas"/>
              </a:rPr>
              <a:t>$ cd examples/statelessness/07-outbox-pattern &amp;&amp; ./demo.sh</a:t>
            </a:r>
          </a:p>
        </p:txBody>
      </p:sp>
      <p:sp>
        <p:nvSpPr>
          <p:cNvPr id="8" name="TextBox 7"/>
          <p:cNvSpPr txBox="1"/>
          <p:nvPr/>
        </p:nvSpPr>
        <p:spPr>
          <a:xfrm>
            <a:off x="731520" y="4892040"/>
            <a:ext cx="10789920" cy="365760"/>
          </a:xfrm>
          <a:prstGeom prst="rect">
            <a:avLst/>
          </a:prstGeom>
          <a:noFill/>
        </p:spPr>
        <p:txBody>
          <a:bodyPr wrap="square" anchor="t" lIns="45720" rIns="45720">
            <a:spAutoFit/>
          </a:bodyPr>
          <a:lstStyle/>
          <a:p>
            <a:pPr algn="l"/>
            <a:r>
              <a:rPr sz="1100" b="0" i="0">
                <a:solidFill>
                  <a:srgbClr val="90A4AE"/>
                </a:solidFill>
                <a:latin typeface="Consolas"/>
              </a:rPr>
              <a:t>  source on site: patterncatalyst.github.io/cpp-container-optimization-tutorial/examples/statelessness-07-outbox-pattern/</a:t>
            </a:r>
          </a:p>
        </p:txBody>
      </p:sp>
      <p:sp>
        <p:nvSpPr>
          <p:cNvPr id="9" name="TextBox 8"/>
          <p:cNvSpPr txBox="1"/>
          <p:nvPr/>
        </p:nvSpPr>
        <p:spPr>
          <a:xfrm>
            <a:off x="10820095" y="6400800"/>
            <a:ext cx="914400" cy="274320"/>
          </a:xfrm>
          <a:prstGeom prst="rect">
            <a:avLst/>
          </a:prstGeom>
          <a:noFill/>
        </p:spPr>
        <p:txBody>
          <a:bodyPr wrap="square" anchor="t" lIns="45720" rIns="45720">
            <a:spAutoFit/>
          </a:bodyPr>
          <a:lstStyle/>
          <a:p>
            <a:pPr algn="r"/>
            <a:r>
              <a:rPr sz="1100" b="0" i="0">
                <a:solidFill>
                  <a:srgbClr val="90A4AE"/>
                </a:solidFill>
                <a:latin typeface="Calibri"/>
              </a:rPr>
              <a:t>43 / 67</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1828800"/>
            <a:ext cx="3657600" cy="2286000"/>
          </a:xfrm>
          <a:prstGeom prst="rect">
            <a:avLst/>
          </a:prstGeom>
          <a:noFill/>
        </p:spPr>
        <p:txBody>
          <a:bodyPr wrap="square" anchor="t" lIns="45720" rIns="45720">
            <a:spAutoFit/>
          </a:bodyPr>
          <a:lstStyle/>
          <a:p>
            <a:pPr algn="l"/>
            <a:r>
              <a:rPr sz="18000" b="1" i="0">
                <a:solidFill>
                  <a:srgbClr val="00BCD4"/>
                </a:solidFill>
                <a:latin typeface="Calibri"/>
              </a:rPr>
              <a:t>§8</a:t>
            </a:r>
          </a:p>
        </p:txBody>
      </p:sp>
      <p:sp>
        <p:nvSpPr>
          <p:cNvPr id="3" name="TextBox 2"/>
          <p:cNvSpPr txBox="1"/>
          <p:nvPr/>
        </p:nvSpPr>
        <p:spPr>
          <a:xfrm>
            <a:off x="4114800" y="2103120"/>
            <a:ext cx="7772400" cy="1828800"/>
          </a:xfrm>
          <a:prstGeom prst="rect">
            <a:avLst/>
          </a:prstGeom>
          <a:noFill/>
        </p:spPr>
        <p:txBody>
          <a:bodyPr wrap="square" anchor="t" lIns="45720" rIns="45720">
            <a:spAutoFit/>
          </a:bodyPr>
          <a:lstStyle/>
          <a:p>
            <a:pPr algn="l"/>
            <a:r>
              <a:rPr sz="3600" b="1" i="0">
                <a:solidFill>
                  <a:srgbClr val="FFFFFF"/>
                </a:solidFill>
                <a:latin typeface="Calibri"/>
              </a:rPr>
              <a:t>The ephemeral filesystem</a:t>
            </a:r>
          </a:p>
        </p:txBody>
      </p:sp>
      <p:sp>
        <p:nvSpPr>
          <p:cNvPr id="4" name="TextBox 3"/>
          <p:cNvSpPr txBox="1"/>
          <p:nvPr/>
        </p:nvSpPr>
        <p:spPr>
          <a:xfrm>
            <a:off x="4114800" y="3474720"/>
            <a:ext cx="7772400" cy="1828800"/>
          </a:xfrm>
          <a:prstGeom prst="rect">
            <a:avLst/>
          </a:prstGeom>
          <a:noFill/>
        </p:spPr>
        <p:txBody>
          <a:bodyPr wrap="square" anchor="t" lIns="45720" rIns="45720">
            <a:spAutoFit/>
          </a:bodyPr>
          <a:lstStyle/>
          <a:p>
            <a:pPr algn="l"/>
            <a:r>
              <a:rPr sz="2000" b="0" i="1">
                <a:solidFill>
                  <a:srgbClr val="90A4AE"/>
                </a:solidFill>
                <a:latin typeface="Calibri"/>
              </a:rPr>
              <a:t>The container rootfs is scratch space — treat it that way.</a:t>
            </a:r>
          </a:p>
        </p:txBody>
      </p:sp>
      <p:sp>
        <p:nvSpPr>
          <p:cNvPr id="5" name="TextBox 4"/>
          <p:cNvSpPr txBox="1"/>
          <p:nvPr/>
        </p:nvSpPr>
        <p:spPr>
          <a:xfrm>
            <a:off x="10820095" y="6400800"/>
            <a:ext cx="914400" cy="274320"/>
          </a:xfrm>
          <a:prstGeom prst="rect">
            <a:avLst/>
          </a:prstGeom>
          <a:noFill/>
        </p:spPr>
        <p:txBody>
          <a:bodyPr wrap="square" anchor="t" lIns="45720" rIns="45720">
            <a:spAutoFit/>
          </a:bodyPr>
          <a:lstStyle/>
          <a:p>
            <a:pPr algn="r"/>
            <a:r>
              <a:rPr sz="1100" b="0" i="0">
                <a:solidFill>
                  <a:srgbClr val="90A4AE"/>
                </a:solidFill>
                <a:latin typeface="Calibri"/>
              </a:rPr>
              <a:t>44 / 67</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640080"/>
          </a:xfrm>
          <a:prstGeom prst="rect">
            <a:avLst/>
          </a:prstGeom>
          <a:solidFill>
            <a:srgbClr val="1E6F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37160"/>
            <a:ext cx="6400800" cy="365760"/>
          </a:xfrm>
          <a:prstGeom prst="rect">
            <a:avLst/>
          </a:prstGeom>
          <a:noFill/>
        </p:spPr>
        <p:txBody>
          <a:bodyPr wrap="square" anchor="t" lIns="45720" rIns="45720">
            <a:spAutoFit/>
          </a:bodyPr>
          <a:lstStyle/>
          <a:p>
            <a:pPr algn="l"/>
            <a:r>
              <a:rPr sz="2800" b="1" i="0">
                <a:solidFill>
                  <a:srgbClr val="FFFFFF"/>
                </a:solidFill>
                <a:latin typeface="Calibri"/>
              </a:rPr>
              <a:t>The ephemeral filesystem</a:t>
            </a:r>
          </a:p>
        </p:txBody>
      </p:sp>
      <p:sp>
        <p:nvSpPr>
          <p:cNvPr id="4" name="Rounded Rectangle 3"/>
          <p:cNvSpPr/>
          <p:nvPr/>
        </p:nvSpPr>
        <p:spPr>
          <a:xfrm>
            <a:off x="10454335" y="164592"/>
            <a:ext cx="1463040" cy="320040"/>
          </a:xfrm>
          <a:prstGeom prst="roundRect">
            <a:avLst>
              <a:gd name="adj" fmla="val 50000"/>
            </a:avLst>
          </a:prstGeom>
          <a:solidFill>
            <a:srgbClr val="1A2B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454335" y="164592"/>
            <a:ext cx="1463040" cy="320040"/>
          </a:xfrm>
          <a:prstGeom prst="rect">
            <a:avLst/>
          </a:prstGeom>
          <a:noFill/>
        </p:spPr>
        <p:txBody>
          <a:bodyPr wrap="square" anchor="ctr" lIns="45720" rIns="45720">
            <a:spAutoFit/>
          </a:bodyPr>
          <a:lstStyle/>
          <a:p>
            <a:pPr algn="ctr"/>
            <a:r>
              <a:rPr sz="1400" b="1" i="0">
                <a:solidFill>
                  <a:srgbClr val="FFFFFF"/>
                </a:solidFill>
                <a:latin typeface="Calibri"/>
              </a:rPr>
              <a:t>Doc 08</a:t>
            </a:r>
          </a:p>
        </p:txBody>
      </p:sp>
      <p:sp>
        <p:nvSpPr>
          <p:cNvPr id="6" name="TextBox 5"/>
          <p:cNvSpPr txBox="1"/>
          <p:nvPr/>
        </p:nvSpPr>
        <p:spPr>
          <a:xfrm>
            <a:off x="365760" y="6537960"/>
            <a:ext cx="8229600" cy="274320"/>
          </a:xfrm>
          <a:prstGeom prst="rect">
            <a:avLst/>
          </a:prstGeom>
          <a:noFill/>
        </p:spPr>
        <p:txBody>
          <a:bodyPr wrap="square" anchor="t" lIns="45720" rIns="45720">
            <a:spAutoFit/>
          </a:bodyPr>
          <a:lstStyle/>
          <a:p>
            <a:pPr algn="l"/>
            <a:r>
              <a:rPr sz="1100" b="0" i="0">
                <a:solidFill>
                  <a:srgbClr val="90A4AE"/>
                </a:solidFill>
                <a:latin typeface="Calibri"/>
              </a:rPr>
              <a:t>Optimizing Modern C++ with Containers   |   The ephemeral filesystem</a:t>
            </a:r>
          </a:p>
        </p:txBody>
      </p:sp>
      <p:sp>
        <p:nvSpPr>
          <p:cNvPr id="7" name="TextBox 6"/>
          <p:cNvSpPr txBox="1"/>
          <p:nvPr/>
        </p:nvSpPr>
        <p:spPr>
          <a:xfrm>
            <a:off x="10820095" y="6537960"/>
            <a:ext cx="1005840" cy="274320"/>
          </a:xfrm>
          <a:prstGeom prst="rect">
            <a:avLst/>
          </a:prstGeom>
          <a:noFill/>
        </p:spPr>
        <p:txBody>
          <a:bodyPr wrap="square" anchor="t" lIns="45720" rIns="45720">
            <a:spAutoFit/>
          </a:bodyPr>
          <a:lstStyle/>
          <a:p>
            <a:pPr algn="r"/>
            <a:r>
              <a:rPr sz="1100" b="0" i="0">
                <a:solidFill>
                  <a:srgbClr val="90A4AE"/>
                </a:solidFill>
                <a:latin typeface="Calibri"/>
              </a:rPr>
              <a:t>45 / 67</a:t>
            </a:r>
          </a:p>
        </p:txBody>
      </p:sp>
      <p:sp>
        <p:nvSpPr>
          <p:cNvPr id="8" name="TextBox 7"/>
          <p:cNvSpPr txBox="1"/>
          <p:nvPr/>
        </p:nvSpPr>
        <p:spPr>
          <a:xfrm>
            <a:off x="457200" y="822960"/>
            <a:ext cx="10972800" cy="548640"/>
          </a:xfrm>
          <a:prstGeom prst="rect">
            <a:avLst/>
          </a:prstGeom>
          <a:noFill/>
        </p:spPr>
        <p:txBody>
          <a:bodyPr wrap="square" anchor="t" lIns="45720" rIns="45720">
            <a:spAutoFit/>
          </a:bodyPr>
          <a:lstStyle/>
          <a:p>
            <a:pPr algn="l"/>
            <a:r>
              <a:rPr sz="2800" b="1" i="0">
                <a:solidFill>
                  <a:srgbClr val="1A2B3C"/>
                </a:solidFill>
                <a:latin typeface="Calibri"/>
              </a:rPr>
              <a:t>read_only: true as a forcing function</a:t>
            </a:r>
          </a:p>
        </p:txBody>
      </p:sp>
      <p:sp>
        <p:nvSpPr>
          <p:cNvPr id="9" name="TextBox 8"/>
          <p:cNvSpPr txBox="1"/>
          <p:nvPr/>
        </p:nvSpPr>
        <p:spPr>
          <a:xfrm>
            <a:off x="457200" y="1554480"/>
            <a:ext cx="5486400" cy="4572000"/>
          </a:xfrm>
          <a:prstGeom prst="rect">
            <a:avLst/>
          </a:prstGeom>
          <a:noFill/>
        </p:spPr>
        <p:txBody>
          <a:bodyPr wrap="square" anchor="t" lIns="45720" rIns="45720">
            <a:spAutoFit/>
          </a:bodyPr>
          <a:lstStyle/>
          <a:p>
            <a:pPr algn="l">
              <a:lnSpc>
                <a:spcPct val="115000"/>
              </a:lnSpc>
            </a:pPr>
            <a:r>
              <a:rPr sz="1800" b="1" i="0">
                <a:solidFill>
                  <a:srgbClr val="1E6FC8"/>
                </a:solidFill>
                <a:latin typeface="Calibri"/>
              </a:rPr>
              <a:t>Make ephemerality explicit</a:t>
            </a:r>
          </a:p>
          <a:p>
            <a:pPr algn="l">
              <a:lnSpc>
                <a:spcPct val="115000"/>
              </a:lnSpc>
            </a:pPr>
            <a:r>
              <a:rPr sz="1500" b="0" i="0">
                <a:solidFill>
                  <a:srgbClr val="1A2B3C"/>
                </a:solidFill>
                <a:latin typeface="Calibri"/>
              </a:rPr>
              <a:t>•  rootfs read-only; /tmp on an explicit tmpfs; volumes for what must survive</a:t>
            </a:r>
          </a:p>
          <a:p>
            <a:pPr algn="l">
              <a:lnSpc>
                <a:spcPct val="115000"/>
              </a:lnSpc>
            </a:pPr>
            <a:r>
              <a:rPr sz="1500" b="0" i="0">
                <a:solidFill>
                  <a:srgbClr val="1A2B3C"/>
                </a:solidFill>
                <a:latin typeface="Calibri"/>
              </a:rPr>
              <a:t>•  Logs go to stdout — the collector owns persistence, not the container</a:t>
            </a:r>
          </a:p>
          <a:p>
            <a:pPr algn="l">
              <a:lnSpc>
                <a:spcPct val="115000"/>
              </a:lnSpc>
            </a:pPr>
            <a:r>
              <a:rPr sz="1500" b="0" i="0">
                <a:solidFill>
                  <a:srgbClr val="1A2B3C"/>
                </a:solidFill>
                <a:latin typeface="Calibri"/>
              </a:rPr>
              <a:t>•  C++ traps: spdlog's basic_logger_mt opens a file → EROFS on a read-only rootfs</a:t>
            </a:r>
          </a:p>
          <a:p>
            <a:pPr algn="l">
              <a:lnSpc>
                <a:spcPct val="115000"/>
              </a:lnSpc>
            </a:pPr>
            <a:r>
              <a:rPr sz="1500" b="0" i="0">
                <a:solidFill>
                  <a:srgbClr val="1A2B3C"/>
                </a:solidFill>
                <a:latin typeface="Calibri"/>
              </a:rPr>
              <a:t>•  Fix: the stdout sink; never the default file logger in a container</a:t>
            </a:r>
          </a:p>
        </p:txBody>
      </p:sp>
      <p:pic>
        <p:nvPicPr>
          <p:cNvPr id="10" name="Picture 9" descr="08-ephemeral-filesystem.jpg"/>
          <p:cNvPicPr>
            <a:picLocks noChangeAspect="1"/>
          </p:cNvPicPr>
          <p:nvPr/>
        </p:nvPicPr>
        <p:blipFill>
          <a:blip r:embed="rId2"/>
          <a:stretch>
            <a:fillRect/>
          </a:stretch>
        </p:blipFill>
        <p:spPr>
          <a:xfrm>
            <a:off x="6217920" y="1554480"/>
            <a:ext cx="5486400" cy="2897065"/>
          </a:xfrm>
          <a:prstGeom prst="rect">
            <a:avLst/>
          </a:prstGeom>
        </p:spPr>
      </p:pic>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640080"/>
          </a:xfrm>
          <a:prstGeom prst="rect">
            <a:avLst/>
          </a:prstGeom>
          <a:solidFill>
            <a:srgbClr val="1E6F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37160"/>
            <a:ext cx="6400800" cy="365760"/>
          </a:xfrm>
          <a:prstGeom prst="rect">
            <a:avLst/>
          </a:prstGeom>
          <a:noFill/>
        </p:spPr>
        <p:txBody>
          <a:bodyPr wrap="square" anchor="t" lIns="45720" rIns="45720">
            <a:spAutoFit/>
          </a:bodyPr>
          <a:lstStyle/>
          <a:p>
            <a:pPr algn="l"/>
            <a:r>
              <a:rPr sz="2800" b="1" i="0">
                <a:solidFill>
                  <a:srgbClr val="FFFFFF"/>
                </a:solidFill>
                <a:latin typeface="Calibri"/>
              </a:rPr>
              <a:t>The ephemeral filesystem</a:t>
            </a:r>
          </a:p>
        </p:txBody>
      </p:sp>
      <p:sp>
        <p:nvSpPr>
          <p:cNvPr id="4" name="Rounded Rectangle 3"/>
          <p:cNvSpPr/>
          <p:nvPr/>
        </p:nvSpPr>
        <p:spPr>
          <a:xfrm>
            <a:off x="10454335" y="164592"/>
            <a:ext cx="1463040" cy="320040"/>
          </a:xfrm>
          <a:prstGeom prst="roundRect">
            <a:avLst>
              <a:gd name="adj" fmla="val 50000"/>
            </a:avLst>
          </a:prstGeom>
          <a:solidFill>
            <a:srgbClr val="1A2B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454335" y="164592"/>
            <a:ext cx="1463040" cy="320040"/>
          </a:xfrm>
          <a:prstGeom prst="rect">
            <a:avLst/>
          </a:prstGeom>
          <a:noFill/>
        </p:spPr>
        <p:txBody>
          <a:bodyPr wrap="square" anchor="ctr" lIns="45720" rIns="45720">
            <a:spAutoFit/>
          </a:bodyPr>
          <a:lstStyle/>
          <a:p>
            <a:pPr algn="ctr"/>
            <a:r>
              <a:rPr sz="1400" b="1" i="0">
                <a:solidFill>
                  <a:srgbClr val="FFFFFF"/>
                </a:solidFill>
                <a:latin typeface="Calibri"/>
              </a:rPr>
              <a:t>Doc 08</a:t>
            </a:r>
          </a:p>
        </p:txBody>
      </p:sp>
      <p:sp>
        <p:nvSpPr>
          <p:cNvPr id="6" name="TextBox 5"/>
          <p:cNvSpPr txBox="1"/>
          <p:nvPr/>
        </p:nvSpPr>
        <p:spPr>
          <a:xfrm>
            <a:off x="365760" y="6537960"/>
            <a:ext cx="8229600" cy="274320"/>
          </a:xfrm>
          <a:prstGeom prst="rect">
            <a:avLst/>
          </a:prstGeom>
          <a:noFill/>
        </p:spPr>
        <p:txBody>
          <a:bodyPr wrap="square" anchor="t" lIns="45720" rIns="45720">
            <a:spAutoFit/>
          </a:bodyPr>
          <a:lstStyle/>
          <a:p>
            <a:pPr algn="l"/>
            <a:r>
              <a:rPr sz="1100" b="0" i="0">
                <a:solidFill>
                  <a:srgbClr val="90A4AE"/>
                </a:solidFill>
                <a:latin typeface="Calibri"/>
              </a:rPr>
              <a:t>Optimizing Modern C++ with Containers   |   The ephemeral filesystem</a:t>
            </a:r>
          </a:p>
        </p:txBody>
      </p:sp>
      <p:sp>
        <p:nvSpPr>
          <p:cNvPr id="7" name="TextBox 6"/>
          <p:cNvSpPr txBox="1"/>
          <p:nvPr/>
        </p:nvSpPr>
        <p:spPr>
          <a:xfrm>
            <a:off x="10820095" y="6537960"/>
            <a:ext cx="1005840" cy="274320"/>
          </a:xfrm>
          <a:prstGeom prst="rect">
            <a:avLst/>
          </a:prstGeom>
          <a:noFill/>
        </p:spPr>
        <p:txBody>
          <a:bodyPr wrap="square" anchor="t" lIns="45720" rIns="45720">
            <a:spAutoFit/>
          </a:bodyPr>
          <a:lstStyle/>
          <a:p>
            <a:pPr algn="r"/>
            <a:r>
              <a:rPr sz="1100" b="0" i="0">
                <a:solidFill>
                  <a:srgbClr val="90A4AE"/>
                </a:solidFill>
                <a:latin typeface="Calibri"/>
              </a:rPr>
              <a:t>46 / 67</a:t>
            </a:r>
          </a:p>
        </p:txBody>
      </p:sp>
      <p:sp>
        <p:nvSpPr>
          <p:cNvPr id="8" name="TextBox 7"/>
          <p:cNvSpPr txBox="1"/>
          <p:nvPr/>
        </p:nvSpPr>
        <p:spPr>
          <a:xfrm>
            <a:off x="457200" y="822960"/>
            <a:ext cx="10972800" cy="548640"/>
          </a:xfrm>
          <a:prstGeom prst="rect">
            <a:avLst/>
          </a:prstGeom>
          <a:noFill/>
        </p:spPr>
        <p:txBody>
          <a:bodyPr wrap="square" anchor="t" lIns="45720" rIns="45720">
            <a:spAutoFit/>
          </a:bodyPr>
          <a:lstStyle/>
          <a:p>
            <a:pPr algn="l"/>
            <a:r>
              <a:rPr sz="2800" b="1" i="0">
                <a:solidFill>
                  <a:srgbClr val="1A2B3C"/>
                </a:solidFill>
                <a:latin typeface="Calibri"/>
              </a:rPr>
              <a:t>What goes where</a:t>
            </a:r>
          </a:p>
        </p:txBody>
      </p:sp>
      <p:sp>
        <p:nvSpPr>
          <p:cNvPr id="9" name="TextBox 8"/>
          <p:cNvSpPr txBox="1"/>
          <p:nvPr/>
        </p:nvSpPr>
        <p:spPr>
          <a:xfrm>
            <a:off x="457200" y="1554480"/>
            <a:ext cx="11247120" cy="4572000"/>
          </a:xfrm>
          <a:prstGeom prst="rect">
            <a:avLst/>
          </a:prstGeom>
          <a:noFill/>
        </p:spPr>
        <p:txBody>
          <a:bodyPr wrap="square" anchor="t" lIns="45720" rIns="45720">
            <a:spAutoFit/>
          </a:bodyPr>
          <a:lstStyle/>
          <a:p>
            <a:pPr algn="l">
              <a:lnSpc>
                <a:spcPct val="115000"/>
              </a:lnSpc>
            </a:pPr>
            <a:r>
              <a:rPr sz="1800" b="1" i="0">
                <a:solidFill>
                  <a:srgbClr val="1E6FC8"/>
                </a:solidFill>
                <a:latin typeface="Calibri"/>
              </a:rPr>
              <a:t>A place for every write</a:t>
            </a:r>
          </a:p>
          <a:p>
            <a:pPr algn="l">
              <a:lnSpc>
                <a:spcPct val="115000"/>
              </a:lnSpc>
            </a:pPr>
            <a:r>
              <a:rPr sz="1500" b="0" i="0">
                <a:solidFill>
                  <a:srgbClr val="1A2B3C"/>
                </a:solidFill>
                <a:latin typeface="Calibri"/>
              </a:rPr>
              <a:t>•  rootfs → read-only; the binary, libs, certs, nothing writable</a:t>
            </a:r>
          </a:p>
          <a:p>
            <a:pPr algn="l">
              <a:lnSpc>
                <a:spcPct val="115000"/>
              </a:lnSpc>
            </a:pPr>
            <a:r>
              <a:rPr sz="1500" b="0" i="0">
                <a:solidFill>
                  <a:srgbClr val="1A2B3C"/>
                </a:solidFill>
                <a:latin typeface="Calibri"/>
              </a:rPr>
              <a:t>•  /tmp → an explicit tmpfs with a size cap; scratch only</a:t>
            </a:r>
          </a:p>
          <a:p>
            <a:pPr algn="l">
              <a:lnSpc>
                <a:spcPct val="115000"/>
              </a:lnSpc>
            </a:pPr>
            <a:r>
              <a:rPr sz="1500" b="0" i="0">
                <a:solidFill>
                  <a:srgbClr val="1A2B3C"/>
                </a:solidFill>
                <a:latin typeface="Calibri"/>
              </a:rPr>
              <a:t>•  Persistent data → a volume (PVC), and only what must truly survive</a:t>
            </a:r>
          </a:p>
          <a:p>
            <a:pPr algn="l">
              <a:lnSpc>
                <a:spcPct val="115000"/>
              </a:lnSpc>
            </a:pPr>
            <a:r>
              <a:rPr sz="1500" b="0" i="0">
                <a:solidFill>
                  <a:srgbClr val="1A2B3C"/>
                </a:solidFill>
                <a:latin typeface="Calibri"/>
              </a:rPr>
              <a:t>•  Config → env vars / mounted configmap, read-only</a:t>
            </a:r>
          </a:p>
          <a:p>
            <a:pPr algn="l">
              <a:lnSpc>
                <a:spcPct val="115000"/>
              </a:lnSpc>
            </a:pPr>
            <a:r>
              <a:rPr sz="1500" b="0" i="0">
                <a:solidFill>
                  <a:srgbClr val="1A2B3C"/>
                </a:solidFill>
                <a:latin typeface="Calibri"/>
              </a:rPr>
              <a:t>•  Logs → stdout; never a file the container owns</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640080"/>
          </a:xfrm>
          <a:prstGeom prst="rect">
            <a:avLst/>
          </a:prstGeom>
          <a:solidFill>
            <a:srgbClr val="1E6F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37160"/>
            <a:ext cx="6400800" cy="365760"/>
          </a:xfrm>
          <a:prstGeom prst="rect">
            <a:avLst/>
          </a:prstGeom>
          <a:noFill/>
        </p:spPr>
        <p:txBody>
          <a:bodyPr wrap="square" anchor="t" lIns="45720" rIns="45720">
            <a:spAutoFit/>
          </a:bodyPr>
          <a:lstStyle/>
          <a:p>
            <a:pPr algn="l"/>
            <a:r>
              <a:rPr sz="2800" b="1" i="0">
                <a:solidFill>
                  <a:srgbClr val="FFFFFF"/>
                </a:solidFill>
                <a:latin typeface="Calibri"/>
              </a:rPr>
              <a:t>The ephemeral filesystem</a:t>
            </a:r>
          </a:p>
        </p:txBody>
      </p:sp>
      <p:sp>
        <p:nvSpPr>
          <p:cNvPr id="4" name="Rounded Rectangle 3"/>
          <p:cNvSpPr/>
          <p:nvPr/>
        </p:nvSpPr>
        <p:spPr>
          <a:xfrm>
            <a:off x="10454335" y="164592"/>
            <a:ext cx="1463040" cy="320040"/>
          </a:xfrm>
          <a:prstGeom prst="roundRect">
            <a:avLst>
              <a:gd name="adj" fmla="val 50000"/>
            </a:avLst>
          </a:prstGeom>
          <a:solidFill>
            <a:srgbClr val="1A2B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454335" y="164592"/>
            <a:ext cx="1463040" cy="320040"/>
          </a:xfrm>
          <a:prstGeom prst="rect">
            <a:avLst/>
          </a:prstGeom>
          <a:noFill/>
        </p:spPr>
        <p:txBody>
          <a:bodyPr wrap="square" anchor="ctr" lIns="45720" rIns="45720">
            <a:spAutoFit/>
          </a:bodyPr>
          <a:lstStyle/>
          <a:p>
            <a:pPr algn="ctr"/>
            <a:r>
              <a:rPr sz="1400" b="1" i="0">
                <a:solidFill>
                  <a:srgbClr val="FFFFFF"/>
                </a:solidFill>
                <a:latin typeface="Calibri"/>
              </a:rPr>
              <a:t>Doc 08</a:t>
            </a:r>
          </a:p>
        </p:txBody>
      </p:sp>
      <p:sp>
        <p:nvSpPr>
          <p:cNvPr id="6" name="TextBox 5"/>
          <p:cNvSpPr txBox="1"/>
          <p:nvPr/>
        </p:nvSpPr>
        <p:spPr>
          <a:xfrm>
            <a:off x="365760" y="6537960"/>
            <a:ext cx="8229600" cy="274320"/>
          </a:xfrm>
          <a:prstGeom prst="rect">
            <a:avLst/>
          </a:prstGeom>
          <a:noFill/>
        </p:spPr>
        <p:txBody>
          <a:bodyPr wrap="square" anchor="t" lIns="45720" rIns="45720">
            <a:spAutoFit/>
          </a:bodyPr>
          <a:lstStyle/>
          <a:p>
            <a:pPr algn="l"/>
            <a:r>
              <a:rPr sz="1100" b="0" i="0">
                <a:solidFill>
                  <a:srgbClr val="90A4AE"/>
                </a:solidFill>
                <a:latin typeface="Calibri"/>
              </a:rPr>
              <a:t>Optimizing Modern C++ with Containers   |   The ephemeral filesystem</a:t>
            </a:r>
          </a:p>
        </p:txBody>
      </p:sp>
      <p:sp>
        <p:nvSpPr>
          <p:cNvPr id="7" name="TextBox 6"/>
          <p:cNvSpPr txBox="1"/>
          <p:nvPr/>
        </p:nvSpPr>
        <p:spPr>
          <a:xfrm>
            <a:off x="10820095" y="6537960"/>
            <a:ext cx="1005840" cy="274320"/>
          </a:xfrm>
          <a:prstGeom prst="rect">
            <a:avLst/>
          </a:prstGeom>
          <a:noFill/>
        </p:spPr>
        <p:txBody>
          <a:bodyPr wrap="square" anchor="t" lIns="45720" rIns="45720">
            <a:spAutoFit/>
          </a:bodyPr>
          <a:lstStyle/>
          <a:p>
            <a:pPr algn="r"/>
            <a:r>
              <a:rPr sz="1100" b="0" i="0">
                <a:solidFill>
                  <a:srgbClr val="90A4AE"/>
                </a:solidFill>
                <a:latin typeface="Calibri"/>
              </a:rPr>
              <a:t>47 / 67</a:t>
            </a:r>
          </a:p>
        </p:txBody>
      </p:sp>
      <p:sp>
        <p:nvSpPr>
          <p:cNvPr id="8" name="TextBox 7"/>
          <p:cNvSpPr txBox="1"/>
          <p:nvPr/>
        </p:nvSpPr>
        <p:spPr>
          <a:xfrm>
            <a:off x="457200" y="822960"/>
            <a:ext cx="10972800" cy="548640"/>
          </a:xfrm>
          <a:prstGeom prst="rect">
            <a:avLst/>
          </a:prstGeom>
          <a:noFill/>
        </p:spPr>
        <p:txBody>
          <a:bodyPr wrap="square" anchor="t" lIns="45720" rIns="45720">
            <a:spAutoFit/>
          </a:bodyPr>
          <a:lstStyle/>
          <a:p>
            <a:pPr algn="l"/>
            <a:r>
              <a:rPr sz="2800" b="1" i="0">
                <a:solidFill>
                  <a:srgbClr val="1A2B3C"/>
                </a:solidFill>
                <a:latin typeface="Calibri"/>
              </a:rPr>
              <a:t>Restart semantics as a feature</a:t>
            </a:r>
          </a:p>
        </p:txBody>
      </p:sp>
      <p:sp>
        <p:nvSpPr>
          <p:cNvPr id="9" name="TextBox 8"/>
          <p:cNvSpPr txBox="1"/>
          <p:nvPr/>
        </p:nvSpPr>
        <p:spPr>
          <a:xfrm>
            <a:off x="457200" y="1554480"/>
            <a:ext cx="11247120" cy="4572000"/>
          </a:xfrm>
          <a:prstGeom prst="rect">
            <a:avLst/>
          </a:prstGeom>
          <a:noFill/>
        </p:spPr>
        <p:txBody>
          <a:bodyPr wrap="square" anchor="t" lIns="45720" rIns="45720">
            <a:spAutoFit/>
          </a:bodyPr>
          <a:lstStyle/>
          <a:p>
            <a:pPr algn="l">
              <a:lnSpc>
                <a:spcPct val="115000"/>
              </a:lnSpc>
            </a:pPr>
            <a:r>
              <a:rPr sz="1800" b="1" i="0">
                <a:solidFill>
                  <a:srgbClr val="27AE60"/>
                </a:solidFill>
                <a:latin typeface="Calibri"/>
              </a:rPr>
              <a:t>Ephemerality is the point, not a limitation</a:t>
            </a:r>
          </a:p>
          <a:p>
            <a:pPr algn="l">
              <a:lnSpc>
                <a:spcPct val="115000"/>
              </a:lnSpc>
            </a:pPr>
            <a:r>
              <a:rPr sz="1500" b="0" i="0">
                <a:solidFill>
                  <a:srgbClr val="1A2B3C"/>
                </a:solidFill>
                <a:latin typeface="Calibri"/>
              </a:rPr>
              <a:t>•  A crash + restart returns a known-clean filesystem state</a:t>
            </a:r>
          </a:p>
          <a:p>
            <a:pPr algn="l">
              <a:lnSpc>
                <a:spcPct val="115000"/>
              </a:lnSpc>
            </a:pPr>
            <a:r>
              <a:rPr sz="1500" b="0" i="0">
                <a:solidFill>
                  <a:srgbClr val="1A2B3C"/>
                </a:solidFill>
                <a:latin typeface="Calibri"/>
              </a:rPr>
              <a:t>•  No accreted local state to corrupt, fill the disk, or drift</a:t>
            </a:r>
          </a:p>
          <a:p>
            <a:pPr algn="l">
              <a:lnSpc>
                <a:spcPct val="115000"/>
              </a:lnSpc>
            </a:pPr>
            <a:r>
              <a:rPr sz="1500" b="0" i="0">
                <a:solidFill>
                  <a:srgbClr val="1A2B3C"/>
                </a:solidFill>
                <a:latin typeface="Calibri"/>
              </a:rPr>
              <a:t>•  rootless Podman's UID mapping: writes you DID allow land correctly</a:t>
            </a:r>
          </a:p>
          <a:p>
            <a:pPr algn="l">
              <a:lnSpc>
                <a:spcPct val="115000"/>
              </a:lnSpc>
            </a:pPr>
            <a:r>
              <a:rPr sz="1500" b="0" i="0">
                <a:solidFill>
                  <a:srgbClr val="1A2B3C"/>
                </a:solidFill>
                <a:latin typeface="Calibri"/>
              </a:rPr>
              <a:t>•  Kubernetes ephemeral-storage budgets cap the tmpfs + writable layers</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Rounded Rectangle 1"/>
          <p:cNvSpPr/>
          <p:nvPr/>
        </p:nvSpPr>
        <p:spPr>
          <a:xfrm>
            <a:off x="548640" y="548640"/>
            <a:ext cx="2286000" cy="594360"/>
          </a:xfrm>
          <a:prstGeom prst="roundRect">
            <a:avLst>
              <a:gd name="adj" fmla="val 50000"/>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48640"/>
            <a:ext cx="2286000" cy="594360"/>
          </a:xfrm>
          <a:prstGeom prst="rect">
            <a:avLst/>
          </a:prstGeom>
          <a:noFill/>
        </p:spPr>
        <p:txBody>
          <a:bodyPr wrap="square" anchor="ctr" lIns="45720" rIns="45720">
            <a:spAutoFit/>
          </a:bodyPr>
          <a:lstStyle/>
          <a:p>
            <a:pPr algn="ctr"/>
            <a:r>
              <a:rPr sz="2200" b="1" i="0">
                <a:solidFill>
                  <a:srgbClr val="FFFFFF"/>
                </a:solidFill>
                <a:latin typeface="Calibri"/>
              </a:rPr>
              <a:t>▶ DEMO 08</a:t>
            </a:r>
          </a:p>
        </p:txBody>
      </p:sp>
      <p:sp>
        <p:nvSpPr>
          <p:cNvPr id="4" name="TextBox 3"/>
          <p:cNvSpPr txBox="1"/>
          <p:nvPr/>
        </p:nvSpPr>
        <p:spPr>
          <a:xfrm>
            <a:off x="548640" y="1645920"/>
            <a:ext cx="10972800" cy="1097280"/>
          </a:xfrm>
          <a:prstGeom prst="rect">
            <a:avLst/>
          </a:prstGeom>
          <a:noFill/>
        </p:spPr>
        <p:txBody>
          <a:bodyPr wrap="square" anchor="t" lIns="45720" rIns="45720">
            <a:spAutoFit/>
          </a:bodyPr>
          <a:lstStyle/>
          <a:p>
            <a:pPr algn="l"/>
            <a:r>
              <a:rPr sz="3600" b="1" i="0">
                <a:solidFill>
                  <a:srgbClr val="FFFFFF"/>
                </a:solidFill>
                <a:latin typeface="Calibri"/>
              </a:rPr>
              <a:t>Demo — Ephemeral filesystem</a:t>
            </a:r>
          </a:p>
        </p:txBody>
      </p:sp>
      <p:sp>
        <p:nvSpPr>
          <p:cNvPr id="5" name="TextBox 4"/>
          <p:cNvSpPr txBox="1"/>
          <p:nvPr/>
        </p:nvSpPr>
        <p:spPr>
          <a:xfrm>
            <a:off x="548640" y="2743200"/>
            <a:ext cx="10972800" cy="1371600"/>
          </a:xfrm>
          <a:prstGeom prst="rect">
            <a:avLst/>
          </a:prstGeom>
          <a:noFill/>
        </p:spPr>
        <p:txBody>
          <a:bodyPr wrap="square" anchor="t" lIns="45720" rIns="45720">
            <a:spAutoFit/>
          </a:bodyPr>
          <a:lstStyle/>
          <a:p>
            <a:pPr algn="l"/>
            <a:r>
              <a:rPr sz="2000" b="0" i="0">
                <a:solidFill>
                  <a:srgbClr val="ECF0F1"/>
                </a:solidFill>
                <a:latin typeface="Calibri"/>
              </a:rPr>
              <a:t>A read-only rootfs as the forcing function: the spdlog EROFS trap and the stdout-sink fix, ephemerality demonstrated across container restarts, and why scratch belongs on an explicit tmpfs.</a:t>
            </a:r>
          </a:p>
        </p:txBody>
      </p:sp>
      <p:sp>
        <p:nvSpPr>
          <p:cNvPr id="6" name="Rectangle 5"/>
          <p:cNvSpPr/>
          <p:nvPr/>
        </p:nvSpPr>
        <p:spPr>
          <a:xfrm>
            <a:off x="548640" y="4297680"/>
            <a:ext cx="11064240" cy="1097280"/>
          </a:xfrm>
          <a:prstGeom prst="rect">
            <a:avLst/>
          </a:prstGeom>
          <a:solidFill>
            <a:srgbClr val="0D21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4389120"/>
            <a:ext cx="10789920" cy="457200"/>
          </a:xfrm>
          <a:prstGeom prst="rect">
            <a:avLst/>
          </a:prstGeom>
          <a:noFill/>
        </p:spPr>
        <p:txBody>
          <a:bodyPr wrap="square" anchor="t" lIns="45720" rIns="45720">
            <a:spAutoFit/>
          </a:bodyPr>
          <a:lstStyle/>
          <a:p>
            <a:pPr algn="l"/>
            <a:r>
              <a:rPr sz="1800" b="0" i="0">
                <a:solidFill>
                  <a:srgbClr val="00BCD4"/>
                </a:solidFill>
                <a:latin typeface="Consolas"/>
              </a:rPr>
              <a:t>$ cd examples/statelessness/08-ephemeral-filesystem &amp;&amp; ./demo.sh</a:t>
            </a:r>
          </a:p>
        </p:txBody>
      </p:sp>
      <p:sp>
        <p:nvSpPr>
          <p:cNvPr id="8" name="TextBox 7"/>
          <p:cNvSpPr txBox="1"/>
          <p:nvPr/>
        </p:nvSpPr>
        <p:spPr>
          <a:xfrm>
            <a:off x="731520" y="4892040"/>
            <a:ext cx="10789920" cy="365760"/>
          </a:xfrm>
          <a:prstGeom prst="rect">
            <a:avLst/>
          </a:prstGeom>
          <a:noFill/>
        </p:spPr>
        <p:txBody>
          <a:bodyPr wrap="square" anchor="t" lIns="45720" rIns="45720">
            <a:spAutoFit/>
          </a:bodyPr>
          <a:lstStyle/>
          <a:p>
            <a:pPr algn="l"/>
            <a:r>
              <a:rPr sz="1100" b="0" i="0">
                <a:solidFill>
                  <a:srgbClr val="90A4AE"/>
                </a:solidFill>
                <a:latin typeface="Consolas"/>
              </a:rPr>
              <a:t>  source on site: patterncatalyst.github.io/cpp-container-optimization-tutorial/examples/statelessness-08-ephemeral-filesystem/</a:t>
            </a:r>
          </a:p>
        </p:txBody>
      </p:sp>
      <p:sp>
        <p:nvSpPr>
          <p:cNvPr id="9" name="TextBox 8"/>
          <p:cNvSpPr txBox="1"/>
          <p:nvPr/>
        </p:nvSpPr>
        <p:spPr>
          <a:xfrm>
            <a:off x="10820095" y="6400800"/>
            <a:ext cx="914400" cy="274320"/>
          </a:xfrm>
          <a:prstGeom prst="rect">
            <a:avLst/>
          </a:prstGeom>
          <a:noFill/>
        </p:spPr>
        <p:txBody>
          <a:bodyPr wrap="square" anchor="t" lIns="45720" rIns="45720">
            <a:spAutoFit/>
          </a:bodyPr>
          <a:lstStyle/>
          <a:p>
            <a:pPr algn="r"/>
            <a:r>
              <a:rPr sz="1100" b="0" i="0">
                <a:solidFill>
                  <a:srgbClr val="90A4AE"/>
                </a:solidFill>
                <a:latin typeface="Calibri"/>
              </a:rPr>
              <a:t>48 / 67</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1828800"/>
            <a:ext cx="3657600" cy="2286000"/>
          </a:xfrm>
          <a:prstGeom prst="rect">
            <a:avLst/>
          </a:prstGeom>
          <a:noFill/>
        </p:spPr>
        <p:txBody>
          <a:bodyPr wrap="square" anchor="t" lIns="45720" rIns="45720">
            <a:spAutoFit/>
          </a:bodyPr>
          <a:lstStyle/>
          <a:p>
            <a:pPr algn="l"/>
            <a:r>
              <a:rPr sz="18000" b="1" i="0">
                <a:solidFill>
                  <a:srgbClr val="00BCD4"/>
                </a:solidFill>
                <a:latin typeface="Calibri"/>
              </a:rPr>
              <a:t>§9</a:t>
            </a:r>
          </a:p>
        </p:txBody>
      </p:sp>
      <p:sp>
        <p:nvSpPr>
          <p:cNvPr id="3" name="TextBox 2"/>
          <p:cNvSpPr txBox="1"/>
          <p:nvPr/>
        </p:nvSpPr>
        <p:spPr>
          <a:xfrm>
            <a:off x="4114800" y="2103120"/>
            <a:ext cx="7772400" cy="1828800"/>
          </a:xfrm>
          <a:prstGeom prst="rect">
            <a:avLst/>
          </a:prstGeom>
          <a:noFill/>
        </p:spPr>
        <p:txBody>
          <a:bodyPr wrap="square" anchor="t" lIns="45720" rIns="45720">
            <a:spAutoFit/>
          </a:bodyPr>
          <a:lstStyle/>
          <a:p>
            <a:pPr algn="l"/>
            <a:r>
              <a:rPr sz="3600" b="1" i="0">
                <a:solidFill>
                  <a:srgbClr val="FFFFFF"/>
                </a:solidFill>
                <a:latin typeface="Calibri"/>
              </a:rPr>
              <a:t>Health checks &amp; graceful shutdown</a:t>
            </a:r>
          </a:p>
        </p:txBody>
      </p:sp>
      <p:sp>
        <p:nvSpPr>
          <p:cNvPr id="4" name="TextBox 3"/>
          <p:cNvSpPr txBox="1"/>
          <p:nvPr/>
        </p:nvSpPr>
        <p:spPr>
          <a:xfrm>
            <a:off x="4114800" y="3474720"/>
            <a:ext cx="7772400" cy="1828800"/>
          </a:xfrm>
          <a:prstGeom prst="rect">
            <a:avLst/>
          </a:prstGeom>
          <a:noFill/>
        </p:spPr>
        <p:txBody>
          <a:bodyPr wrap="square" anchor="t" lIns="45720" rIns="45720">
            <a:spAutoFit/>
          </a:bodyPr>
          <a:lstStyle/>
          <a:p>
            <a:pPr algn="l"/>
            <a:r>
              <a:rPr sz="2000" b="0" i="1">
                <a:solidFill>
                  <a:srgbClr val="90A4AE"/>
                </a:solidFill>
                <a:latin typeface="Calibri"/>
              </a:rPr>
              <a:t>Three probes, the gRPC health protocol, graceful shutdown.</a:t>
            </a:r>
          </a:p>
        </p:txBody>
      </p:sp>
      <p:sp>
        <p:nvSpPr>
          <p:cNvPr id="5" name="TextBox 4"/>
          <p:cNvSpPr txBox="1"/>
          <p:nvPr/>
        </p:nvSpPr>
        <p:spPr>
          <a:xfrm>
            <a:off x="10820095" y="6400800"/>
            <a:ext cx="914400" cy="274320"/>
          </a:xfrm>
          <a:prstGeom prst="rect">
            <a:avLst/>
          </a:prstGeom>
          <a:noFill/>
        </p:spPr>
        <p:txBody>
          <a:bodyPr wrap="square" anchor="t" lIns="45720" rIns="45720">
            <a:spAutoFit/>
          </a:bodyPr>
          <a:lstStyle/>
          <a:p>
            <a:pPr algn="r"/>
            <a:r>
              <a:rPr sz="1100" b="0" i="0">
                <a:solidFill>
                  <a:srgbClr val="90A4AE"/>
                </a:solidFill>
                <a:latin typeface="Calibri"/>
              </a:rPr>
              <a:t>49 / 67</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640080"/>
          </a:xfrm>
          <a:prstGeom prst="rect">
            <a:avLst/>
          </a:prstGeom>
          <a:solidFill>
            <a:srgbClr val="1E6F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37160"/>
            <a:ext cx="6400800" cy="365760"/>
          </a:xfrm>
          <a:prstGeom prst="rect">
            <a:avLst/>
          </a:prstGeom>
          <a:noFill/>
        </p:spPr>
        <p:txBody>
          <a:bodyPr wrap="square" anchor="t" lIns="45720" rIns="45720">
            <a:spAutoFit/>
          </a:bodyPr>
          <a:lstStyle/>
          <a:p>
            <a:pPr algn="l"/>
            <a:r>
              <a:rPr sz="2800" b="1" i="0">
                <a:solidFill>
                  <a:srgbClr val="FFFFFF"/>
                </a:solidFill>
                <a:latin typeface="Calibri"/>
              </a:rPr>
              <a:t>Health checks &amp; graceful shutdown</a:t>
            </a:r>
          </a:p>
        </p:txBody>
      </p:sp>
      <p:sp>
        <p:nvSpPr>
          <p:cNvPr id="4" name="Rounded Rectangle 3"/>
          <p:cNvSpPr/>
          <p:nvPr/>
        </p:nvSpPr>
        <p:spPr>
          <a:xfrm>
            <a:off x="10454335" y="164592"/>
            <a:ext cx="1463040" cy="320040"/>
          </a:xfrm>
          <a:prstGeom prst="roundRect">
            <a:avLst>
              <a:gd name="adj" fmla="val 50000"/>
            </a:avLst>
          </a:prstGeom>
          <a:solidFill>
            <a:srgbClr val="1A2B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454335" y="164592"/>
            <a:ext cx="1463040" cy="320040"/>
          </a:xfrm>
          <a:prstGeom prst="rect">
            <a:avLst/>
          </a:prstGeom>
          <a:noFill/>
        </p:spPr>
        <p:txBody>
          <a:bodyPr wrap="square" anchor="ctr" lIns="45720" rIns="45720">
            <a:spAutoFit/>
          </a:bodyPr>
          <a:lstStyle/>
          <a:p>
            <a:pPr algn="ctr"/>
            <a:r>
              <a:rPr sz="1400" b="1" i="0">
                <a:solidFill>
                  <a:srgbClr val="FFFFFF"/>
                </a:solidFill>
                <a:latin typeface="Calibri"/>
              </a:rPr>
              <a:t>Doc 09</a:t>
            </a:r>
          </a:p>
        </p:txBody>
      </p:sp>
      <p:sp>
        <p:nvSpPr>
          <p:cNvPr id="6" name="TextBox 5"/>
          <p:cNvSpPr txBox="1"/>
          <p:nvPr/>
        </p:nvSpPr>
        <p:spPr>
          <a:xfrm>
            <a:off x="365760" y="6537960"/>
            <a:ext cx="8229600" cy="274320"/>
          </a:xfrm>
          <a:prstGeom prst="rect">
            <a:avLst/>
          </a:prstGeom>
          <a:noFill/>
        </p:spPr>
        <p:txBody>
          <a:bodyPr wrap="square" anchor="t" lIns="45720" rIns="45720">
            <a:spAutoFit/>
          </a:bodyPr>
          <a:lstStyle/>
          <a:p>
            <a:pPr algn="l"/>
            <a:r>
              <a:rPr sz="1100" b="0" i="0">
                <a:solidFill>
                  <a:srgbClr val="90A4AE"/>
                </a:solidFill>
                <a:latin typeface="Calibri"/>
              </a:rPr>
              <a:t>Optimizing Modern C++ with Containers   |   Health checks &amp; graceful shutdown</a:t>
            </a:r>
          </a:p>
        </p:txBody>
      </p:sp>
      <p:sp>
        <p:nvSpPr>
          <p:cNvPr id="7" name="TextBox 6"/>
          <p:cNvSpPr txBox="1"/>
          <p:nvPr/>
        </p:nvSpPr>
        <p:spPr>
          <a:xfrm>
            <a:off x="10820095" y="6537960"/>
            <a:ext cx="1005840" cy="274320"/>
          </a:xfrm>
          <a:prstGeom prst="rect">
            <a:avLst/>
          </a:prstGeom>
          <a:noFill/>
        </p:spPr>
        <p:txBody>
          <a:bodyPr wrap="square" anchor="t" lIns="45720" rIns="45720">
            <a:spAutoFit/>
          </a:bodyPr>
          <a:lstStyle/>
          <a:p>
            <a:pPr algn="r"/>
            <a:r>
              <a:rPr sz="1100" b="0" i="0">
                <a:solidFill>
                  <a:srgbClr val="90A4AE"/>
                </a:solidFill>
                <a:latin typeface="Calibri"/>
              </a:rPr>
              <a:t>50 / 67</a:t>
            </a:r>
          </a:p>
        </p:txBody>
      </p:sp>
      <p:sp>
        <p:nvSpPr>
          <p:cNvPr id="8" name="TextBox 7"/>
          <p:cNvSpPr txBox="1"/>
          <p:nvPr/>
        </p:nvSpPr>
        <p:spPr>
          <a:xfrm>
            <a:off x="457200" y="822960"/>
            <a:ext cx="10972800" cy="548640"/>
          </a:xfrm>
          <a:prstGeom prst="rect">
            <a:avLst/>
          </a:prstGeom>
          <a:noFill/>
        </p:spPr>
        <p:txBody>
          <a:bodyPr wrap="square" anchor="t" lIns="45720" rIns="45720">
            <a:spAutoFit/>
          </a:bodyPr>
          <a:lstStyle/>
          <a:p>
            <a:pPr algn="l"/>
            <a:r>
              <a:rPr sz="2800" b="1" i="0">
                <a:solidFill>
                  <a:srgbClr val="1A2B3C"/>
                </a:solidFill>
                <a:latin typeface="Calibri"/>
              </a:rPr>
              <a:t>Startup, liveness, readiness</a:t>
            </a:r>
          </a:p>
        </p:txBody>
      </p:sp>
      <p:sp>
        <p:nvSpPr>
          <p:cNvPr id="9" name="TextBox 8"/>
          <p:cNvSpPr txBox="1"/>
          <p:nvPr/>
        </p:nvSpPr>
        <p:spPr>
          <a:xfrm>
            <a:off x="457200" y="1554480"/>
            <a:ext cx="5486400" cy="4572000"/>
          </a:xfrm>
          <a:prstGeom prst="rect">
            <a:avLst/>
          </a:prstGeom>
          <a:noFill/>
        </p:spPr>
        <p:txBody>
          <a:bodyPr wrap="square" anchor="t" lIns="45720" rIns="45720">
            <a:spAutoFit/>
          </a:bodyPr>
          <a:lstStyle/>
          <a:p>
            <a:pPr algn="l">
              <a:lnSpc>
                <a:spcPct val="115000"/>
              </a:lnSpc>
            </a:pPr>
            <a:r>
              <a:rPr sz="1800" b="1" i="0">
                <a:solidFill>
                  <a:srgbClr val="1E6FC8"/>
                </a:solidFill>
                <a:latin typeface="Calibri"/>
              </a:rPr>
              <a:t>Three probes, three questions</a:t>
            </a:r>
          </a:p>
          <a:p>
            <a:pPr algn="l">
              <a:lnSpc>
                <a:spcPct val="115000"/>
              </a:lnSpc>
            </a:pPr>
            <a:r>
              <a:rPr sz="1500" b="0" i="0">
                <a:solidFill>
                  <a:srgbClr val="1A2B3C"/>
                </a:solidFill>
                <a:latin typeface="Calibri"/>
              </a:rPr>
              <a:t>•  Startup — "has it finished initializing?" (permissive, gates the others)</a:t>
            </a:r>
          </a:p>
          <a:p>
            <a:pPr algn="l">
              <a:lnSpc>
                <a:spcPct val="115000"/>
              </a:lnSpc>
            </a:pPr>
            <a:r>
              <a:rPr sz="1500" b="0" i="0">
                <a:solidFill>
                  <a:srgbClr val="1A2B3C"/>
                </a:solidFill>
                <a:latin typeface="Calibri"/>
              </a:rPr>
              <a:t>•  Liveness — "is it deadlocked?" (narrow; failure means restart)</a:t>
            </a:r>
          </a:p>
          <a:p>
            <a:pPr algn="l">
              <a:lnSpc>
                <a:spcPct val="115000"/>
              </a:lnSpc>
            </a:pPr>
            <a:r>
              <a:rPr sz="1500" b="0" i="0">
                <a:solidFill>
                  <a:srgbClr val="1A2B3C"/>
                </a:solidFill>
                <a:latin typeface="Calibri"/>
              </a:rPr>
              <a:t>•  Readiness — "should it get traffic?" (fine-grained; failure means drain)</a:t>
            </a:r>
          </a:p>
          <a:p>
            <a:pPr algn="l">
              <a:lnSpc>
                <a:spcPct val="115000"/>
              </a:lnSpc>
            </a:pPr>
            <a:r>
              <a:rPr sz="1500" b="0" i="0">
                <a:solidFill>
                  <a:srgbClr val="1A2B3C"/>
                </a:solidFill>
                <a:latin typeface="Calibri"/>
              </a:rPr>
              <a:t>•  gRPC standard health protocol via HealthCheckServiceInterface</a:t>
            </a:r>
          </a:p>
        </p:txBody>
      </p:sp>
      <p:pic>
        <p:nvPicPr>
          <p:cNvPr id="10" name="Picture 9" descr="09-health-checks.jpg"/>
          <p:cNvPicPr>
            <a:picLocks noChangeAspect="1"/>
          </p:cNvPicPr>
          <p:nvPr/>
        </p:nvPicPr>
        <p:blipFill>
          <a:blip r:embed="rId2"/>
          <a:stretch>
            <a:fillRect/>
          </a:stretch>
        </p:blipFill>
        <p:spPr>
          <a:xfrm>
            <a:off x="6217920" y="1554480"/>
            <a:ext cx="5486400" cy="2897065"/>
          </a:xfrm>
          <a:prstGeom prst="rect">
            <a:avLst/>
          </a:prstGeom>
        </p:spPr>
      </p:pic>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640080"/>
          </a:xfrm>
          <a:prstGeom prst="rect">
            <a:avLst/>
          </a:prstGeom>
          <a:solidFill>
            <a:srgbClr val="1E6F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37160"/>
            <a:ext cx="6400800" cy="365760"/>
          </a:xfrm>
          <a:prstGeom prst="rect">
            <a:avLst/>
          </a:prstGeom>
          <a:noFill/>
        </p:spPr>
        <p:txBody>
          <a:bodyPr wrap="square" anchor="t" lIns="45720" rIns="45720">
            <a:spAutoFit/>
          </a:bodyPr>
          <a:lstStyle/>
          <a:p>
            <a:pPr algn="l"/>
            <a:r>
              <a:rPr sz="2800" b="1" i="0">
                <a:solidFill>
                  <a:srgbClr val="FFFFFF"/>
                </a:solidFill>
                <a:latin typeface="Calibri"/>
              </a:rPr>
              <a:t>Health checks &amp; graceful shutdown</a:t>
            </a:r>
          </a:p>
        </p:txBody>
      </p:sp>
      <p:sp>
        <p:nvSpPr>
          <p:cNvPr id="4" name="Rounded Rectangle 3"/>
          <p:cNvSpPr/>
          <p:nvPr/>
        </p:nvSpPr>
        <p:spPr>
          <a:xfrm>
            <a:off x="10454335" y="164592"/>
            <a:ext cx="1463040" cy="320040"/>
          </a:xfrm>
          <a:prstGeom prst="roundRect">
            <a:avLst>
              <a:gd name="adj" fmla="val 50000"/>
            </a:avLst>
          </a:prstGeom>
          <a:solidFill>
            <a:srgbClr val="1A2B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454335" y="164592"/>
            <a:ext cx="1463040" cy="320040"/>
          </a:xfrm>
          <a:prstGeom prst="rect">
            <a:avLst/>
          </a:prstGeom>
          <a:noFill/>
        </p:spPr>
        <p:txBody>
          <a:bodyPr wrap="square" anchor="ctr" lIns="45720" rIns="45720">
            <a:spAutoFit/>
          </a:bodyPr>
          <a:lstStyle/>
          <a:p>
            <a:pPr algn="ctr"/>
            <a:r>
              <a:rPr sz="1400" b="1" i="0">
                <a:solidFill>
                  <a:srgbClr val="FFFFFF"/>
                </a:solidFill>
                <a:latin typeface="Calibri"/>
              </a:rPr>
              <a:t>Doc 09</a:t>
            </a:r>
          </a:p>
        </p:txBody>
      </p:sp>
      <p:sp>
        <p:nvSpPr>
          <p:cNvPr id="6" name="TextBox 5"/>
          <p:cNvSpPr txBox="1"/>
          <p:nvPr/>
        </p:nvSpPr>
        <p:spPr>
          <a:xfrm>
            <a:off x="365760" y="6537960"/>
            <a:ext cx="8229600" cy="274320"/>
          </a:xfrm>
          <a:prstGeom prst="rect">
            <a:avLst/>
          </a:prstGeom>
          <a:noFill/>
        </p:spPr>
        <p:txBody>
          <a:bodyPr wrap="square" anchor="t" lIns="45720" rIns="45720">
            <a:spAutoFit/>
          </a:bodyPr>
          <a:lstStyle/>
          <a:p>
            <a:pPr algn="l"/>
            <a:r>
              <a:rPr sz="1100" b="0" i="0">
                <a:solidFill>
                  <a:srgbClr val="90A4AE"/>
                </a:solidFill>
                <a:latin typeface="Calibri"/>
              </a:rPr>
              <a:t>Optimizing Modern C++ with Containers   |   Health checks &amp; graceful shutdown</a:t>
            </a:r>
          </a:p>
        </p:txBody>
      </p:sp>
      <p:sp>
        <p:nvSpPr>
          <p:cNvPr id="7" name="TextBox 6"/>
          <p:cNvSpPr txBox="1"/>
          <p:nvPr/>
        </p:nvSpPr>
        <p:spPr>
          <a:xfrm>
            <a:off x="10820095" y="6537960"/>
            <a:ext cx="1005840" cy="274320"/>
          </a:xfrm>
          <a:prstGeom prst="rect">
            <a:avLst/>
          </a:prstGeom>
          <a:noFill/>
        </p:spPr>
        <p:txBody>
          <a:bodyPr wrap="square" anchor="t" lIns="45720" rIns="45720">
            <a:spAutoFit/>
          </a:bodyPr>
          <a:lstStyle/>
          <a:p>
            <a:pPr algn="r"/>
            <a:r>
              <a:rPr sz="1100" b="0" i="0">
                <a:solidFill>
                  <a:srgbClr val="90A4AE"/>
                </a:solidFill>
                <a:latin typeface="Calibri"/>
              </a:rPr>
              <a:t>51 / 67</a:t>
            </a:r>
          </a:p>
        </p:txBody>
      </p:sp>
      <p:sp>
        <p:nvSpPr>
          <p:cNvPr id="8" name="TextBox 7"/>
          <p:cNvSpPr txBox="1"/>
          <p:nvPr/>
        </p:nvSpPr>
        <p:spPr>
          <a:xfrm>
            <a:off x="457200" y="822960"/>
            <a:ext cx="10972800" cy="548640"/>
          </a:xfrm>
          <a:prstGeom prst="rect">
            <a:avLst/>
          </a:prstGeom>
          <a:noFill/>
        </p:spPr>
        <p:txBody>
          <a:bodyPr wrap="square" anchor="t" lIns="45720" rIns="45720">
            <a:spAutoFit/>
          </a:bodyPr>
          <a:lstStyle/>
          <a:p>
            <a:pPr algn="l"/>
            <a:r>
              <a:rPr sz="2800" b="1" i="0">
                <a:solidFill>
                  <a:srgbClr val="1A2B3C"/>
                </a:solidFill>
                <a:latin typeface="Calibri"/>
              </a:rPr>
              <a:t>The graceful-shutdown sequence</a:t>
            </a:r>
          </a:p>
        </p:txBody>
      </p:sp>
      <p:sp>
        <p:nvSpPr>
          <p:cNvPr id="9" name="TextBox 8"/>
          <p:cNvSpPr txBox="1"/>
          <p:nvPr/>
        </p:nvSpPr>
        <p:spPr>
          <a:xfrm>
            <a:off x="457200" y="1554480"/>
            <a:ext cx="11247120" cy="4572000"/>
          </a:xfrm>
          <a:prstGeom prst="rect">
            <a:avLst/>
          </a:prstGeom>
          <a:noFill/>
        </p:spPr>
        <p:txBody>
          <a:bodyPr wrap="square" anchor="t" lIns="45720" rIns="45720">
            <a:spAutoFit/>
          </a:bodyPr>
          <a:lstStyle/>
          <a:p>
            <a:pPr algn="l">
              <a:lnSpc>
                <a:spcPct val="115000"/>
              </a:lnSpc>
            </a:pPr>
            <a:r>
              <a:rPr sz="1800" b="1" i="0">
                <a:solidFill>
                  <a:srgbClr val="F5A623"/>
                </a:solidFill>
                <a:latin typeface="Calibri"/>
              </a:rPr>
              <a:t>SIGTERM to clean exit, in order</a:t>
            </a:r>
          </a:p>
          <a:p>
            <a:pPr algn="l">
              <a:lnSpc>
                <a:spcPct val="115000"/>
              </a:lnSpc>
            </a:pPr>
            <a:r>
              <a:rPr sz="1500" b="0" i="0">
                <a:solidFill>
                  <a:srgbClr val="1A2B3C"/>
                </a:solidFill>
                <a:latin typeface="Calibri"/>
              </a:rPr>
              <a:t>•  Signal handler sets a flag only (async-signal-safe)</a:t>
            </a:r>
          </a:p>
          <a:p>
            <a:pPr algn="l">
              <a:lnSpc>
                <a:spcPct val="115000"/>
              </a:lnSpc>
            </a:pPr>
            <a:r>
              <a:rPr sz="1500" b="0" i="0">
                <a:solidFill>
                  <a:srgbClr val="1A2B3C"/>
                </a:solidFill>
                <a:latin typeface="Calibri"/>
              </a:rPr>
              <a:t>•  A control thread flips readiness NOT_SERVING — the LB drains us</a:t>
            </a:r>
          </a:p>
          <a:p>
            <a:pPr algn="l">
              <a:lnSpc>
                <a:spcPct val="115000"/>
              </a:lnSpc>
            </a:pPr>
            <a:r>
              <a:rPr sz="1500" b="0" i="0">
                <a:solidFill>
                  <a:srgbClr val="1A2B3C"/>
                </a:solidFill>
                <a:latin typeface="Calibri"/>
              </a:rPr>
              <a:t>•  server-&gt;Shutdown(deadline) lets in-flight RPCs finish</a:t>
            </a:r>
          </a:p>
          <a:p>
            <a:pPr algn="l">
              <a:lnSpc>
                <a:spcPct val="115000"/>
              </a:lnSpc>
            </a:pPr>
            <a:r>
              <a:rPr sz="1500" b="0" i="0">
                <a:solidFill>
                  <a:srgbClr val="1A2B3C"/>
                </a:solidFill>
                <a:latin typeface="Calibri"/>
              </a:rPr>
              <a:t>•  Reverse-order destruction in main() — pools, channels, config</a:t>
            </a:r>
          </a:p>
          <a:p>
            <a:pPr algn="l">
              <a:lnSpc>
                <a:spcPct val="115000"/>
              </a:lnSpc>
            </a:pPr>
            <a:r>
              <a:rPr sz="1500" b="0" i="0">
                <a:solidFill>
                  <a:srgbClr val="1A2B3C"/>
                </a:solidFill>
                <a:latin typeface="Calibri"/>
              </a:rPr>
              <a:t>•  std::stop_token cancels background workers cleanly (Doc 5)</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640080"/>
          </a:xfrm>
          <a:prstGeom prst="rect">
            <a:avLst/>
          </a:prstGeom>
          <a:solidFill>
            <a:srgbClr val="1E6F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37160"/>
            <a:ext cx="6400800" cy="365760"/>
          </a:xfrm>
          <a:prstGeom prst="rect">
            <a:avLst/>
          </a:prstGeom>
          <a:noFill/>
        </p:spPr>
        <p:txBody>
          <a:bodyPr wrap="square" anchor="t" lIns="45720" rIns="45720">
            <a:spAutoFit/>
          </a:bodyPr>
          <a:lstStyle/>
          <a:p>
            <a:pPr algn="l"/>
            <a:r>
              <a:rPr sz="2800" b="1" i="0">
                <a:solidFill>
                  <a:srgbClr val="FFFFFF"/>
                </a:solidFill>
                <a:latin typeface="Calibri"/>
              </a:rPr>
              <a:t>Health checks &amp; graceful shutdown</a:t>
            </a:r>
          </a:p>
        </p:txBody>
      </p:sp>
      <p:sp>
        <p:nvSpPr>
          <p:cNvPr id="4" name="Rounded Rectangle 3"/>
          <p:cNvSpPr/>
          <p:nvPr/>
        </p:nvSpPr>
        <p:spPr>
          <a:xfrm>
            <a:off x="10454335" y="164592"/>
            <a:ext cx="1463040" cy="320040"/>
          </a:xfrm>
          <a:prstGeom prst="roundRect">
            <a:avLst>
              <a:gd name="adj" fmla="val 50000"/>
            </a:avLst>
          </a:prstGeom>
          <a:solidFill>
            <a:srgbClr val="1A2B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454335" y="164592"/>
            <a:ext cx="1463040" cy="320040"/>
          </a:xfrm>
          <a:prstGeom prst="rect">
            <a:avLst/>
          </a:prstGeom>
          <a:noFill/>
        </p:spPr>
        <p:txBody>
          <a:bodyPr wrap="square" anchor="ctr" lIns="45720" rIns="45720">
            <a:spAutoFit/>
          </a:bodyPr>
          <a:lstStyle/>
          <a:p>
            <a:pPr algn="ctr"/>
            <a:r>
              <a:rPr sz="1400" b="1" i="0">
                <a:solidFill>
                  <a:srgbClr val="FFFFFF"/>
                </a:solidFill>
                <a:latin typeface="Calibri"/>
              </a:rPr>
              <a:t>Doc 09</a:t>
            </a:r>
          </a:p>
        </p:txBody>
      </p:sp>
      <p:sp>
        <p:nvSpPr>
          <p:cNvPr id="6" name="TextBox 5"/>
          <p:cNvSpPr txBox="1"/>
          <p:nvPr/>
        </p:nvSpPr>
        <p:spPr>
          <a:xfrm>
            <a:off x="365760" y="6537960"/>
            <a:ext cx="8229600" cy="274320"/>
          </a:xfrm>
          <a:prstGeom prst="rect">
            <a:avLst/>
          </a:prstGeom>
          <a:noFill/>
        </p:spPr>
        <p:txBody>
          <a:bodyPr wrap="square" anchor="t" lIns="45720" rIns="45720">
            <a:spAutoFit/>
          </a:bodyPr>
          <a:lstStyle/>
          <a:p>
            <a:pPr algn="l"/>
            <a:r>
              <a:rPr sz="1100" b="0" i="0">
                <a:solidFill>
                  <a:srgbClr val="90A4AE"/>
                </a:solidFill>
                <a:latin typeface="Calibri"/>
              </a:rPr>
              <a:t>Optimizing Modern C++ with Containers   |   Health checks &amp; graceful shutdown</a:t>
            </a:r>
          </a:p>
        </p:txBody>
      </p:sp>
      <p:sp>
        <p:nvSpPr>
          <p:cNvPr id="7" name="TextBox 6"/>
          <p:cNvSpPr txBox="1"/>
          <p:nvPr/>
        </p:nvSpPr>
        <p:spPr>
          <a:xfrm>
            <a:off x="10820095" y="6537960"/>
            <a:ext cx="1005840" cy="274320"/>
          </a:xfrm>
          <a:prstGeom prst="rect">
            <a:avLst/>
          </a:prstGeom>
          <a:noFill/>
        </p:spPr>
        <p:txBody>
          <a:bodyPr wrap="square" anchor="t" lIns="45720" rIns="45720">
            <a:spAutoFit/>
          </a:bodyPr>
          <a:lstStyle/>
          <a:p>
            <a:pPr algn="r"/>
            <a:r>
              <a:rPr sz="1100" b="0" i="0">
                <a:solidFill>
                  <a:srgbClr val="90A4AE"/>
                </a:solidFill>
                <a:latin typeface="Calibri"/>
              </a:rPr>
              <a:t>52 / 67</a:t>
            </a:r>
          </a:p>
        </p:txBody>
      </p:sp>
      <p:sp>
        <p:nvSpPr>
          <p:cNvPr id="8" name="TextBox 7"/>
          <p:cNvSpPr txBox="1"/>
          <p:nvPr/>
        </p:nvSpPr>
        <p:spPr>
          <a:xfrm>
            <a:off x="457200" y="822960"/>
            <a:ext cx="10972800" cy="548640"/>
          </a:xfrm>
          <a:prstGeom prst="rect">
            <a:avLst/>
          </a:prstGeom>
          <a:noFill/>
        </p:spPr>
        <p:txBody>
          <a:bodyPr wrap="square" anchor="t" lIns="45720" rIns="45720">
            <a:spAutoFit/>
          </a:bodyPr>
          <a:lstStyle/>
          <a:p>
            <a:pPr algn="l"/>
            <a:r>
              <a:rPr sz="2800" b="1" i="0">
                <a:solidFill>
                  <a:srgbClr val="1A2B3C"/>
                </a:solidFill>
                <a:latin typeface="Calibri"/>
              </a:rPr>
              <a:t>Separate port vs. same port</a:t>
            </a:r>
          </a:p>
        </p:txBody>
      </p:sp>
      <p:sp>
        <p:nvSpPr>
          <p:cNvPr id="9" name="TextBox 8"/>
          <p:cNvSpPr txBox="1"/>
          <p:nvPr/>
        </p:nvSpPr>
        <p:spPr>
          <a:xfrm>
            <a:off x="457200" y="1554480"/>
            <a:ext cx="11247120" cy="4572000"/>
          </a:xfrm>
          <a:prstGeom prst="rect">
            <a:avLst/>
          </a:prstGeom>
          <a:noFill/>
        </p:spPr>
        <p:txBody>
          <a:bodyPr wrap="square" anchor="t" lIns="45720" rIns="45720">
            <a:spAutoFit/>
          </a:bodyPr>
          <a:lstStyle/>
          <a:p>
            <a:pPr algn="l">
              <a:lnSpc>
                <a:spcPct val="115000"/>
              </a:lnSpc>
            </a:pPr>
            <a:r>
              <a:rPr sz="1800" b="1" i="0">
                <a:solidFill>
                  <a:srgbClr val="1E6FC8"/>
                </a:solidFill>
                <a:latin typeface="Calibri"/>
              </a:rPr>
              <a:t>Where the probes listen</a:t>
            </a:r>
          </a:p>
          <a:p>
            <a:pPr algn="l">
              <a:lnSpc>
                <a:spcPct val="115000"/>
              </a:lnSpc>
            </a:pPr>
            <a:r>
              <a:rPr sz="1500" b="0" i="0">
                <a:solidFill>
                  <a:srgbClr val="1A2B3C"/>
                </a:solidFill>
                <a:latin typeface="Calibri"/>
              </a:rPr>
              <a:t>•  Same port: the gRPC health service rides the main port — simplest</a:t>
            </a:r>
          </a:p>
          <a:p>
            <a:pPr algn="l">
              <a:lnSpc>
                <a:spcPct val="115000"/>
              </a:lnSpc>
            </a:pPr>
            <a:r>
              <a:rPr sz="1500" b="0" i="0">
                <a:solidFill>
                  <a:srgbClr val="1A2B3C"/>
                </a:solidFill>
                <a:latin typeface="Calibri"/>
              </a:rPr>
              <a:t>•  Separate port: an HTTP /healthz for liveness, isolated from app load</a:t>
            </a:r>
          </a:p>
          <a:p>
            <a:pPr algn="l">
              <a:lnSpc>
                <a:spcPct val="115000"/>
              </a:lnSpc>
            </a:pPr>
            <a:r>
              <a:rPr sz="1500" b="0" i="0">
                <a:solidFill>
                  <a:srgbClr val="1A2B3C"/>
                </a:solidFill>
                <a:latin typeface="Calibri"/>
              </a:rPr>
              <a:t>•  Hybrid (the 09 companion): HTTP liveness, gRPC readiness</a:t>
            </a:r>
          </a:p>
          <a:p>
            <a:pPr algn="l">
              <a:lnSpc>
                <a:spcPct val="115000"/>
              </a:lnSpc>
            </a:pPr>
            <a:r>
              <a:rPr sz="1500" b="0" i="0">
                <a:solidFill>
                  <a:srgbClr val="1A2B3C"/>
                </a:solidFill>
                <a:latin typeface="Calibri"/>
              </a:rPr>
              <a:t>•  Separate-port liveness keeps answering even when the app pool is saturated</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640080"/>
          </a:xfrm>
          <a:prstGeom prst="rect">
            <a:avLst/>
          </a:prstGeom>
          <a:solidFill>
            <a:srgbClr val="1E6F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37160"/>
            <a:ext cx="6400800" cy="365760"/>
          </a:xfrm>
          <a:prstGeom prst="rect">
            <a:avLst/>
          </a:prstGeom>
          <a:noFill/>
        </p:spPr>
        <p:txBody>
          <a:bodyPr wrap="square" anchor="t" lIns="45720" rIns="45720">
            <a:spAutoFit/>
          </a:bodyPr>
          <a:lstStyle/>
          <a:p>
            <a:pPr algn="l"/>
            <a:r>
              <a:rPr sz="2800" b="1" i="0">
                <a:solidFill>
                  <a:srgbClr val="FFFFFF"/>
                </a:solidFill>
                <a:latin typeface="Calibri"/>
              </a:rPr>
              <a:t>Health checks &amp; graceful shutdown</a:t>
            </a:r>
          </a:p>
        </p:txBody>
      </p:sp>
      <p:sp>
        <p:nvSpPr>
          <p:cNvPr id="4" name="Rounded Rectangle 3"/>
          <p:cNvSpPr/>
          <p:nvPr/>
        </p:nvSpPr>
        <p:spPr>
          <a:xfrm>
            <a:off x="10454335" y="164592"/>
            <a:ext cx="1463040" cy="320040"/>
          </a:xfrm>
          <a:prstGeom prst="roundRect">
            <a:avLst>
              <a:gd name="adj" fmla="val 50000"/>
            </a:avLst>
          </a:prstGeom>
          <a:solidFill>
            <a:srgbClr val="1A2B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454335" y="164592"/>
            <a:ext cx="1463040" cy="320040"/>
          </a:xfrm>
          <a:prstGeom prst="rect">
            <a:avLst/>
          </a:prstGeom>
          <a:noFill/>
        </p:spPr>
        <p:txBody>
          <a:bodyPr wrap="square" anchor="ctr" lIns="45720" rIns="45720">
            <a:spAutoFit/>
          </a:bodyPr>
          <a:lstStyle/>
          <a:p>
            <a:pPr algn="ctr"/>
            <a:r>
              <a:rPr sz="1400" b="1" i="0">
                <a:solidFill>
                  <a:srgbClr val="FFFFFF"/>
                </a:solidFill>
                <a:latin typeface="Calibri"/>
              </a:rPr>
              <a:t>Doc 09</a:t>
            </a:r>
          </a:p>
        </p:txBody>
      </p:sp>
      <p:sp>
        <p:nvSpPr>
          <p:cNvPr id="6" name="TextBox 5"/>
          <p:cNvSpPr txBox="1"/>
          <p:nvPr/>
        </p:nvSpPr>
        <p:spPr>
          <a:xfrm>
            <a:off x="365760" y="6537960"/>
            <a:ext cx="8229600" cy="274320"/>
          </a:xfrm>
          <a:prstGeom prst="rect">
            <a:avLst/>
          </a:prstGeom>
          <a:noFill/>
        </p:spPr>
        <p:txBody>
          <a:bodyPr wrap="square" anchor="t" lIns="45720" rIns="45720">
            <a:spAutoFit/>
          </a:bodyPr>
          <a:lstStyle/>
          <a:p>
            <a:pPr algn="l"/>
            <a:r>
              <a:rPr sz="1100" b="0" i="0">
                <a:solidFill>
                  <a:srgbClr val="90A4AE"/>
                </a:solidFill>
                <a:latin typeface="Calibri"/>
              </a:rPr>
              <a:t>Optimizing Modern C++ with Containers   |   Health checks &amp; graceful shutdown</a:t>
            </a:r>
          </a:p>
        </p:txBody>
      </p:sp>
      <p:sp>
        <p:nvSpPr>
          <p:cNvPr id="7" name="TextBox 6"/>
          <p:cNvSpPr txBox="1"/>
          <p:nvPr/>
        </p:nvSpPr>
        <p:spPr>
          <a:xfrm>
            <a:off x="10820095" y="6537960"/>
            <a:ext cx="1005840" cy="274320"/>
          </a:xfrm>
          <a:prstGeom prst="rect">
            <a:avLst/>
          </a:prstGeom>
          <a:noFill/>
        </p:spPr>
        <p:txBody>
          <a:bodyPr wrap="square" anchor="t" lIns="45720" rIns="45720">
            <a:spAutoFit/>
          </a:bodyPr>
          <a:lstStyle/>
          <a:p>
            <a:pPr algn="r"/>
            <a:r>
              <a:rPr sz="1100" b="0" i="0">
                <a:solidFill>
                  <a:srgbClr val="90A4AE"/>
                </a:solidFill>
                <a:latin typeface="Calibri"/>
              </a:rPr>
              <a:t>53 / 67</a:t>
            </a:r>
          </a:p>
        </p:txBody>
      </p:sp>
      <p:sp>
        <p:nvSpPr>
          <p:cNvPr id="8" name="TextBox 7"/>
          <p:cNvSpPr txBox="1"/>
          <p:nvPr/>
        </p:nvSpPr>
        <p:spPr>
          <a:xfrm>
            <a:off x="457200" y="822960"/>
            <a:ext cx="10972800" cy="548640"/>
          </a:xfrm>
          <a:prstGeom prst="rect">
            <a:avLst/>
          </a:prstGeom>
          <a:noFill/>
        </p:spPr>
        <p:txBody>
          <a:bodyPr wrap="square" anchor="t" lIns="45720" rIns="45720">
            <a:spAutoFit/>
          </a:bodyPr>
          <a:lstStyle/>
          <a:p>
            <a:pPr algn="l"/>
            <a:r>
              <a:rPr sz="2800" b="1" i="0">
                <a:solidFill>
                  <a:srgbClr val="1A2B3C"/>
                </a:solidFill>
                <a:latin typeface="Calibri"/>
              </a:rPr>
              <a:t>Health-check anti-patterns</a:t>
            </a:r>
          </a:p>
        </p:txBody>
      </p:sp>
      <p:sp>
        <p:nvSpPr>
          <p:cNvPr id="9" name="TextBox 8"/>
          <p:cNvSpPr txBox="1"/>
          <p:nvPr/>
        </p:nvSpPr>
        <p:spPr>
          <a:xfrm>
            <a:off x="457200" y="1554480"/>
            <a:ext cx="11247120" cy="4572000"/>
          </a:xfrm>
          <a:prstGeom prst="rect">
            <a:avLst/>
          </a:prstGeom>
          <a:noFill/>
        </p:spPr>
        <p:txBody>
          <a:bodyPr wrap="square" anchor="t" lIns="45720" rIns="45720">
            <a:spAutoFit/>
          </a:bodyPr>
          <a:lstStyle/>
          <a:p>
            <a:pPr algn="l">
              <a:lnSpc>
                <a:spcPct val="115000"/>
              </a:lnSpc>
            </a:pPr>
            <a:r>
              <a:rPr sz="1800" b="1" i="0">
                <a:solidFill>
                  <a:srgbClr val="E84855"/>
                </a:solidFill>
                <a:latin typeface="Calibri"/>
              </a:rPr>
              <a:t>How probes cause the outages they should prevent</a:t>
            </a:r>
          </a:p>
          <a:p>
            <a:pPr algn="l">
              <a:lnSpc>
                <a:spcPct val="115000"/>
              </a:lnSpc>
            </a:pPr>
            <a:r>
              <a:rPr sz="1500" b="0" i="0">
                <a:solidFill>
                  <a:srgbClr val="1A2B3C"/>
                </a:solidFill>
                <a:latin typeface="Calibri"/>
              </a:rPr>
              <a:t>•  Liveness that checks dependencies → a DB blip restarts every replica</a:t>
            </a:r>
          </a:p>
          <a:p>
            <a:pPr algn="l">
              <a:lnSpc>
                <a:spcPct val="115000"/>
              </a:lnSpc>
            </a:pPr>
            <a:r>
              <a:rPr sz="1500" b="0" i="0">
                <a:solidFill>
                  <a:srgbClr val="1A2B3C"/>
                </a:solidFill>
                <a:latin typeface="Calibri"/>
              </a:rPr>
              <a:t>•  Readiness that's too coarse → flapping in and out of rotation</a:t>
            </a:r>
          </a:p>
          <a:p>
            <a:pPr algn="l">
              <a:lnSpc>
                <a:spcPct val="115000"/>
              </a:lnSpc>
            </a:pPr>
            <a:r>
              <a:rPr sz="1500" b="0" i="0">
                <a:solidFill>
                  <a:srgbClr val="1A2B3C"/>
                </a:solidFill>
                <a:latin typeface="Calibri"/>
              </a:rPr>
              <a:t>•  A probe heavier than a real request → the probe is the load</a:t>
            </a:r>
          </a:p>
          <a:p>
            <a:pPr algn="l">
              <a:lnSpc>
                <a:spcPct val="115000"/>
              </a:lnSpc>
            </a:pPr>
            <a:r>
              <a:rPr sz="1500" b="0" i="0">
                <a:solidFill>
                  <a:srgbClr val="1A2B3C"/>
                </a:solidFill>
                <a:latin typeface="Calibri"/>
              </a:rPr>
              <a:t>•  No startup probe → liveness fires during a slow cold start, restart loop</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Rounded Rectangle 1"/>
          <p:cNvSpPr/>
          <p:nvPr/>
        </p:nvSpPr>
        <p:spPr>
          <a:xfrm>
            <a:off x="548640" y="548640"/>
            <a:ext cx="2286000" cy="594360"/>
          </a:xfrm>
          <a:prstGeom prst="roundRect">
            <a:avLst>
              <a:gd name="adj" fmla="val 50000"/>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48640"/>
            <a:ext cx="2286000" cy="594360"/>
          </a:xfrm>
          <a:prstGeom prst="rect">
            <a:avLst/>
          </a:prstGeom>
          <a:noFill/>
        </p:spPr>
        <p:txBody>
          <a:bodyPr wrap="square" anchor="ctr" lIns="45720" rIns="45720">
            <a:spAutoFit/>
          </a:bodyPr>
          <a:lstStyle/>
          <a:p>
            <a:pPr algn="ctr"/>
            <a:r>
              <a:rPr sz="2200" b="1" i="0">
                <a:solidFill>
                  <a:srgbClr val="FFFFFF"/>
                </a:solidFill>
                <a:latin typeface="Calibri"/>
              </a:rPr>
              <a:t>▶ DEMO 09</a:t>
            </a:r>
          </a:p>
        </p:txBody>
      </p:sp>
      <p:sp>
        <p:nvSpPr>
          <p:cNvPr id="4" name="TextBox 3"/>
          <p:cNvSpPr txBox="1"/>
          <p:nvPr/>
        </p:nvSpPr>
        <p:spPr>
          <a:xfrm>
            <a:off x="548640" y="1645920"/>
            <a:ext cx="10972800" cy="1097280"/>
          </a:xfrm>
          <a:prstGeom prst="rect">
            <a:avLst/>
          </a:prstGeom>
          <a:noFill/>
        </p:spPr>
        <p:txBody>
          <a:bodyPr wrap="square" anchor="t" lIns="45720" rIns="45720">
            <a:spAutoFit/>
          </a:bodyPr>
          <a:lstStyle/>
          <a:p>
            <a:pPr algn="l"/>
            <a:r>
              <a:rPr sz="3600" b="1" i="0">
                <a:solidFill>
                  <a:srgbClr val="FFFFFF"/>
                </a:solidFill>
                <a:latin typeface="Calibri"/>
              </a:rPr>
              <a:t>Demo — Health checks &amp; shutdown</a:t>
            </a:r>
          </a:p>
        </p:txBody>
      </p:sp>
      <p:sp>
        <p:nvSpPr>
          <p:cNvPr id="5" name="TextBox 4"/>
          <p:cNvSpPr txBox="1"/>
          <p:nvPr/>
        </p:nvSpPr>
        <p:spPr>
          <a:xfrm>
            <a:off x="548640" y="2743200"/>
            <a:ext cx="10972800" cy="1371600"/>
          </a:xfrm>
          <a:prstGeom prst="rect">
            <a:avLst/>
          </a:prstGeom>
          <a:noFill/>
        </p:spPr>
        <p:txBody>
          <a:bodyPr wrap="square" anchor="t" lIns="45720" rIns="45720">
            <a:spAutoFit/>
          </a:bodyPr>
          <a:lstStyle/>
          <a:p>
            <a:pPr algn="l"/>
            <a:r>
              <a:rPr sz="2000" b="0" i="0">
                <a:solidFill>
                  <a:srgbClr val="ECF0F1"/>
                </a:solidFill>
                <a:latin typeface="Calibri"/>
              </a:rPr>
              <a:t>Staged startup (NOT_SERVING → SERVING), liveness vs readiness on separate ports, a SIGUSR1 readiness toggle, and the signal-safe graceful-shutdown sequence to a clean exit.</a:t>
            </a:r>
          </a:p>
        </p:txBody>
      </p:sp>
      <p:sp>
        <p:nvSpPr>
          <p:cNvPr id="6" name="Rectangle 5"/>
          <p:cNvSpPr/>
          <p:nvPr/>
        </p:nvSpPr>
        <p:spPr>
          <a:xfrm>
            <a:off x="548640" y="4297680"/>
            <a:ext cx="11064240" cy="1097280"/>
          </a:xfrm>
          <a:prstGeom prst="rect">
            <a:avLst/>
          </a:prstGeom>
          <a:solidFill>
            <a:srgbClr val="0D21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4389120"/>
            <a:ext cx="10789920" cy="457200"/>
          </a:xfrm>
          <a:prstGeom prst="rect">
            <a:avLst/>
          </a:prstGeom>
          <a:noFill/>
        </p:spPr>
        <p:txBody>
          <a:bodyPr wrap="square" anchor="t" lIns="45720" rIns="45720">
            <a:spAutoFit/>
          </a:bodyPr>
          <a:lstStyle/>
          <a:p>
            <a:pPr algn="l"/>
            <a:r>
              <a:rPr sz="1800" b="0" i="0">
                <a:solidFill>
                  <a:srgbClr val="00BCD4"/>
                </a:solidFill>
                <a:latin typeface="Consolas"/>
              </a:rPr>
              <a:t>$ cd examples/statelessness/09-health-checks &amp;&amp; ./demo.sh</a:t>
            </a:r>
          </a:p>
        </p:txBody>
      </p:sp>
      <p:sp>
        <p:nvSpPr>
          <p:cNvPr id="8" name="TextBox 7"/>
          <p:cNvSpPr txBox="1"/>
          <p:nvPr/>
        </p:nvSpPr>
        <p:spPr>
          <a:xfrm>
            <a:off x="731520" y="4892040"/>
            <a:ext cx="10789920" cy="365760"/>
          </a:xfrm>
          <a:prstGeom prst="rect">
            <a:avLst/>
          </a:prstGeom>
          <a:noFill/>
        </p:spPr>
        <p:txBody>
          <a:bodyPr wrap="square" anchor="t" lIns="45720" rIns="45720">
            <a:spAutoFit/>
          </a:bodyPr>
          <a:lstStyle/>
          <a:p>
            <a:pPr algn="l"/>
            <a:r>
              <a:rPr sz="1100" b="0" i="0">
                <a:solidFill>
                  <a:srgbClr val="90A4AE"/>
                </a:solidFill>
                <a:latin typeface="Consolas"/>
              </a:rPr>
              <a:t>  source on site: patterncatalyst.github.io/cpp-container-optimization-tutorial/examples/statelessness-09-health-checks/</a:t>
            </a:r>
          </a:p>
        </p:txBody>
      </p:sp>
      <p:sp>
        <p:nvSpPr>
          <p:cNvPr id="9" name="TextBox 8"/>
          <p:cNvSpPr txBox="1"/>
          <p:nvPr/>
        </p:nvSpPr>
        <p:spPr>
          <a:xfrm>
            <a:off x="10820095" y="6400800"/>
            <a:ext cx="914400" cy="274320"/>
          </a:xfrm>
          <a:prstGeom prst="rect">
            <a:avLst/>
          </a:prstGeom>
          <a:noFill/>
        </p:spPr>
        <p:txBody>
          <a:bodyPr wrap="square" anchor="t" lIns="45720" rIns="45720">
            <a:spAutoFit/>
          </a:bodyPr>
          <a:lstStyle/>
          <a:p>
            <a:pPr algn="r"/>
            <a:r>
              <a:rPr sz="1100" b="0" i="0">
                <a:solidFill>
                  <a:srgbClr val="90A4AE"/>
                </a:solidFill>
                <a:latin typeface="Calibri"/>
              </a:rPr>
              <a:t>54 / 67</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1828800"/>
            <a:ext cx="3657600" cy="2286000"/>
          </a:xfrm>
          <a:prstGeom prst="rect">
            <a:avLst/>
          </a:prstGeom>
          <a:noFill/>
        </p:spPr>
        <p:txBody>
          <a:bodyPr wrap="square" anchor="t" lIns="45720" rIns="45720">
            <a:spAutoFit/>
          </a:bodyPr>
          <a:lstStyle/>
          <a:p>
            <a:pPr algn="l"/>
            <a:r>
              <a:rPr sz="18000" b="1" i="0">
                <a:solidFill>
                  <a:srgbClr val="00BCD4"/>
                </a:solidFill>
                <a:latin typeface="Calibri"/>
              </a:rPr>
              <a:t>§10</a:t>
            </a:r>
          </a:p>
        </p:txBody>
      </p:sp>
      <p:sp>
        <p:nvSpPr>
          <p:cNvPr id="3" name="TextBox 2"/>
          <p:cNvSpPr txBox="1"/>
          <p:nvPr/>
        </p:nvSpPr>
        <p:spPr>
          <a:xfrm>
            <a:off x="4114800" y="2103120"/>
            <a:ext cx="7772400" cy="1828800"/>
          </a:xfrm>
          <a:prstGeom prst="rect">
            <a:avLst/>
          </a:prstGeom>
          <a:noFill/>
        </p:spPr>
        <p:txBody>
          <a:bodyPr wrap="square" anchor="t" lIns="45720" rIns="45720">
            <a:spAutoFit/>
          </a:bodyPr>
          <a:lstStyle/>
          <a:p>
            <a:pPr algn="l"/>
            <a:r>
              <a:rPr sz="3600" b="1" i="0">
                <a:solidFill>
                  <a:srgbClr val="FFFFFF"/>
                </a:solidFill>
                <a:latin typeface="Calibri"/>
              </a:rPr>
              <a:t>The gRPC capstone</a:t>
            </a:r>
          </a:p>
        </p:txBody>
      </p:sp>
      <p:sp>
        <p:nvSpPr>
          <p:cNvPr id="4" name="TextBox 3"/>
          <p:cNvSpPr txBox="1"/>
          <p:nvPr/>
        </p:nvSpPr>
        <p:spPr>
          <a:xfrm>
            <a:off x="4114800" y="3474720"/>
            <a:ext cx="7772400" cy="1828800"/>
          </a:xfrm>
          <a:prstGeom prst="rect">
            <a:avLst/>
          </a:prstGeom>
          <a:noFill/>
        </p:spPr>
        <p:txBody>
          <a:bodyPr wrap="square" anchor="t" lIns="45720" rIns="45720">
            <a:spAutoFit/>
          </a:bodyPr>
          <a:lstStyle/>
          <a:p>
            <a:pPr algn="l"/>
            <a:r>
              <a:rPr sz="2000" b="0" i="1">
                <a:solidFill>
                  <a:srgbClr val="90A4AE"/>
                </a:solidFill>
                <a:latin typeface="Calibri"/>
              </a:rPr>
              <a:t>Every pattern composed in one order-pricing service.</a:t>
            </a:r>
          </a:p>
        </p:txBody>
      </p:sp>
      <p:sp>
        <p:nvSpPr>
          <p:cNvPr id="5" name="TextBox 4"/>
          <p:cNvSpPr txBox="1"/>
          <p:nvPr/>
        </p:nvSpPr>
        <p:spPr>
          <a:xfrm>
            <a:off x="10820095" y="6400800"/>
            <a:ext cx="914400" cy="274320"/>
          </a:xfrm>
          <a:prstGeom prst="rect">
            <a:avLst/>
          </a:prstGeom>
          <a:noFill/>
        </p:spPr>
        <p:txBody>
          <a:bodyPr wrap="square" anchor="t" lIns="45720" rIns="45720">
            <a:spAutoFit/>
          </a:bodyPr>
          <a:lstStyle/>
          <a:p>
            <a:pPr algn="r"/>
            <a:r>
              <a:rPr sz="1100" b="0" i="0">
                <a:solidFill>
                  <a:srgbClr val="90A4AE"/>
                </a:solidFill>
                <a:latin typeface="Calibri"/>
              </a:rPr>
              <a:t>55 / 67</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640080"/>
          </a:xfrm>
          <a:prstGeom prst="rect">
            <a:avLst/>
          </a:prstGeom>
          <a:solidFill>
            <a:srgbClr val="1E6F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37160"/>
            <a:ext cx="6400800" cy="365760"/>
          </a:xfrm>
          <a:prstGeom prst="rect">
            <a:avLst/>
          </a:prstGeom>
          <a:noFill/>
        </p:spPr>
        <p:txBody>
          <a:bodyPr wrap="square" anchor="t" lIns="45720" rIns="45720">
            <a:spAutoFit/>
          </a:bodyPr>
          <a:lstStyle/>
          <a:p>
            <a:pPr algn="l"/>
            <a:r>
              <a:rPr sz="2800" b="1" i="0">
                <a:solidFill>
                  <a:srgbClr val="FFFFFF"/>
                </a:solidFill>
                <a:latin typeface="Calibri"/>
              </a:rPr>
              <a:t>The gRPC capstone</a:t>
            </a:r>
          </a:p>
        </p:txBody>
      </p:sp>
      <p:sp>
        <p:nvSpPr>
          <p:cNvPr id="4" name="Rounded Rectangle 3"/>
          <p:cNvSpPr/>
          <p:nvPr/>
        </p:nvSpPr>
        <p:spPr>
          <a:xfrm>
            <a:off x="10454335" y="164592"/>
            <a:ext cx="1463040" cy="320040"/>
          </a:xfrm>
          <a:prstGeom prst="roundRect">
            <a:avLst>
              <a:gd name="adj" fmla="val 50000"/>
            </a:avLst>
          </a:prstGeom>
          <a:solidFill>
            <a:srgbClr val="1A2B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454335" y="164592"/>
            <a:ext cx="1463040" cy="320040"/>
          </a:xfrm>
          <a:prstGeom prst="rect">
            <a:avLst/>
          </a:prstGeom>
          <a:noFill/>
        </p:spPr>
        <p:txBody>
          <a:bodyPr wrap="square" anchor="ctr" lIns="45720" rIns="45720">
            <a:spAutoFit/>
          </a:bodyPr>
          <a:lstStyle/>
          <a:p>
            <a:pPr algn="ctr"/>
            <a:r>
              <a:rPr sz="1400" b="1" i="0">
                <a:solidFill>
                  <a:srgbClr val="FFFFFF"/>
                </a:solidFill>
                <a:latin typeface="Calibri"/>
              </a:rPr>
              <a:t>Doc 10</a:t>
            </a:r>
          </a:p>
        </p:txBody>
      </p:sp>
      <p:sp>
        <p:nvSpPr>
          <p:cNvPr id="6" name="TextBox 5"/>
          <p:cNvSpPr txBox="1"/>
          <p:nvPr/>
        </p:nvSpPr>
        <p:spPr>
          <a:xfrm>
            <a:off x="365760" y="6537960"/>
            <a:ext cx="8229600" cy="274320"/>
          </a:xfrm>
          <a:prstGeom prst="rect">
            <a:avLst/>
          </a:prstGeom>
          <a:noFill/>
        </p:spPr>
        <p:txBody>
          <a:bodyPr wrap="square" anchor="t" lIns="45720" rIns="45720">
            <a:spAutoFit/>
          </a:bodyPr>
          <a:lstStyle/>
          <a:p>
            <a:pPr algn="l"/>
            <a:r>
              <a:rPr sz="1100" b="0" i="0">
                <a:solidFill>
                  <a:srgbClr val="90A4AE"/>
                </a:solidFill>
                <a:latin typeface="Calibri"/>
              </a:rPr>
              <a:t>Optimizing Modern C++ with Containers   |   The gRPC capstone</a:t>
            </a:r>
          </a:p>
        </p:txBody>
      </p:sp>
      <p:sp>
        <p:nvSpPr>
          <p:cNvPr id="7" name="TextBox 6"/>
          <p:cNvSpPr txBox="1"/>
          <p:nvPr/>
        </p:nvSpPr>
        <p:spPr>
          <a:xfrm>
            <a:off x="10820095" y="6537960"/>
            <a:ext cx="1005840" cy="274320"/>
          </a:xfrm>
          <a:prstGeom prst="rect">
            <a:avLst/>
          </a:prstGeom>
          <a:noFill/>
        </p:spPr>
        <p:txBody>
          <a:bodyPr wrap="square" anchor="t" lIns="45720" rIns="45720">
            <a:spAutoFit/>
          </a:bodyPr>
          <a:lstStyle/>
          <a:p>
            <a:pPr algn="r"/>
            <a:r>
              <a:rPr sz="1100" b="0" i="0">
                <a:solidFill>
                  <a:srgbClr val="90A4AE"/>
                </a:solidFill>
                <a:latin typeface="Calibri"/>
              </a:rPr>
              <a:t>56 / 67</a:t>
            </a:r>
          </a:p>
        </p:txBody>
      </p:sp>
      <p:sp>
        <p:nvSpPr>
          <p:cNvPr id="8" name="TextBox 7"/>
          <p:cNvSpPr txBox="1"/>
          <p:nvPr/>
        </p:nvSpPr>
        <p:spPr>
          <a:xfrm>
            <a:off x="457200" y="822960"/>
            <a:ext cx="10972800" cy="548640"/>
          </a:xfrm>
          <a:prstGeom prst="rect">
            <a:avLst/>
          </a:prstGeom>
          <a:noFill/>
        </p:spPr>
        <p:txBody>
          <a:bodyPr wrap="square" anchor="t" lIns="45720" rIns="45720">
            <a:spAutoFit/>
          </a:bodyPr>
          <a:lstStyle/>
          <a:p>
            <a:pPr algn="l"/>
            <a:r>
              <a:rPr sz="2800" b="1" i="0">
                <a:solidFill>
                  <a:srgbClr val="1A2B3C"/>
                </a:solidFill>
                <a:latin typeface="Calibri"/>
              </a:rPr>
              <a:t>What composes</a:t>
            </a:r>
          </a:p>
        </p:txBody>
      </p:sp>
      <p:sp>
        <p:nvSpPr>
          <p:cNvPr id="9" name="TextBox 8"/>
          <p:cNvSpPr txBox="1"/>
          <p:nvPr/>
        </p:nvSpPr>
        <p:spPr>
          <a:xfrm>
            <a:off x="457200" y="1554480"/>
            <a:ext cx="5486400" cy="4572000"/>
          </a:xfrm>
          <a:prstGeom prst="rect">
            <a:avLst/>
          </a:prstGeom>
          <a:noFill/>
        </p:spPr>
        <p:txBody>
          <a:bodyPr wrap="square" anchor="t" lIns="45720" rIns="45720">
            <a:spAutoFit/>
          </a:bodyPr>
          <a:lstStyle/>
          <a:p>
            <a:pPr algn="l">
              <a:lnSpc>
                <a:spcPct val="115000"/>
              </a:lnSpc>
            </a:pPr>
            <a:r>
              <a:rPr sz="1800" b="1" i="0">
                <a:solidFill>
                  <a:srgbClr val="1E6FC8"/>
                </a:solidFill>
                <a:latin typeface="Calibri"/>
              </a:rPr>
              <a:t>Every prior doc, in one main()</a:t>
            </a:r>
          </a:p>
          <a:p>
            <a:pPr algn="l">
              <a:lnSpc>
                <a:spcPct val="115000"/>
              </a:lnSpc>
            </a:pPr>
            <a:r>
              <a:rPr sz="1500" b="0" i="0">
                <a:solidFill>
                  <a:srgbClr val="1A2B3C"/>
                </a:solidFill>
                <a:latin typeface="Calibri"/>
              </a:rPr>
              <a:t>•  Config parsed once (Doc 6); process-scoped pool + channel cache (Doc 4)</a:t>
            </a:r>
          </a:p>
          <a:p>
            <a:pPr algn="l">
              <a:lnSpc>
                <a:spcPct val="115000"/>
              </a:lnSpc>
            </a:pPr>
            <a:r>
              <a:rPr sz="1500" b="0" i="0">
                <a:solidFill>
                  <a:srgbClr val="1A2B3C"/>
                </a:solidFill>
                <a:latin typeface="Calibri"/>
              </a:rPr>
              <a:t>•  RequestContext with a PMR arena per call (Docs 2, 3)</a:t>
            </a:r>
          </a:p>
          <a:p>
            <a:pPr algn="l">
              <a:lnSpc>
                <a:spcPct val="115000"/>
              </a:lnSpc>
            </a:pPr>
            <a:r>
              <a:rPr sz="1500" b="0" i="0">
                <a:solidFill>
                  <a:srgbClr val="1A2B3C"/>
                </a:solidFill>
                <a:latin typeface="Calibri"/>
              </a:rPr>
              <a:t>•  Handler throws grpc::Status; RAII cleans up; boundary translates (Doc 2)</a:t>
            </a:r>
          </a:p>
          <a:p>
            <a:pPr algn="l">
              <a:lnSpc>
                <a:spcPct val="115000"/>
              </a:lnSpc>
            </a:pPr>
            <a:r>
              <a:rPr sz="1500" b="0" i="0">
                <a:solidFill>
                  <a:srgbClr val="1A2B3C"/>
                </a:solidFill>
                <a:latin typeface="Calibri"/>
              </a:rPr>
              <a:t>•  Deadline-propagated PostgreSQL + outbound gRPC tax call (Docs 5, 7)</a:t>
            </a:r>
          </a:p>
          <a:p>
            <a:pPr algn="l">
              <a:lnSpc>
                <a:spcPct val="115000"/>
              </a:lnSpc>
            </a:pPr>
            <a:r>
              <a:rPr sz="1500" b="0" i="0">
                <a:solidFill>
                  <a:srgbClr val="1A2B3C"/>
                </a:solidFill>
                <a:latin typeface="Calibri"/>
              </a:rPr>
              <a:t>•  Idempotency on the client key; staged health + graceful shutdown (Docs 7, 9)</a:t>
            </a:r>
          </a:p>
        </p:txBody>
      </p:sp>
      <p:pic>
        <p:nvPicPr>
          <p:cNvPr id="10" name="Picture 9" descr="10-grpc-microservices.jpg"/>
          <p:cNvPicPr>
            <a:picLocks noChangeAspect="1"/>
          </p:cNvPicPr>
          <p:nvPr/>
        </p:nvPicPr>
        <p:blipFill>
          <a:blip r:embed="rId2"/>
          <a:stretch>
            <a:fillRect/>
          </a:stretch>
        </p:blipFill>
        <p:spPr>
          <a:xfrm>
            <a:off x="6217920" y="1554480"/>
            <a:ext cx="5486400" cy="2897065"/>
          </a:xfrm>
          <a:prstGeom prst="rect">
            <a:avLst/>
          </a:prstGeom>
        </p:spPr>
      </p:pic>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640080"/>
          </a:xfrm>
          <a:prstGeom prst="rect">
            <a:avLst/>
          </a:prstGeom>
          <a:solidFill>
            <a:srgbClr val="1E6F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37160"/>
            <a:ext cx="6400800" cy="365760"/>
          </a:xfrm>
          <a:prstGeom prst="rect">
            <a:avLst/>
          </a:prstGeom>
          <a:noFill/>
        </p:spPr>
        <p:txBody>
          <a:bodyPr wrap="square" anchor="t" lIns="45720" rIns="45720">
            <a:spAutoFit/>
          </a:bodyPr>
          <a:lstStyle/>
          <a:p>
            <a:pPr algn="l"/>
            <a:r>
              <a:rPr sz="2800" b="1" i="0">
                <a:solidFill>
                  <a:srgbClr val="FFFFFF"/>
                </a:solidFill>
                <a:latin typeface="Calibri"/>
              </a:rPr>
              <a:t>The gRPC capstone</a:t>
            </a:r>
          </a:p>
        </p:txBody>
      </p:sp>
      <p:sp>
        <p:nvSpPr>
          <p:cNvPr id="4" name="Rounded Rectangle 3"/>
          <p:cNvSpPr/>
          <p:nvPr/>
        </p:nvSpPr>
        <p:spPr>
          <a:xfrm>
            <a:off x="10454335" y="164592"/>
            <a:ext cx="1463040" cy="320040"/>
          </a:xfrm>
          <a:prstGeom prst="roundRect">
            <a:avLst>
              <a:gd name="adj" fmla="val 50000"/>
            </a:avLst>
          </a:prstGeom>
          <a:solidFill>
            <a:srgbClr val="1A2B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454335" y="164592"/>
            <a:ext cx="1463040" cy="320040"/>
          </a:xfrm>
          <a:prstGeom prst="rect">
            <a:avLst/>
          </a:prstGeom>
          <a:noFill/>
        </p:spPr>
        <p:txBody>
          <a:bodyPr wrap="square" anchor="ctr" lIns="45720" rIns="45720">
            <a:spAutoFit/>
          </a:bodyPr>
          <a:lstStyle/>
          <a:p>
            <a:pPr algn="ctr"/>
            <a:r>
              <a:rPr sz="1400" b="1" i="0">
                <a:solidFill>
                  <a:srgbClr val="FFFFFF"/>
                </a:solidFill>
                <a:latin typeface="Calibri"/>
              </a:rPr>
              <a:t>Doc 10</a:t>
            </a:r>
          </a:p>
        </p:txBody>
      </p:sp>
      <p:sp>
        <p:nvSpPr>
          <p:cNvPr id="6" name="TextBox 5"/>
          <p:cNvSpPr txBox="1"/>
          <p:nvPr/>
        </p:nvSpPr>
        <p:spPr>
          <a:xfrm>
            <a:off x="365760" y="6537960"/>
            <a:ext cx="8229600" cy="274320"/>
          </a:xfrm>
          <a:prstGeom prst="rect">
            <a:avLst/>
          </a:prstGeom>
          <a:noFill/>
        </p:spPr>
        <p:txBody>
          <a:bodyPr wrap="square" anchor="t" lIns="45720" rIns="45720">
            <a:spAutoFit/>
          </a:bodyPr>
          <a:lstStyle/>
          <a:p>
            <a:pPr algn="l"/>
            <a:r>
              <a:rPr sz="1100" b="0" i="0">
                <a:solidFill>
                  <a:srgbClr val="90A4AE"/>
                </a:solidFill>
                <a:latin typeface="Calibri"/>
              </a:rPr>
              <a:t>Optimizing Modern C++ with Containers   |   The gRPC capstone</a:t>
            </a:r>
          </a:p>
        </p:txBody>
      </p:sp>
      <p:sp>
        <p:nvSpPr>
          <p:cNvPr id="7" name="TextBox 6"/>
          <p:cNvSpPr txBox="1"/>
          <p:nvPr/>
        </p:nvSpPr>
        <p:spPr>
          <a:xfrm>
            <a:off x="10820095" y="6537960"/>
            <a:ext cx="1005840" cy="274320"/>
          </a:xfrm>
          <a:prstGeom prst="rect">
            <a:avLst/>
          </a:prstGeom>
          <a:noFill/>
        </p:spPr>
        <p:txBody>
          <a:bodyPr wrap="square" anchor="t" lIns="45720" rIns="45720">
            <a:spAutoFit/>
          </a:bodyPr>
          <a:lstStyle/>
          <a:p>
            <a:pPr algn="r"/>
            <a:r>
              <a:rPr sz="1100" b="0" i="0">
                <a:solidFill>
                  <a:srgbClr val="90A4AE"/>
                </a:solidFill>
                <a:latin typeface="Calibri"/>
              </a:rPr>
              <a:t>57 / 67</a:t>
            </a:r>
          </a:p>
        </p:txBody>
      </p:sp>
      <p:sp>
        <p:nvSpPr>
          <p:cNvPr id="8" name="TextBox 7"/>
          <p:cNvSpPr txBox="1"/>
          <p:nvPr/>
        </p:nvSpPr>
        <p:spPr>
          <a:xfrm>
            <a:off x="457200" y="822960"/>
            <a:ext cx="10972800" cy="548640"/>
          </a:xfrm>
          <a:prstGeom prst="rect">
            <a:avLst/>
          </a:prstGeom>
          <a:noFill/>
        </p:spPr>
        <p:txBody>
          <a:bodyPr wrap="square" anchor="t" lIns="45720" rIns="45720">
            <a:spAutoFit/>
          </a:bodyPr>
          <a:lstStyle/>
          <a:p>
            <a:pPr algn="l"/>
            <a:r>
              <a:rPr sz="2800" b="1" i="0">
                <a:solidFill>
                  <a:srgbClr val="1A2B3C"/>
                </a:solidFill>
                <a:latin typeface="Calibri"/>
              </a:rPr>
              <a:t>Faithful in architecture, lean in dependencies</a:t>
            </a:r>
          </a:p>
        </p:txBody>
      </p:sp>
      <p:sp>
        <p:nvSpPr>
          <p:cNvPr id="9" name="TextBox 8"/>
          <p:cNvSpPr txBox="1"/>
          <p:nvPr/>
        </p:nvSpPr>
        <p:spPr>
          <a:xfrm>
            <a:off x="457200" y="1554480"/>
            <a:ext cx="11247120" cy="4572000"/>
          </a:xfrm>
          <a:prstGeom prst="rect">
            <a:avLst/>
          </a:prstGeom>
          <a:noFill/>
        </p:spPr>
        <p:txBody>
          <a:bodyPr wrap="square" anchor="t" lIns="45720" rIns="45720">
            <a:spAutoFit/>
          </a:bodyPr>
          <a:lstStyle/>
          <a:p>
            <a:pPr algn="l">
              <a:lnSpc>
                <a:spcPct val="115000"/>
              </a:lnSpc>
            </a:pPr>
            <a:r>
              <a:rPr sz="1800" b="1" i="0">
                <a:solidFill>
                  <a:srgbClr val="F5A623"/>
                </a:solidFill>
                <a:latin typeface="Calibri"/>
              </a:rPr>
              <a:t>What the runnable companion realizes vs. designs</a:t>
            </a:r>
          </a:p>
          <a:p>
            <a:pPr algn="l">
              <a:lnSpc>
                <a:spcPct val="115000"/>
              </a:lnSpc>
            </a:pPr>
            <a:r>
              <a:rPr sz="1500" b="0" i="0">
                <a:solidFill>
                  <a:srgbClr val="1A2B3C"/>
                </a:solidFill>
                <a:latin typeface="Calibri"/>
              </a:rPr>
              <a:t>•  PostgreSQL via libpq, not libpqxx (its bundled CMake breaks the toolchain)</a:t>
            </a:r>
          </a:p>
          <a:p>
            <a:pPr algn="l">
              <a:lnSpc>
                <a:spcPct val="115000"/>
              </a:lnSpc>
            </a:pPr>
            <a:r>
              <a:rPr sz="1500" b="0" i="0">
                <a:solidFill>
                  <a:srgbClr val="1A2B3C"/>
                </a:solidFill>
                <a:latin typeface="Calibri"/>
              </a:rPr>
              <a:t>•  Price lookup straight to PostgreSQL; Redis cache-aside marked as a seam</a:t>
            </a:r>
          </a:p>
          <a:p>
            <a:pPr algn="l">
              <a:lnSpc>
                <a:spcPct val="115000"/>
              </a:lnSpc>
            </a:pPr>
            <a:r>
              <a:rPr sz="1500" b="0" i="0">
                <a:solidFill>
                  <a:srgbClr val="1A2B3C"/>
                </a:solidFill>
                <a:latin typeface="Calibri"/>
              </a:rPr>
              <a:t>•  OpenTelemetry is a documented seam — the companion emits NO spans</a:t>
            </a:r>
          </a:p>
          <a:p>
            <a:pPr algn="l">
              <a:lnSpc>
                <a:spcPct val="115000"/>
              </a:lnSpc>
            </a:pPr>
            <a:r>
              <a:rPr sz="1500" b="0" i="0">
                <a:solidFill>
                  <a:srgbClr val="1A2B3C"/>
                </a:solidFill>
                <a:latin typeface="Calibri"/>
              </a:rPr>
              <a:t>•  Sync gRPC API, not callback; composition identical, migration mechanical</a:t>
            </a:r>
          </a:p>
          <a:p>
            <a:pPr algn="l">
              <a:lnSpc>
                <a:spcPct val="115000"/>
              </a:lnSpc>
            </a:pPr>
            <a:r>
              <a:rPr sz="1400" b="0" i="1">
                <a:solidFill>
                  <a:srgbClr val="90A4AE"/>
                </a:solidFill>
                <a:latin typeface="Calibri"/>
              </a:rPr>
              <a:t>The architecture and composition are faithful to the doc; the realized backends stay on the verified stack.</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640080"/>
          </a:xfrm>
          <a:prstGeom prst="rect">
            <a:avLst/>
          </a:prstGeom>
          <a:solidFill>
            <a:srgbClr val="1E6F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37160"/>
            <a:ext cx="6400800" cy="365760"/>
          </a:xfrm>
          <a:prstGeom prst="rect">
            <a:avLst/>
          </a:prstGeom>
          <a:noFill/>
        </p:spPr>
        <p:txBody>
          <a:bodyPr wrap="square" anchor="t" lIns="45720" rIns="45720">
            <a:spAutoFit/>
          </a:bodyPr>
          <a:lstStyle/>
          <a:p>
            <a:pPr algn="l"/>
            <a:r>
              <a:rPr sz="2800" b="1" i="0">
                <a:solidFill>
                  <a:srgbClr val="FFFFFF"/>
                </a:solidFill>
                <a:latin typeface="Calibri"/>
              </a:rPr>
              <a:t>The gRPC capstone</a:t>
            </a:r>
          </a:p>
        </p:txBody>
      </p:sp>
      <p:sp>
        <p:nvSpPr>
          <p:cNvPr id="4" name="Rounded Rectangle 3"/>
          <p:cNvSpPr/>
          <p:nvPr/>
        </p:nvSpPr>
        <p:spPr>
          <a:xfrm>
            <a:off x="10454335" y="164592"/>
            <a:ext cx="1463040" cy="320040"/>
          </a:xfrm>
          <a:prstGeom prst="roundRect">
            <a:avLst>
              <a:gd name="adj" fmla="val 50000"/>
            </a:avLst>
          </a:prstGeom>
          <a:solidFill>
            <a:srgbClr val="1A2B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454335" y="164592"/>
            <a:ext cx="1463040" cy="320040"/>
          </a:xfrm>
          <a:prstGeom prst="rect">
            <a:avLst/>
          </a:prstGeom>
          <a:noFill/>
        </p:spPr>
        <p:txBody>
          <a:bodyPr wrap="square" anchor="ctr" lIns="45720" rIns="45720">
            <a:spAutoFit/>
          </a:bodyPr>
          <a:lstStyle/>
          <a:p>
            <a:pPr algn="ctr"/>
            <a:r>
              <a:rPr sz="1400" b="1" i="0">
                <a:solidFill>
                  <a:srgbClr val="FFFFFF"/>
                </a:solidFill>
                <a:latin typeface="Calibri"/>
              </a:rPr>
              <a:t>Doc 10</a:t>
            </a:r>
          </a:p>
        </p:txBody>
      </p:sp>
      <p:sp>
        <p:nvSpPr>
          <p:cNvPr id="6" name="TextBox 5"/>
          <p:cNvSpPr txBox="1"/>
          <p:nvPr/>
        </p:nvSpPr>
        <p:spPr>
          <a:xfrm>
            <a:off x="365760" y="6537960"/>
            <a:ext cx="8229600" cy="274320"/>
          </a:xfrm>
          <a:prstGeom prst="rect">
            <a:avLst/>
          </a:prstGeom>
          <a:noFill/>
        </p:spPr>
        <p:txBody>
          <a:bodyPr wrap="square" anchor="t" lIns="45720" rIns="45720">
            <a:spAutoFit/>
          </a:bodyPr>
          <a:lstStyle/>
          <a:p>
            <a:pPr algn="l"/>
            <a:r>
              <a:rPr sz="1100" b="0" i="0">
                <a:solidFill>
                  <a:srgbClr val="90A4AE"/>
                </a:solidFill>
                <a:latin typeface="Calibri"/>
              </a:rPr>
              <a:t>Optimizing Modern C++ with Containers   |   The gRPC capstone</a:t>
            </a:r>
          </a:p>
        </p:txBody>
      </p:sp>
      <p:sp>
        <p:nvSpPr>
          <p:cNvPr id="7" name="TextBox 6"/>
          <p:cNvSpPr txBox="1"/>
          <p:nvPr/>
        </p:nvSpPr>
        <p:spPr>
          <a:xfrm>
            <a:off x="10820095" y="6537960"/>
            <a:ext cx="1005840" cy="274320"/>
          </a:xfrm>
          <a:prstGeom prst="rect">
            <a:avLst/>
          </a:prstGeom>
          <a:noFill/>
        </p:spPr>
        <p:txBody>
          <a:bodyPr wrap="square" anchor="t" lIns="45720" rIns="45720">
            <a:spAutoFit/>
          </a:bodyPr>
          <a:lstStyle/>
          <a:p>
            <a:pPr algn="r"/>
            <a:r>
              <a:rPr sz="1100" b="0" i="0">
                <a:solidFill>
                  <a:srgbClr val="90A4AE"/>
                </a:solidFill>
                <a:latin typeface="Calibri"/>
              </a:rPr>
              <a:t>58 / 67</a:t>
            </a:r>
          </a:p>
        </p:txBody>
      </p:sp>
      <p:sp>
        <p:nvSpPr>
          <p:cNvPr id="8" name="TextBox 7"/>
          <p:cNvSpPr txBox="1"/>
          <p:nvPr/>
        </p:nvSpPr>
        <p:spPr>
          <a:xfrm>
            <a:off x="457200" y="822960"/>
            <a:ext cx="10972800" cy="548640"/>
          </a:xfrm>
          <a:prstGeom prst="rect">
            <a:avLst/>
          </a:prstGeom>
          <a:noFill/>
        </p:spPr>
        <p:txBody>
          <a:bodyPr wrap="square" anchor="t" lIns="45720" rIns="45720">
            <a:spAutoFit/>
          </a:bodyPr>
          <a:lstStyle/>
          <a:p>
            <a:pPr algn="l"/>
            <a:r>
              <a:rPr sz="2800" b="1" i="0">
                <a:solidFill>
                  <a:srgbClr val="1A2B3C"/>
                </a:solidFill>
                <a:latin typeface="Calibri"/>
              </a:rPr>
              <a:t>main() in twelve numbered steps</a:t>
            </a:r>
          </a:p>
        </p:txBody>
      </p:sp>
      <p:sp>
        <p:nvSpPr>
          <p:cNvPr id="9" name="TextBox 8"/>
          <p:cNvSpPr txBox="1"/>
          <p:nvPr/>
        </p:nvSpPr>
        <p:spPr>
          <a:xfrm>
            <a:off x="457200" y="1554480"/>
            <a:ext cx="5486400" cy="4572000"/>
          </a:xfrm>
          <a:prstGeom prst="rect">
            <a:avLst/>
          </a:prstGeom>
          <a:noFill/>
        </p:spPr>
        <p:txBody>
          <a:bodyPr wrap="square" anchor="t" lIns="45720" rIns="45720">
            <a:spAutoFit/>
          </a:bodyPr>
          <a:lstStyle/>
          <a:p>
            <a:pPr algn="l">
              <a:lnSpc>
                <a:spcPct val="115000"/>
              </a:lnSpc>
            </a:pPr>
            <a:r>
              <a:rPr sz="1800" b="1" i="0">
                <a:solidFill>
                  <a:srgbClr val="1E6FC8"/>
                </a:solidFill>
                <a:latin typeface="Calibri"/>
              </a:rPr>
              <a:t>The wiring is mechanical and reusable</a:t>
            </a:r>
          </a:p>
          <a:p>
            <a:pPr algn="l">
              <a:lnSpc>
                <a:spcPct val="115000"/>
              </a:lnSpc>
            </a:pPr>
            <a:r>
              <a:rPr sz="1500" b="0" i="0">
                <a:solidFill>
                  <a:srgbClr val="1A2B3C"/>
                </a:solidFill>
                <a:latin typeface="Calibri"/>
              </a:rPr>
              <a:t>•  Parse config → detect CPU budget → size pools</a:t>
            </a:r>
          </a:p>
          <a:p>
            <a:pPr algn="l">
              <a:lnSpc>
                <a:spcPct val="115000"/>
              </a:lnSpc>
            </a:pPr>
            <a:r>
              <a:rPr sz="1500" b="0" i="0">
                <a:solidFill>
                  <a:srgbClr val="1A2B3C"/>
                </a:solidFill>
                <a:latin typeface="Calibri"/>
              </a:rPr>
              <a:t>•  Construct process-scoped state: pool, channel cache, service</a:t>
            </a:r>
          </a:p>
          <a:p>
            <a:pPr algn="l">
              <a:lnSpc>
                <a:spcPct val="115000"/>
              </a:lnSpc>
            </a:pPr>
            <a:r>
              <a:rPr sz="1500" b="0" i="0">
                <a:solidFill>
                  <a:srgbClr val="1A2B3C"/>
                </a:solidFill>
                <a:latin typeface="Calibri"/>
              </a:rPr>
              <a:t>•  Build the server, health NOT_SERVING, warm, flip to SERVING</a:t>
            </a:r>
          </a:p>
          <a:p>
            <a:pPr algn="l">
              <a:lnSpc>
                <a:spcPct val="115000"/>
              </a:lnSpc>
            </a:pPr>
            <a:r>
              <a:rPr sz="1500" b="0" i="0">
                <a:solidFill>
                  <a:srgbClr val="1A2B3C"/>
                </a:solidFill>
                <a:latin typeface="Calibri"/>
              </a:rPr>
              <a:t>•  Install the signal handler, start workers, Wait(), drain, exit 0</a:t>
            </a:r>
          </a:p>
        </p:txBody>
      </p:sp>
      <p:sp>
        <p:nvSpPr>
          <p:cNvPr id="10" name="Rectangle 9"/>
          <p:cNvSpPr/>
          <p:nvPr/>
        </p:nvSpPr>
        <p:spPr>
          <a:xfrm>
            <a:off x="6217920" y="1554480"/>
            <a:ext cx="5486400" cy="4572000"/>
          </a:xfrm>
          <a:prstGeom prst="rect">
            <a:avLst/>
          </a:prstGeom>
          <a:solidFill>
            <a:srgbClr val="0D21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355080" y="1645920"/>
            <a:ext cx="5212080" cy="4389120"/>
          </a:xfrm>
          <a:prstGeom prst="rect">
            <a:avLst/>
          </a:prstGeom>
          <a:noFill/>
        </p:spPr>
        <p:txBody>
          <a:bodyPr wrap="square" lIns="45720" rIns="45720">
            <a:spAutoFit/>
          </a:bodyPr>
          <a:lstStyle/>
          <a:p>
            <a:r>
              <a:rPr sz="1200">
                <a:solidFill>
                  <a:srgbClr val="ECF0F1"/>
                </a:solidFill>
                <a:latin typeface="Consolas"/>
              </a:rPr>
              <a:t>const Config cfg = parse_config();        // 1</a:t>
            </a:r>
          </a:p>
          <a:p>
            <a:r>
              <a:rPr sz="1200">
                <a:solidFill>
                  <a:srgbClr val="ECF0F1"/>
                </a:solidFill>
                <a:latin typeface="Consolas"/>
              </a:rPr>
              <a:t>const double cpu = cgroup_cpu().value_or(  // 2</a:t>
            </a:r>
          </a:p>
          <a:p>
            <a:r>
              <a:rPr sz="1200">
                <a:solidFill>
                  <a:srgbClr val="ECF0F1"/>
                </a:solidFill>
                <a:latin typeface="Consolas"/>
              </a:rPr>
              <a:t>    hardware_concurrency());</a:t>
            </a:r>
          </a:p>
          <a:p>
            <a:r>
              <a:rPr sz="1200">
                <a:solidFill>
                  <a:srgbClr val="ECF0F1"/>
                </a:solidFill>
                <a:latin typeface="Consolas"/>
              </a:rPr>
              <a:t>PgPool pg{cfg.pg_conninfo, cfg.pool};      // 3</a:t>
            </a:r>
          </a:p>
          <a:p>
            <a:r>
              <a:rPr sz="1200">
                <a:solidFill>
                  <a:srgbClr val="ECF0F1"/>
                </a:solidFill>
                <a:latin typeface="Consolas"/>
              </a:rPr>
              <a:t>ChannelCache channels{};                   // 4</a:t>
            </a:r>
          </a:p>
          <a:p>
            <a:r>
              <a:rPr sz="1200">
                <a:solidFill>
                  <a:srgbClr val="ECF0F1"/>
                </a:solidFill>
                <a:latin typeface="Consolas"/>
              </a:rPr>
              <a:t>PricingService svc{cfg, pg, channels};     // 5</a:t>
            </a:r>
          </a:p>
          <a:p>
            <a:r>
              <a:rPr sz="1200">
                <a:solidFill>
                  <a:srgbClr val="ECF0F1"/>
                </a:solidFill>
                <a:latin typeface="Consolas"/>
              </a:rPr>
              <a:t>auto server = build_server(svc, cfg);      // 6</a:t>
            </a:r>
          </a:p>
          <a:p>
            <a:r>
              <a:rPr sz="1200">
                <a:solidFill>
                  <a:srgbClr val="ECF0F1"/>
                </a:solidFill>
                <a:latin typeface="Consolas"/>
              </a:rPr>
              <a:t>health-&gt;Set("", NOT_SERVING); warm(pg);    // 7-8</a:t>
            </a:r>
          </a:p>
          <a:p>
            <a:r>
              <a:rPr sz="1200">
                <a:solidFill>
                  <a:srgbClr val="ECF0F1"/>
                </a:solidFill>
                <a:latin typeface="Consolas"/>
              </a:rPr>
              <a:t>health-&gt;Set("", SERVING);                  // 9</a:t>
            </a:r>
          </a:p>
          <a:p>
            <a:r>
              <a:rPr sz="1200">
                <a:solidFill>
                  <a:srgbClr val="ECF0F1"/>
                </a:solidFill>
                <a:latin typeface="Consolas"/>
              </a:rPr>
              <a:t>install_signal_handler(...);               // 10</a:t>
            </a:r>
          </a:p>
          <a:p>
            <a:r>
              <a:rPr sz="1200">
                <a:solidFill>
                  <a:srgbClr val="ECF0F1"/>
                </a:solidFill>
                <a:latin typeface="Consolas"/>
              </a:rPr>
              <a:t>server-&gt;Wait();                            // 11</a:t>
            </a:r>
          </a:p>
          <a:p>
            <a:r>
              <a:rPr sz="1200">
                <a:solidFill>
                  <a:srgbClr val="ECF0F1"/>
                </a:solidFill>
                <a:latin typeface="Consolas"/>
              </a:rPr>
              <a:t>return 0;  // reverse-order teardown       // 12</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640080"/>
          </a:xfrm>
          <a:prstGeom prst="rect">
            <a:avLst/>
          </a:prstGeom>
          <a:solidFill>
            <a:srgbClr val="1E6F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37160"/>
            <a:ext cx="6400800" cy="365760"/>
          </a:xfrm>
          <a:prstGeom prst="rect">
            <a:avLst/>
          </a:prstGeom>
          <a:noFill/>
        </p:spPr>
        <p:txBody>
          <a:bodyPr wrap="square" anchor="t" lIns="45720" rIns="45720">
            <a:spAutoFit/>
          </a:bodyPr>
          <a:lstStyle/>
          <a:p>
            <a:pPr algn="l"/>
            <a:r>
              <a:rPr sz="2800" b="1" i="0">
                <a:solidFill>
                  <a:srgbClr val="FFFFFF"/>
                </a:solidFill>
                <a:latin typeface="Calibri"/>
              </a:rPr>
              <a:t>The gRPC capstone</a:t>
            </a:r>
          </a:p>
        </p:txBody>
      </p:sp>
      <p:sp>
        <p:nvSpPr>
          <p:cNvPr id="4" name="Rounded Rectangle 3"/>
          <p:cNvSpPr/>
          <p:nvPr/>
        </p:nvSpPr>
        <p:spPr>
          <a:xfrm>
            <a:off x="10454335" y="164592"/>
            <a:ext cx="1463040" cy="320040"/>
          </a:xfrm>
          <a:prstGeom prst="roundRect">
            <a:avLst>
              <a:gd name="adj" fmla="val 50000"/>
            </a:avLst>
          </a:prstGeom>
          <a:solidFill>
            <a:srgbClr val="1A2B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454335" y="164592"/>
            <a:ext cx="1463040" cy="320040"/>
          </a:xfrm>
          <a:prstGeom prst="rect">
            <a:avLst/>
          </a:prstGeom>
          <a:noFill/>
        </p:spPr>
        <p:txBody>
          <a:bodyPr wrap="square" anchor="ctr" lIns="45720" rIns="45720">
            <a:spAutoFit/>
          </a:bodyPr>
          <a:lstStyle/>
          <a:p>
            <a:pPr algn="ctr"/>
            <a:r>
              <a:rPr sz="1400" b="1" i="0">
                <a:solidFill>
                  <a:srgbClr val="FFFFFF"/>
                </a:solidFill>
                <a:latin typeface="Calibri"/>
              </a:rPr>
              <a:t>Doc 10</a:t>
            </a:r>
          </a:p>
        </p:txBody>
      </p:sp>
      <p:sp>
        <p:nvSpPr>
          <p:cNvPr id="6" name="TextBox 5"/>
          <p:cNvSpPr txBox="1"/>
          <p:nvPr/>
        </p:nvSpPr>
        <p:spPr>
          <a:xfrm>
            <a:off x="365760" y="6537960"/>
            <a:ext cx="8229600" cy="274320"/>
          </a:xfrm>
          <a:prstGeom prst="rect">
            <a:avLst/>
          </a:prstGeom>
          <a:noFill/>
        </p:spPr>
        <p:txBody>
          <a:bodyPr wrap="square" anchor="t" lIns="45720" rIns="45720">
            <a:spAutoFit/>
          </a:bodyPr>
          <a:lstStyle/>
          <a:p>
            <a:pPr algn="l"/>
            <a:r>
              <a:rPr sz="1100" b="0" i="0">
                <a:solidFill>
                  <a:srgbClr val="90A4AE"/>
                </a:solidFill>
                <a:latin typeface="Calibri"/>
              </a:rPr>
              <a:t>Optimizing Modern C++ with Containers   |   The gRPC capstone</a:t>
            </a:r>
          </a:p>
        </p:txBody>
      </p:sp>
      <p:sp>
        <p:nvSpPr>
          <p:cNvPr id="7" name="TextBox 6"/>
          <p:cNvSpPr txBox="1"/>
          <p:nvPr/>
        </p:nvSpPr>
        <p:spPr>
          <a:xfrm>
            <a:off x="10820095" y="6537960"/>
            <a:ext cx="1005840" cy="274320"/>
          </a:xfrm>
          <a:prstGeom prst="rect">
            <a:avLst/>
          </a:prstGeom>
          <a:noFill/>
        </p:spPr>
        <p:txBody>
          <a:bodyPr wrap="square" anchor="t" lIns="45720" rIns="45720">
            <a:spAutoFit/>
          </a:bodyPr>
          <a:lstStyle/>
          <a:p>
            <a:pPr algn="r"/>
            <a:r>
              <a:rPr sz="1100" b="0" i="0">
                <a:solidFill>
                  <a:srgbClr val="90A4AE"/>
                </a:solidFill>
                <a:latin typeface="Calibri"/>
              </a:rPr>
              <a:t>59 / 67</a:t>
            </a:r>
          </a:p>
        </p:txBody>
      </p:sp>
      <p:sp>
        <p:nvSpPr>
          <p:cNvPr id="8" name="TextBox 7"/>
          <p:cNvSpPr txBox="1"/>
          <p:nvPr/>
        </p:nvSpPr>
        <p:spPr>
          <a:xfrm>
            <a:off x="457200" y="822960"/>
            <a:ext cx="10972800" cy="548640"/>
          </a:xfrm>
          <a:prstGeom prst="rect">
            <a:avLst/>
          </a:prstGeom>
          <a:noFill/>
        </p:spPr>
        <p:txBody>
          <a:bodyPr wrap="square" anchor="t" lIns="45720" rIns="45720">
            <a:spAutoFit/>
          </a:bodyPr>
          <a:lstStyle/>
          <a:p>
            <a:pPr algn="l"/>
            <a:r>
              <a:rPr sz="2800" b="1" i="0">
                <a:solidFill>
                  <a:srgbClr val="1A2B3C"/>
                </a:solidFill>
                <a:latin typeface="Calibri"/>
              </a:rPr>
              <a:t>Error translation at the boundary</a:t>
            </a:r>
          </a:p>
        </p:txBody>
      </p:sp>
      <p:sp>
        <p:nvSpPr>
          <p:cNvPr id="9" name="TextBox 8"/>
          <p:cNvSpPr txBox="1"/>
          <p:nvPr/>
        </p:nvSpPr>
        <p:spPr>
          <a:xfrm>
            <a:off x="457200" y="1554480"/>
            <a:ext cx="11247120" cy="4572000"/>
          </a:xfrm>
          <a:prstGeom prst="rect">
            <a:avLst/>
          </a:prstGeom>
          <a:noFill/>
        </p:spPr>
        <p:txBody>
          <a:bodyPr wrap="square" anchor="t" lIns="45720" rIns="45720">
            <a:spAutoFit/>
          </a:bodyPr>
          <a:lstStyle/>
          <a:p>
            <a:pPr algn="l">
              <a:lnSpc>
                <a:spcPct val="115000"/>
              </a:lnSpc>
            </a:pPr>
            <a:r>
              <a:rPr sz="1800" b="1" i="0">
                <a:solidFill>
                  <a:srgbClr val="F5A623"/>
                </a:solidFill>
                <a:latin typeface="Calibri"/>
              </a:rPr>
              <a:t>Helpers throw; the handler translates</a:t>
            </a:r>
          </a:p>
          <a:p>
            <a:pPr algn="l">
              <a:lnSpc>
                <a:spcPct val="115000"/>
              </a:lnSpc>
            </a:pPr>
            <a:r>
              <a:rPr sz="1500" b="0" i="0">
                <a:solidFill>
                  <a:srgbClr val="1A2B3C"/>
                </a:solidFill>
                <a:latin typeface="Calibri"/>
              </a:rPr>
              <a:t>•  Helpers throw grpc::Status for protocol errors (deadline, unavailable, not-found)</a:t>
            </a:r>
          </a:p>
          <a:p>
            <a:pPr algn="l">
              <a:lnSpc>
                <a:spcPct val="115000"/>
              </a:lnSpc>
            </a:pPr>
            <a:r>
              <a:rPr sz="1500" b="0" i="0">
                <a:solidFill>
                  <a:srgbClr val="1A2B3C"/>
                </a:solidFill>
                <a:latin typeface="Calibri"/>
              </a:rPr>
              <a:t>•  Helpers throw std::exception for bugs</a:t>
            </a:r>
          </a:p>
          <a:p>
            <a:pPr algn="l">
              <a:lnSpc>
                <a:spcPct val="115000"/>
              </a:lnSpc>
            </a:pPr>
            <a:r>
              <a:rPr sz="1500" b="0" i="0">
                <a:solidFill>
                  <a:srgbClr val="1A2B3C"/>
                </a:solidFill>
                <a:latin typeface="Calibri"/>
              </a:rPr>
              <a:t>•  The handler's single try/catch maps both to the wire status</a:t>
            </a:r>
          </a:p>
          <a:p>
            <a:pPr algn="l">
              <a:lnSpc>
                <a:spcPct val="115000"/>
              </a:lnSpc>
            </a:pPr>
            <a:r>
              <a:rPr sz="1500" b="0" i="0">
                <a:solidFill>
                  <a:srgbClr val="1A2B3C"/>
                </a:solidFill>
                <a:latin typeface="Calibri"/>
              </a:rPr>
              <a:t>•  RAII runs all cleanup regardless of which exception propagates</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Rounded Rectangle 1"/>
          <p:cNvSpPr/>
          <p:nvPr/>
        </p:nvSpPr>
        <p:spPr>
          <a:xfrm>
            <a:off x="548640" y="548640"/>
            <a:ext cx="2286000" cy="594360"/>
          </a:xfrm>
          <a:prstGeom prst="roundRect">
            <a:avLst>
              <a:gd name="adj" fmla="val 50000"/>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48640"/>
            <a:ext cx="2286000" cy="594360"/>
          </a:xfrm>
          <a:prstGeom prst="rect">
            <a:avLst/>
          </a:prstGeom>
          <a:noFill/>
        </p:spPr>
        <p:txBody>
          <a:bodyPr wrap="square" anchor="ctr" lIns="45720" rIns="45720">
            <a:spAutoFit/>
          </a:bodyPr>
          <a:lstStyle/>
          <a:p>
            <a:pPr algn="ctr"/>
            <a:r>
              <a:rPr sz="2200" b="1" i="0">
                <a:solidFill>
                  <a:srgbClr val="FFFFFF"/>
                </a:solidFill>
                <a:latin typeface="Calibri"/>
              </a:rPr>
              <a:t>▶ DEMO 10</a:t>
            </a:r>
          </a:p>
        </p:txBody>
      </p:sp>
      <p:sp>
        <p:nvSpPr>
          <p:cNvPr id="4" name="TextBox 3"/>
          <p:cNvSpPr txBox="1"/>
          <p:nvPr/>
        </p:nvSpPr>
        <p:spPr>
          <a:xfrm>
            <a:off x="548640" y="1645920"/>
            <a:ext cx="10972800" cy="1097280"/>
          </a:xfrm>
          <a:prstGeom prst="rect">
            <a:avLst/>
          </a:prstGeom>
          <a:noFill/>
        </p:spPr>
        <p:txBody>
          <a:bodyPr wrap="square" anchor="t" lIns="45720" rIns="45720">
            <a:spAutoFit/>
          </a:bodyPr>
          <a:lstStyle/>
          <a:p>
            <a:pPr algn="l"/>
            <a:r>
              <a:rPr sz="3600" b="1" i="0">
                <a:solidFill>
                  <a:srgbClr val="FFFFFF"/>
                </a:solidFill>
                <a:latin typeface="Calibri"/>
              </a:rPr>
              <a:t>Demo — gRPC capstone</a:t>
            </a:r>
          </a:p>
        </p:txBody>
      </p:sp>
      <p:sp>
        <p:nvSpPr>
          <p:cNvPr id="5" name="TextBox 4"/>
          <p:cNvSpPr txBox="1"/>
          <p:nvPr/>
        </p:nvSpPr>
        <p:spPr>
          <a:xfrm>
            <a:off x="548640" y="2743200"/>
            <a:ext cx="10972800" cy="1371600"/>
          </a:xfrm>
          <a:prstGeom prst="rect">
            <a:avLst/>
          </a:prstGeom>
          <a:noFill/>
        </p:spPr>
        <p:txBody>
          <a:bodyPr wrap="square" anchor="t" lIns="45720" rIns="45720">
            <a:spAutoFit/>
          </a:bodyPr>
          <a:lstStyle/>
          <a:p>
            <a:pPr algn="l"/>
            <a:r>
              <a:rPr sz="2000" b="0" i="0">
                <a:solidFill>
                  <a:srgbClr val="ECF0F1"/>
                </a:solidFill>
                <a:latin typeface="Calibri"/>
              </a:rPr>
              <a:t>An order-pricing service composing every prior pattern, calling a tax service over gRPC. Three acts: a taxable order, a tax-exempt short-circuit, and an idempotent replay returning the identical order id.</a:t>
            </a:r>
          </a:p>
        </p:txBody>
      </p:sp>
      <p:sp>
        <p:nvSpPr>
          <p:cNvPr id="6" name="Rectangle 5"/>
          <p:cNvSpPr/>
          <p:nvPr/>
        </p:nvSpPr>
        <p:spPr>
          <a:xfrm>
            <a:off x="548640" y="4297680"/>
            <a:ext cx="11064240" cy="1097280"/>
          </a:xfrm>
          <a:prstGeom prst="rect">
            <a:avLst/>
          </a:prstGeom>
          <a:solidFill>
            <a:srgbClr val="0D21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4389120"/>
            <a:ext cx="10789920" cy="457200"/>
          </a:xfrm>
          <a:prstGeom prst="rect">
            <a:avLst/>
          </a:prstGeom>
          <a:noFill/>
        </p:spPr>
        <p:txBody>
          <a:bodyPr wrap="square" anchor="t" lIns="45720" rIns="45720">
            <a:spAutoFit/>
          </a:bodyPr>
          <a:lstStyle/>
          <a:p>
            <a:pPr algn="l"/>
            <a:r>
              <a:rPr sz="1800" b="0" i="0">
                <a:solidFill>
                  <a:srgbClr val="00BCD4"/>
                </a:solidFill>
                <a:latin typeface="Consolas"/>
              </a:rPr>
              <a:t>$ cd examples/statelessness/10-grpc-microservices &amp;&amp; ./demo.sh</a:t>
            </a:r>
          </a:p>
        </p:txBody>
      </p:sp>
      <p:sp>
        <p:nvSpPr>
          <p:cNvPr id="8" name="TextBox 7"/>
          <p:cNvSpPr txBox="1"/>
          <p:nvPr/>
        </p:nvSpPr>
        <p:spPr>
          <a:xfrm>
            <a:off x="731520" y="4892040"/>
            <a:ext cx="10789920" cy="365760"/>
          </a:xfrm>
          <a:prstGeom prst="rect">
            <a:avLst/>
          </a:prstGeom>
          <a:noFill/>
        </p:spPr>
        <p:txBody>
          <a:bodyPr wrap="square" anchor="t" lIns="45720" rIns="45720">
            <a:spAutoFit/>
          </a:bodyPr>
          <a:lstStyle/>
          <a:p>
            <a:pPr algn="l"/>
            <a:r>
              <a:rPr sz="1100" b="0" i="0">
                <a:solidFill>
                  <a:srgbClr val="90A4AE"/>
                </a:solidFill>
                <a:latin typeface="Consolas"/>
              </a:rPr>
              <a:t>  source on site: patterncatalyst.github.io/cpp-container-optimization-tutorial/examples/statelessness-10-grpc-microservices/</a:t>
            </a:r>
          </a:p>
        </p:txBody>
      </p:sp>
      <p:sp>
        <p:nvSpPr>
          <p:cNvPr id="9" name="TextBox 8"/>
          <p:cNvSpPr txBox="1"/>
          <p:nvPr/>
        </p:nvSpPr>
        <p:spPr>
          <a:xfrm>
            <a:off x="10820095" y="6400800"/>
            <a:ext cx="914400" cy="274320"/>
          </a:xfrm>
          <a:prstGeom prst="rect">
            <a:avLst/>
          </a:prstGeom>
          <a:noFill/>
        </p:spPr>
        <p:txBody>
          <a:bodyPr wrap="square" anchor="t" lIns="45720" rIns="45720">
            <a:spAutoFit/>
          </a:bodyPr>
          <a:lstStyle/>
          <a:p>
            <a:pPr algn="r"/>
            <a:r>
              <a:rPr sz="1100" b="0" i="0">
                <a:solidFill>
                  <a:srgbClr val="90A4AE"/>
                </a:solidFill>
                <a:latin typeface="Calibri"/>
              </a:rPr>
              <a:t>60 / 67</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457200" y="1828800"/>
            <a:ext cx="3657600" cy="2286000"/>
          </a:xfrm>
          <a:prstGeom prst="rect">
            <a:avLst/>
          </a:prstGeom>
          <a:noFill/>
        </p:spPr>
        <p:txBody>
          <a:bodyPr wrap="square" anchor="t" lIns="45720" rIns="45720">
            <a:spAutoFit/>
          </a:bodyPr>
          <a:lstStyle/>
          <a:p>
            <a:pPr algn="l"/>
            <a:r>
              <a:rPr sz="18000" b="1" i="0">
                <a:solidFill>
                  <a:srgbClr val="00BCD4"/>
                </a:solidFill>
                <a:latin typeface="Calibri"/>
              </a:rPr>
              <a:t>§11</a:t>
            </a:r>
          </a:p>
        </p:txBody>
      </p:sp>
      <p:sp>
        <p:nvSpPr>
          <p:cNvPr id="3" name="TextBox 2"/>
          <p:cNvSpPr txBox="1"/>
          <p:nvPr/>
        </p:nvSpPr>
        <p:spPr>
          <a:xfrm>
            <a:off x="4114800" y="2103120"/>
            <a:ext cx="7772400" cy="1828800"/>
          </a:xfrm>
          <a:prstGeom prst="rect">
            <a:avLst/>
          </a:prstGeom>
          <a:noFill/>
        </p:spPr>
        <p:txBody>
          <a:bodyPr wrap="square" anchor="t" lIns="45720" rIns="45720">
            <a:spAutoFit/>
          </a:bodyPr>
          <a:lstStyle/>
          <a:p>
            <a:pPr algn="l"/>
            <a:r>
              <a:rPr sz="3600" b="1" i="0">
                <a:solidFill>
                  <a:srgbClr val="FFFFFF"/>
                </a:solidFill>
                <a:latin typeface="Calibri"/>
              </a:rPr>
              <a:t>Build tooling &amp; vendored helpers</a:t>
            </a:r>
          </a:p>
        </p:txBody>
      </p:sp>
      <p:sp>
        <p:nvSpPr>
          <p:cNvPr id="4" name="TextBox 3"/>
          <p:cNvSpPr txBox="1"/>
          <p:nvPr/>
        </p:nvSpPr>
        <p:spPr>
          <a:xfrm>
            <a:off x="4114800" y="3474720"/>
            <a:ext cx="7772400" cy="1828800"/>
          </a:xfrm>
          <a:prstGeom prst="rect">
            <a:avLst/>
          </a:prstGeom>
          <a:noFill/>
        </p:spPr>
        <p:txBody>
          <a:bodyPr wrap="square" anchor="t" lIns="45720" rIns="45720">
            <a:spAutoFit/>
          </a:bodyPr>
          <a:lstStyle/>
          <a:p>
            <a:pPr algn="l"/>
            <a:r>
              <a:rPr sz="2000" b="0" i="1">
                <a:solidFill>
                  <a:srgbClr val="90A4AE"/>
                </a:solidFill>
                <a:latin typeface="Calibri"/>
              </a:rPr>
              <a:t>Conan, CMake, the toolchain — and the helpers made runnable.</a:t>
            </a:r>
          </a:p>
        </p:txBody>
      </p:sp>
      <p:sp>
        <p:nvSpPr>
          <p:cNvPr id="5" name="TextBox 4"/>
          <p:cNvSpPr txBox="1"/>
          <p:nvPr/>
        </p:nvSpPr>
        <p:spPr>
          <a:xfrm>
            <a:off x="10820095" y="6400800"/>
            <a:ext cx="914400" cy="274320"/>
          </a:xfrm>
          <a:prstGeom prst="rect">
            <a:avLst/>
          </a:prstGeom>
          <a:noFill/>
        </p:spPr>
        <p:txBody>
          <a:bodyPr wrap="square" anchor="t" lIns="45720" rIns="45720">
            <a:spAutoFit/>
          </a:bodyPr>
          <a:lstStyle/>
          <a:p>
            <a:pPr algn="r"/>
            <a:r>
              <a:rPr sz="1100" b="0" i="0">
                <a:solidFill>
                  <a:srgbClr val="90A4AE"/>
                </a:solidFill>
                <a:latin typeface="Calibri"/>
              </a:rPr>
              <a:t>61 / 67</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640080"/>
          </a:xfrm>
          <a:prstGeom prst="rect">
            <a:avLst/>
          </a:prstGeom>
          <a:solidFill>
            <a:srgbClr val="1E6F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37160"/>
            <a:ext cx="6400800" cy="365760"/>
          </a:xfrm>
          <a:prstGeom prst="rect">
            <a:avLst/>
          </a:prstGeom>
          <a:noFill/>
        </p:spPr>
        <p:txBody>
          <a:bodyPr wrap="square" anchor="t" lIns="45720" rIns="45720">
            <a:spAutoFit/>
          </a:bodyPr>
          <a:lstStyle/>
          <a:p>
            <a:pPr algn="l"/>
            <a:r>
              <a:rPr sz="2800" b="1" i="0">
                <a:solidFill>
                  <a:srgbClr val="FFFFFF"/>
                </a:solidFill>
                <a:latin typeface="Calibri"/>
              </a:rPr>
              <a:t>Build tooling &amp; vendored helpers</a:t>
            </a:r>
          </a:p>
        </p:txBody>
      </p:sp>
      <p:sp>
        <p:nvSpPr>
          <p:cNvPr id="4" name="Rounded Rectangle 3"/>
          <p:cNvSpPr/>
          <p:nvPr/>
        </p:nvSpPr>
        <p:spPr>
          <a:xfrm>
            <a:off x="10454335" y="164592"/>
            <a:ext cx="1463040" cy="320040"/>
          </a:xfrm>
          <a:prstGeom prst="roundRect">
            <a:avLst>
              <a:gd name="adj" fmla="val 50000"/>
            </a:avLst>
          </a:prstGeom>
          <a:solidFill>
            <a:srgbClr val="1A2B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454335" y="164592"/>
            <a:ext cx="1463040" cy="320040"/>
          </a:xfrm>
          <a:prstGeom prst="rect">
            <a:avLst/>
          </a:prstGeom>
          <a:noFill/>
        </p:spPr>
        <p:txBody>
          <a:bodyPr wrap="square" anchor="ctr" lIns="45720" rIns="45720">
            <a:spAutoFit/>
          </a:bodyPr>
          <a:lstStyle/>
          <a:p>
            <a:pPr algn="ctr"/>
            <a:r>
              <a:rPr sz="1400" b="1" i="0">
                <a:solidFill>
                  <a:srgbClr val="FFFFFF"/>
                </a:solidFill>
                <a:latin typeface="Calibri"/>
              </a:rPr>
              <a:t>Doc 11</a:t>
            </a:r>
          </a:p>
        </p:txBody>
      </p:sp>
      <p:sp>
        <p:nvSpPr>
          <p:cNvPr id="6" name="TextBox 5"/>
          <p:cNvSpPr txBox="1"/>
          <p:nvPr/>
        </p:nvSpPr>
        <p:spPr>
          <a:xfrm>
            <a:off x="365760" y="6537960"/>
            <a:ext cx="8229600" cy="274320"/>
          </a:xfrm>
          <a:prstGeom prst="rect">
            <a:avLst/>
          </a:prstGeom>
          <a:noFill/>
        </p:spPr>
        <p:txBody>
          <a:bodyPr wrap="square" anchor="t" lIns="45720" rIns="45720">
            <a:spAutoFit/>
          </a:bodyPr>
          <a:lstStyle/>
          <a:p>
            <a:pPr algn="l"/>
            <a:r>
              <a:rPr sz="1100" b="0" i="0">
                <a:solidFill>
                  <a:srgbClr val="90A4AE"/>
                </a:solidFill>
                <a:latin typeface="Calibri"/>
              </a:rPr>
              <a:t>Optimizing Modern C++ with Containers   |   Build tooling &amp; vendored helpers</a:t>
            </a:r>
          </a:p>
        </p:txBody>
      </p:sp>
      <p:sp>
        <p:nvSpPr>
          <p:cNvPr id="7" name="TextBox 6"/>
          <p:cNvSpPr txBox="1"/>
          <p:nvPr/>
        </p:nvSpPr>
        <p:spPr>
          <a:xfrm>
            <a:off x="10820095" y="6537960"/>
            <a:ext cx="1005840" cy="274320"/>
          </a:xfrm>
          <a:prstGeom prst="rect">
            <a:avLst/>
          </a:prstGeom>
          <a:noFill/>
        </p:spPr>
        <p:txBody>
          <a:bodyPr wrap="square" anchor="t" lIns="45720" rIns="45720">
            <a:spAutoFit/>
          </a:bodyPr>
          <a:lstStyle/>
          <a:p>
            <a:pPr algn="r"/>
            <a:r>
              <a:rPr sz="1100" b="0" i="0">
                <a:solidFill>
                  <a:srgbClr val="90A4AE"/>
                </a:solidFill>
                <a:latin typeface="Calibri"/>
              </a:rPr>
              <a:t>62 / 67</a:t>
            </a:r>
          </a:p>
        </p:txBody>
      </p:sp>
      <p:sp>
        <p:nvSpPr>
          <p:cNvPr id="8" name="TextBox 7"/>
          <p:cNvSpPr txBox="1"/>
          <p:nvPr/>
        </p:nvSpPr>
        <p:spPr>
          <a:xfrm>
            <a:off x="457200" y="822960"/>
            <a:ext cx="10972800" cy="548640"/>
          </a:xfrm>
          <a:prstGeom prst="rect">
            <a:avLst/>
          </a:prstGeom>
          <a:noFill/>
        </p:spPr>
        <p:txBody>
          <a:bodyPr wrap="square" anchor="t" lIns="45720" rIns="45720">
            <a:spAutoFit/>
          </a:bodyPr>
          <a:lstStyle/>
          <a:p>
            <a:pPr algn="l"/>
            <a:r>
              <a:rPr sz="2800" b="1" i="0">
                <a:solidFill>
                  <a:srgbClr val="1A2B3C"/>
                </a:solidFill>
                <a:latin typeface="Calibri"/>
              </a:rPr>
              <a:t>The build stack</a:t>
            </a:r>
          </a:p>
        </p:txBody>
      </p:sp>
      <p:sp>
        <p:nvSpPr>
          <p:cNvPr id="9" name="TextBox 8"/>
          <p:cNvSpPr txBox="1"/>
          <p:nvPr/>
        </p:nvSpPr>
        <p:spPr>
          <a:xfrm>
            <a:off x="457200" y="1554480"/>
            <a:ext cx="5486400" cy="4572000"/>
          </a:xfrm>
          <a:prstGeom prst="rect">
            <a:avLst/>
          </a:prstGeom>
          <a:noFill/>
        </p:spPr>
        <p:txBody>
          <a:bodyPr wrap="square" anchor="t" lIns="45720" rIns="45720">
            <a:spAutoFit/>
          </a:bodyPr>
          <a:lstStyle/>
          <a:p>
            <a:pPr algn="l">
              <a:lnSpc>
                <a:spcPct val="115000"/>
              </a:lnSpc>
            </a:pPr>
            <a:r>
              <a:rPr sz="1800" b="1" i="0">
                <a:solidFill>
                  <a:srgbClr val="1E6FC8"/>
                </a:solidFill>
                <a:latin typeface="Calibri"/>
              </a:rPr>
              <a:t>Hermetic, pinned, reproducible</a:t>
            </a:r>
          </a:p>
          <a:p>
            <a:pPr algn="l">
              <a:lnSpc>
                <a:spcPct val="115000"/>
              </a:lnSpc>
            </a:pPr>
            <a:r>
              <a:rPr sz="1500" b="0" i="0">
                <a:solidFill>
                  <a:srgbClr val="1A2B3C"/>
                </a:solidFill>
                <a:latin typeface="Calibri"/>
              </a:rPr>
              <a:t>•  Conan 2.x — explicit version pins, dev + release profiles, a lockfile</a:t>
            </a:r>
          </a:p>
          <a:p>
            <a:pPr algn="l">
              <a:lnSpc>
                <a:spcPct val="115000"/>
              </a:lnSpc>
            </a:pPr>
            <a:r>
              <a:rPr sz="1500" b="0" i="0">
                <a:solidFill>
                  <a:srgbClr val="1A2B3C"/>
                </a:solidFill>
                <a:latin typeface="Calibri"/>
              </a:rPr>
              <a:t>•  CMake 3.27+ with Ninja; Conan-generated presets wire the toolchain</a:t>
            </a:r>
          </a:p>
          <a:p>
            <a:pPr algn="l">
              <a:lnSpc>
                <a:spcPct val="115000"/>
              </a:lnSpc>
            </a:pPr>
            <a:r>
              <a:rPr sz="1500" b="0" i="0">
                <a:solidFill>
                  <a:srgbClr val="1A2B3C"/>
                </a:solidFill>
                <a:latin typeface="Calibri"/>
              </a:rPr>
              <a:t>•  GCC 14 / libstdc++ for C++23 breadth (Clang 18 + libc++ equivalent)</a:t>
            </a:r>
          </a:p>
          <a:p>
            <a:pPr algn="l">
              <a:lnSpc>
                <a:spcPct val="115000"/>
              </a:lnSpc>
            </a:pPr>
            <a:r>
              <a:rPr sz="1500" b="0" i="0">
                <a:solidFill>
                  <a:srgbClr val="1A2B3C"/>
                </a:solidFill>
                <a:latin typeface="Calibri"/>
              </a:rPr>
              <a:t>•  Multi-stage Containerfile: full toolchain builder, minimal runtime</a:t>
            </a:r>
          </a:p>
          <a:p>
            <a:pPr algn="l">
              <a:lnSpc>
                <a:spcPct val="115000"/>
              </a:lnSpc>
            </a:pPr>
            <a:r>
              <a:rPr sz="1500" b="0" i="0">
                <a:solidFill>
                  <a:srgbClr val="1A2B3C"/>
                </a:solidFill>
                <a:latin typeface="Calibri"/>
              </a:rPr>
              <a:t>•  Dev profile wires AddressSanitizer — catches the Doc 3 arena trap early</a:t>
            </a:r>
          </a:p>
        </p:txBody>
      </p:sp>
      <p:pic>
        <p:nvPicPr>
          <p:cNvPr id="10" name="Picture 9" descr="11-build-tooling.jpg"/>
          <p:cNvPicPr>
            <a:picLocks noChangeAspect="1"/>
          </p:cNvPicPr>
          <p:nvPr/>
        </p:nvPicPr>
        <p:blipFill>
          <a:blip r:embed="rId2"/>
          <a:stretch>
            <a:fillRect/>
          </a:stretch>
        </p:blipFill>
        <p:spPr>
          <a:xfrm>
            <a:off x="6217920" y="1554480"/>
            <a:ext cx="5486400" cy="2897065"/>
          </a:xfrm>
          <a:prstGeom prst="rect">
            <a:avLst/>
          </a:prstGeom>
        </p:spPr>
      </p:pic>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640080"/>
          </a:xfrm>
          <a:prstGeom prst="rect">
            <a:avLst/>
          </a:prstGeom>
          <a:solidFill>
            <a:srgbClr val="1E6F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37160"/>
            <a:ext cx="6400800" cy="365760"/>
          </a:xfrm>
          <a:prstGeom prst="rect">
            <a:avLst/>
          </a:prstGeom>
          <a:noFill/>
        </p:spPr>
        <p:txBody>
          <a:bodyPr wrap="square" anchor="t" lIns="45720" rIns="45720">
            <a:spAutoFit/>
          </a:bodyPr>
          <a:lstStyle/>
          <a:p>
            <a:pPr algn="l"/>
            <a:r>
              <a:rPr sz="2800" b="1" i="0">
                <a:solidFill>
                  <a:srgbClr val="FFFFFF"/>
                </a:solidFill>
                <a:latin typeface="Calibri"/>
              </a:rPr>
              <a:t>Build tooling &amp; vendored helpers</a:t>
            </a:r>
          </a:p>
        </p:txBody>
      </p:sp>
      <p:sp>
        <p:nvSpPr>
          <p:cNvPr id="4" name="Rounded Rectangle 3"/>
          <p:cNvSpPr/>
          <p:nvPr/>
        </p:nvSpPr>
        <p:spPr>
          <a:xfrm>
            <a:off x="10454335" y="164592"/>
            <a:ext cx="1463040" cy="320040"/>
          </a:xfrm>
          <a:prstGeom prst="roundRect">
            <a:avLst>
              <a:gd name="adj" fmla="val 50000"/>
            </a:avLst>
          </a:prstGeom>
          <a:solidFill>
            <a:srgbClr val="1A2B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454335" y="164592"/>
            <a:ext cx="1463040" cy="320040"/>
          </a:xfrm>
          <a:prstGeom prst="rect">
            <a:avLst/>
          </a:prstGeom>
          <a:noFill/>
        </p:spPr>
        <p:txBody>
          <a:bodyPr wrap="square" anchor="ctr" lIns="45720" rIns="45720">
            <a:spAutoFit/>
          </a:bodyPr>
          <a:lstStyle/>
          <a:p>
            <a:pPr algn="ctr"/>
            <a:r>
              <a:rPr sz="1400" b="1" i="0">
                <a:solidFill>
                  <a:srgbClr val="FFFFFF"/>
                </a:solidFill>
                <a:latin typeface="Calibri"/>
              </a:rPr>
              <a:t>Doc 11</a:t>
            </a:r>
          </a:p>
        </p:txBody>
      </p:sp>
      <p:sp>
        <p:nvSpPr>
          <p:cNvPr id="6" name="TextBox 5"/>
          <p:cNvSpPr txBox="1"/>
          <p:nvPr/>
        </p:nvSpPr>
        <p:spPr>
          <a:xfrm>
            <a:off x="365760" y="6537960"/>
            <a:ext cx="8229600" cy="274320"/>
          </a:xfrm>
          <a:prstGeom prst="rect">
            <a:avLst/>
          </a:prstGeom>
          <a:noFill/>
        </p:spPr>
        <p:txBody>
          <a:bodyPr wrap="square" anchor="t" lIns="45720" rIns="45720">
            <a:spAutoFit/>
          </a:bodyPr>
          <a:lstStyle/>
          <a:p>
            <a:pPr algn="l"/>
            <a:r>
              <a:rPr sz="1100" b="0" i="0">
                <a:solidFill>
                  <a:srgbClr val="90A4AE"/>
                </a:solidFill>
                <a:latin typeface="Calibri"/>
              </a:rPr>
              <a:t>Optimizing Modern C++ with Containers   |   Build tooling &amp; vendored helpers</a:t>
            </a:r>
          </a:p>
        </p:txBody>
      </p:sp>
      <p:sp>
        <p:nvSpPr>
          <p:cNvPr id="7" name="TextBox 6"/>
          <p:cNvSpPr txBox="1"/>
          <p:nvPr/>
        </p:nvSpPr>
        <p:spPr>
          <a:xfrm>
            <a:off x="10820095" y="6537960"/>
            <a:ext cx="1005840" cy="274320"/>
          </a:xfrm>
          <a:prstGeom prst="rect">
            <a:avLst/>
          </a:prstGeom>
          <a:noFill/>
        </p:spPr>
        <p:txBody>
          <a:bodyPr wrap="square" anchor="t" lIns="45720" rIns="45720">
            <a:spAutoFit/>
          </a:bodyPr>
          <a:lstStyle/>
          <a:p>
            <a:pPr algn="r"/>
            <a:r>
              <a:rPr sz="1100" b="0" i="0">
                <a:solidFill>
                  <a:srgbClr val="90A4AE"/>
                </a:solidFill>
                <a:latin typeface="Calibri"/>
              </a:rPr>
              <a:t>63 / 67</a:t>
            </a:r>
          </a:p>
        </p:txBody>
      </p:sp>
      <p:sp>
        <p:nvSpPr>
          <p:cNvPr id="8" name="TextBox 7"/>
          <p:cNvSpPr txBox="1"/>
          <p:nvPr/>
        </p:nvSpPr>
        <p:spPr>
          <a:xfrm>
            <a:off x="457200" y="822960"/>
            <a:ext cx="10972800" cy="548640"/>
          </a:xfrm>
          <a:prstGeom prst="rect">
            <a:avLst/>
          </a:prstGeom>
          <a:noFill/>
        </p:spPr>
        <p:txBody>
          <a:bodyPr wrap="square" anchor="t" lIns="45720" rIns="45720">
            <a:spAutoFit/>
          </a:bodyPr>
          <a:lstStyle/>
          <a:p>
            <a:pPr algn="l"/>
            <a:r>
              <a:rPr sz="2800" b="1" i="0">
                <a:solidFill>
                  <a:srgbClr val="1A2B3C"/>
                </a:solidFill>
                <a:latin typeface="Calibri"/>
              </a:rPr>
              <a:t>The cgroup helper, in one line</a:t>
            </a:r>
          </a:p>
        </p:txBody>
      </p:sp>
      <p:sp>
        <p:nvSpPr>
          <p:cNvPr id="9" name="TextBox 8"/>
          <p:cNvSpPr txBox="1"/>
          <p:nvPr/>
        </p:nvSpPr>
        <p:spPr>
          <a:xfrm>
            <a:off x="457200" y="1554480"/>
            <a:ext cx="11247120" cy="4572000"/>
          </a:xfrm>
          <a:prstGeom prst="rect">
            <a:avLst/>
          </a:prstGeom>
          <a:noFill/>
        </p:spPr>
        <p:txBody>
          <a:bodyPr wrap="square" anchor="t" lIns="45720" rIns="45720">
            <a:spAutoFit/>
          </a:bodyPr>
          <a:lstStyle/>
          <a:p>
            <a:pPr algn="l">
              <a:lnSpc>
                <a:spcPct val="115000"/>
              </a:lnSpc>
            </a:pPr>
            <a:r>
              <a:rPr sz="1800" b="1" i="0">
                <a:solidFill>
                  <a:srgbClr val="E84855"/>
                </a:solidFill>
                <a:latin typeface="Calibri"/>
              </a:rPr>
              <a:t>Why the vendored helper exists</a:t>
            </a:r>
          </a:p>
          <a:p>
            <a:pPr algn="l">
              <a:lnSpc>
                <a:spcPct val="115000"/>
              </a:lnSpc>
            </a:pPr>
            <a:r>
              <a:rPr sz="1500" b="0" i="0">
                <a:solidFill>
                  <a:srgbClr val="1A2B3C"/>
                </a:solidFill>
                <a:latin typeface="Calibri"/>
              </a:rPr>
              <a:t>•  hardware_concurrency() reports host cores — wrong under a cgroup</a:t>
            </a:r>
          </a:p>
          <a:p>
            <a:pPr algn="l">
              <a:lnSpc>
                <a:spcPct val="115000"/>
              </a:lnSpc>
            </a:pPr>
            <a:r>
              <a:rPr sz="1500" b="0" i="0">
                <a:solidFill>
                  <a:srgbClr val="1A2B3C"/>
                </a:solidFill>
                <a:latin typeface="Calibri"/>
              </a:rPr>
              <a:t>•  cpu_limit_cores() reads cgroup v2 cpu.max → the real budget</a:t>
            </a:r>
          </a:p>
          <a:p>
            <a:pPr algn="l">
              <a:lnSpc>
                <a:spcPct val="115000"/>
              </a:lnSpc>
            </a:pPr>
            <a:r>
              <a:rPr sz="1500" b="0" i="0">
                <a:solidFill>
                  <a:srgbClr val="1A2B3C"/>
                </a:solidFill>
                <a:latin typeface="Calibri"/>
              </a:rPr>
              <a:t>•  Under --cpus=0.5: helper reads 0.5 while hardware_concurrency() still says 22</a:t>
            </a:r>
          </a:p>
          <a:p>
            <a:pPr algn="l">
              <a:lnSpc>
                <a:spcPct val="115000"/>
              </a:lnSpc>
            </a:pPr>
            <a:r>
              <a:rPr sz="1500" b="0" i="0">
                <a:solidFill>
                  <a:srgbClr val="1A2B3C"/>
                </a:solidFill>
                <a:latin typeface="Calibri"/>
              </a:rPr>
              <a:t>•  That gap is the whole reason to read the cgroup — and Demo 11 makes it visible</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640080"/>
          </a:xfrm>
          <a:prstGeom prst="rect">
            <a:avLst/>
          </a:prstGeom>
          <a:solidFill>
            <a:srgbClr val="1E6F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37160"/>
            <a:ext cx="6400800" cy="365760"/>
          </a:xfrm>
          <a:prstGeom prst="rect">
            <a:avLst/>
          </a:prstGeom>
          <a:noFill/>
        </p:spPr>
        <p:txBody>
          <a:bodyPr wrap="square" anchor="t" lIns="45720" rIns="45720">
            <a:spAutoFit/>
          </a:bodyPr>
          <a:lstStyle/>
          <a:p>
            <a:pPr algn="l"/>
            <a:r>
              <a:rPr sz="2800" b="1" i="0">
                <a:solidFill>
                  <a:srgbClr val="FFFFFF"/>
                </a:solidFill>
                <a:latin typeface="Calibri"/>
              </a:rPr>
              <a:t>Build tooling &amp; vendored helpers</a:t>
            </a:r>
          </a:p>
        </p:txBody>
      </p:sp>
      <p:sp>
        <p:nvSpPr>
          <p:cNvPr id="4" name="Rounded Rectangle 3"/>
          <p:cNvSpPr/>
          <p:nvPr/>
        </p:nvSpPr>
        <p:spPr>
          <a:xfrm>
            <a:off x="10454335" y="164592"/>
            <a:ext cx="1463040" cy="320040"/>
          </a:xfrm>
          <a:prstGeom prst="roundRect">
            <a:avLst>
              <a:gd name="adj" fmla="val 50000"/>
            </a:avLst>
          </a:prstGeom>
          <a:solidFill>
            <a:srgbClr val="1A2B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454335" y="164592"/>
            <a:ext cx="1463040" cy="320040"/>
          </a:xfrm>
          <a:prstGeom prst="rect">
            <a:avLst/>
          </a:prstGeom>
          <a:noFill/>
        </p:spPr>
        <p:txBody>
          <a:bodyPr wrap="square" anchor="ctr" lIns="45720" rIns="45720">
            <a:spAutoFit/>
          </a:bodyPr>
          <a:lstStyle/>
          <a:p>
            <a:pPr algn="ctr"/>
            <a:r>
              <a:rPr sz="1400" b="1" i="0">
                <a:solidFill>
                  <a:srgbClr val="FFFFFF"/>
                </a:solidFill>
                <a:latin typeface="Calibri"/>
              </a:rPr>
              <a:t>Doc 11</a:t>
            </a:r>
          </a:p>
        </p:txBody>
      </p:sp>
      <p:sp>
        <p:nvSpPr>
          <p:cNvPr id="6" name="TextBox 5"/>
          <p:cNvSpPr txBox="1"/>
          <p:nvPr/>
        </p:nvSpPr>
        <p:spPr>
          <a:xfrm>
            <a:off x="365760" y="6537960"/>
            <a:ext cx="8229600" cy="274320"/>
          </a:xfrm>
          <a:prstGeom prst="rect">
            <a:avLst/>
          </a:prstGeom>
          <a:noFill/>
        </p:spPr>
        <p:txBody>
          <a:bodyPr wrap="square" anchor="t" lIns="45720" rIns="45720">
            <a:spAutoFit/>
          </a:bodyPr>
          <a:lstStyle/>
          <a:p>
            <a:pPr algn="l"/>
            <a:r>
              <a:rPr sz="1100" b="0" i="0">
                <a:solidFill>
                  <a:srgbClr val="90A4AE"/>
                </a:solidFill>
                <a:latin typeface="Calibri"/>
              </a:rPr>
              <a:t>Optimizing Modern C++ with Containers   |   Build tooling &amp; vendored helpers</a:t>
            </a:r>
          </a:p>
        </p:txBody>
      </p:sp>
      <p:sp>
        <p:nvSpPr>
          <p:cNvPr id="7" name="TextBox 6"/>
          <p:cNvSpPr txBox="1"/>
          <p:nvPr/>
        </p:nvSpPr>
        <p:spPr>
          <a:xfrm>
            <a:off x="10820095" y="6537960"/>
            <a:ext cx="1005840" cy="274320"/>
          </a:xfrm>
          <a:prstGeom prst="rect">
            <a:avLst/>
          </a:prstGeom>
          <a:noFill/>
        </p:spPr>
        <p:txBody>
          <a:bodyPr wrap="square" anchor="t" lIns="45720" rIns="45720">
            <a:spAutoFit/>
          </a:bodyPr>
          <a:lstStyle/>
          <a:p>
            <a:pPr algn="r"/>
            <a:r>
              <a:rPr sz="1100" b="0" i="0">
                <a:solidFill>
                  <a:srgbClr val="90A4AE"/>
                </a:solidFill>
                <a:latin typeface="Calibri"/>
              </a:rPr>
              <a:t>64 / 67</a:t>
            </a:r>
          </a:p>
        </p:txBody>
      </p:sp>
      <p:sp>
        <p:nvSpPr>
          <p:cNvPr id="8" name="TextBox 7"/>
          <p:cNvSpPr txBox="1"/>
          <p:nvPr/>
        </p:nvSpPr>
        <p:spPr>
          <a:xfrm>
            <a:off x="457200" y="822960"/>
            <a:ext cx="10972800" cy="548640"/>
          </a:xfrm>
          <a:prstGeom prst="rect">
            <a:avLst/>
          </a:prstGeom>
          <a:noFill/>
        </p:spPr>
        <p:txBody>
          <a:bodyPr wrap="square" anchor="t" lIns="45720" rIns="45720">
            <a:spAutoFit/>
          </a:bodyPr>
          <a:lstStyle/>
          <a:p>
            <a:pPr algn="l"/>
            <a:r>
              <a:rPr sz="2800" b="1" i="0">
                <a:solidFill>
                  <a:srgbClr val="1A2B3C"/>
                </a:solidFill>
                <a:latin typeface="Calibri"/>
              </a:rPr>
              <a:t>C++23 feature support is a version question</a:t>
            </a:r>
          </a:p>
        </p:txBody>
      </p:sp>
      <p:sp>
        <p:nvSpPr>
          <p:cNvPr id="9" name="TextBox 8"/>
          <p:cNvSpPr txBox="1"/>
          <p:nvPr/>
        </p:nvSpPr>
        <p:spPr>
          <a:xfrm>
            <a:off x="457200" y="1554480"/>
            <a:ext cx="11247120" cy="4572000"/>
          </a:xfrm>
          <a:prstGeom prst="rect">
            <a:avLst/>
          </a:prstGeom>
          <a:noFill/>
        </p:spPr>
        <p:txBody>
          <a:bodyPr wrap="square" anchor="t" lIns="45720" rIns="45720">
            <a:spAutoFit/>
          </a:bodyPr>
          <a:lstStyle/>
          <a:p>
            <a:pPr algn="l">
              <a:lnSpc>
                <a:spcPct val="115000"/>
              </a:lnSpc>
            </a:pPr>
            <a:r>
              <a:rPr sz="1800" b="1" i="0">
                <a:solidFill>
                  <a:srgbClr val="1E6FC8"/>
                </a:solidFill>
                <a:latin typeface="Calibri"/>
              </a:rPr>
              <a:t>The toolchain decides what you can use</a:t>
            </a:r>
          </a:p>
          <a:p>
            <a:pPr algn="l">
              <a:lnSpc>
                <a:spcPct val="115000"/>
              </a:lnSpc>
            </a:pPr>
            <a:r>
              <a:rPr sz="1500" b="0" i="0">
                <a:solidFill>
                  <a:srgbClr val="1A2B3C"/>
                </a:solidFill>
                <a:latin typeface="Calibri"/>
              </a:rPr>
              <a:t>•  std::expected — GCC 12+, Clang 16+</a:t>
            </a:r>
          </a:p>
          <a:p>
            <a:pPr algn="l">
              <a:lnSpc>
                <a:spcPct val="115000"/>
              </a:lnSpc>
            </a:pPr>
            <a:r>
              <a:rPr sz="1500" b="0" i="0">
                <a:solidFill>
                  <a:srgbClr val="1A2B3C"/>
                </a:solidFill>
                <a:latin typeface="Calibri"/>
              </a:rPr>
              <a:t>•  &lt;stacktrace&gt; — GCC 14+ (link libstdc++_libbacktrace), Clang 18+</a:t>
            </a:r>
          </a:p>
          <a:p>
            <a:pPr algn="l">
              <a:lnSpc>
                <a:spcPct val="115000"/>
              </a:lnSpc>
            </a:pPr>
            <a:r>
              <a:rPr sz="1500" b="0" i="0">
                <a:solidFill>
                  <a:srgbClr val="1A2B3C"/>
                </a:solidFill>
                <a:latin typeface="Calibri"/>
              </a:rPr>
              <a:t>•  std::flat_map / flat_set — GCC 15+; not in libc++ yet (use absl::btree_map)</a:t>
            </a:r>
          </a:p>
          <a:p>
            <a:pPr algn="l">
              <a:lnSpc>
                <a:spcPct val="115000"/>
              </a:lnSpc>
            </a:pPr>
            <a:r>
              <a:rPr sz="1500" b="0" i="0">
                <a:solidFill>
                  <a:srgbClr val="1A2B3C"/>
                </a:solidFill>
                <a:latin typeface="Calibri"/>
              </a:rPr>
              <a:t>•  std::print / println — GCC 14+, Clang 18+ (partial)</a:t>
            </a:r>
          </a:p>
          <a:p>
            <a:pPr algn="l">
              <a:lnSpc>
                <a:spcPct val="115000"/>
              </a:lnSpc>
            </a:pPr>
            <a:r>
              <a:rPr sz="1500" b="0" i="1">
                <a:solidFill>
                  <a:srgbClr val="90A4AE"/>
                </a:solidFill>
                <a:latin typeface="Calibri"/>
              </a:rPr>
              <a:t>GCC 14 + libstdc++ on glibc 2.35+ is the recommended 2026 baseline.</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640080"/>
          </a:xfrm>
          <a:prstGeom prst="rect">
            <a:avLst/>
          </a:prstGeom>
          <a:solidFill>
            <a:srgbClr val="1E6F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37160"/>
            <a:ext cx="6400800" cy="365760"/>
          </a:xfrm>
          <a:prstGeom prst="rect">
            <a:avLst/>
          </a:prstGeom>
          <a:noFill/>
        </p:spPr>
        <p:txBody>
          <a:bodyPr wrap="square" anchor="t" lIns="45720" rIns="45720">
            <a:spAutoFit/>
          </a:bodyPr>
          <a:lstStyle/>
          <a:p>
            <a:pPr algn="l"/>
            <a:r>
              <a:rPr sz="2800" b="1" i="0">
                <a:solidFill>
                  <a:srgbClr val="FFFFFF"/>
                </a:solidFill>
                <a:latin typeface="Calibri"/>
              </a:rPr>
              <a:t>Build tooling &amp; vendored helpers</a:t>
            </a:r>
          </a:p>
        </p:txBody>
      </p:sp>
      <p:sp>
        <p:nvSpPr>
          <p:cNvPr id="4" name="Rounded Rectangle 3"/>
          <p:cNvSpPr/>
          <p:nvPr/>
        </p:nvSpPr>
        <p:spPr>
          <a:xfrm>
            <a:off x="10454335" y="164592"/>
            <a:ext cx="1463040" cy="320040"/>
          </a:xfrm>
          <a:prstGeom prst="roundRect">
            <a:avLst>
              <a:gd name="adj" fmla="val 50000"/>
            </a:avLst>
          </a:prstGeom>
          <a:solidFill>
            <a:srgbClr val="1A2B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454335" y="164592"/>
            <a:ext cx="1463040" cy="320040"/>
          </a:xfrm>
          <a:prstGeom prst="rect">
            <a:avLst/>
          </a:prstGeom>
          <a:noFill/>
        </p:spPr>
        <p:txBody>
          <a:bodyPr wrap="square" anchor="ctr" lIns="45720" rIns="45720">
            <a:spAutoFit/>
          </a:bodyPr>
          <a:lstStyle/>
          <a:p>
            <a:pPr algn="ctr"/>
            <a:r>
              <a:rPr sz="1400" b="1" i="0">
                <a:solidFill>
                  <a:srgbClr val="FFFFFF"/>
                </a:solidFill>
                <a:latin typeface="Calibri"/>
              </a:rPr>
              <a:t>Doc 11</a:t>
            </a:r>
          </a:p>
        </p:txBody>
      </p:sp>
      <p:sp>
        <p:nvSpPr>
          <p:cNvPr id="6" name="TextBox 5"/>
          <p:cNvSpPr txBox="1"/>
          <p:nvPr/>
        </p:nvSpPr>
        <p:spPr>
          <a:xfrm>
            <a:off x="365760" y="6537960"/>
            <a:ext cx="8229600" cy="274320"/>
          </a:xfrm>
          <a:prstGeom prst="rect">
            <a:avLst/>
          </a:prstGeom>
          <a:noFill/>
        </p:spPr>
        <p:txBody>
          <a:bodyPr wrap="square" anchor="t" lIns="45720" rIns="45720">
            <a:spAutoFit/>
          </a:bodyPr>
          <a:lstStyle/>
          <a:p>
            <a:pPr algn="l"/>
            <a:r>
              <a:rPr sz="1100" b="0" i="0">
                <a:solidFill>
                  <a:srgbClr val="90A4AE"/>
                </a:solidFill>
                <a:latin typeface="Calibri"/>
              </a:rPr>
              <a:t>Optimizing Modern C++ with Containers   |   Build tooling &amp; vendored helpers</a:t>
            </a:r>
          </a:p>
        </p:txBody>
      </p:sp>
      <p:sp>
        <p:nvSpPr>
          <p:cNvPr id="7" name="TextBox 6"/>
          <p:cNvSpPr txBox="1"/>
          <p:nvPr/>
        </p:nvSpPr>
        <p:spPr>
          <a:xfrm>
            <a:off x="10820095" y="6537960"/>
            <a:ext cx="1005840" cy="274320"/>
          </a:xfrm>
          <a:prstGeom prst="rect">
            <a:avLst/>
          </a:prstGeom>
          <a:noFill/>
        </p:spPr>
        <p:txBody>
          <a:bodyPr wrap="square" anchor="t" lIns="45720" rIns="45720">
            <a:spAutoFit/>
          </a:bodyPr>
          <a:lstStyle/>
          <a:p>
            <a:pPr algn="r"/>
            <a:r>
              <a:rPr sz="1100" b="0" i="0">
                <a:solidFill>
                  <a:srgbClr val="90A4AE"/>
                </a:solidFill>
                <a:latin typeface="Calibri"/>
              </a:rPr>
              <a:t>65 / 67</a:t>
            </a:r>
          </a:p>
        </p:txBody>
      </p:sp>
      <p:sp>
        <p:nvSpPr>
          <p:cNvPr id="8" name="TextBox 7"/>
          <p:cNvSpPr txBox="1"/>
          <p:nvPr/>
        </p:nvSpPr>
        <p:spPr>
          <a:xfrm>
            <a:off x="457200" y="822960"/>
            <a:ext cx="10972800" cy="548640"/>
          </a:xfrm>
          <a:prstGeom prst="rect">
            <a:avLst/>
          </a:prstGeom>
          <a:noFill/>
        </p:spPr>
        <p:txBody>
          <a:bodyPr wrap="square" anchor="t" lIns="45720" rIns="45720">
            <a:spAutoFit/>
          </a:bodyPr>
          <a:lstStyle/>
          <a:p>
            <a:pPr algn="l"/>
            <a:r>
              <a:rPr sz="2800" b="1" i="0">
                <a:solidFill>
                  <a:srgbClr val="1A2B3C"/>
                </a:solidFill>
                <a:latin typeface="Calibri"/>
              </a:rPr>
              <a:t>Build-tooling gotchas worth memorizing</a:t>
            </a:r>
          </a:p>
        </p:txBody>
      </p:sp>
      <p:sp>
        <p:nvSpPr>
          <p:cNvPr id="9" name="TextBox 8"/>
          <p:cNvSpPr txBox="1"/>
          <p:nvPr/>
        </p:nvSpPr>
        <p:spPr>
          <a:xfrm>
            <a:off x="457200" y="1554480"/>
            <a:ext cx="11247120" cy="4572000"/>
          </a:xfrm>
          <a:prstGeom prst="rect">
            <a:avLst/>
          </a:prstGeom>
          <a:noFill/>
        </p:spPr>
        <p:txBody>
          <a:bodyPr wrap="square" anchor="t" lIns="45720" rIns="45720">
            <a:spAutoFit/>
          </a:bodyPr>
          <a:lstStyle/>
          <a:p>
            <a:pPr algn="l">
              <a:lnSpc>
                <a:spcPct val="115000"/>
              </a:lnSpc>
            </a:pPr>
            <a:r>
              <a:rPr sz="1800" b="1" i="0">
                <a:solidFill>
                  <a:srgbClr val="E84855"/>
                </a:solidFill>
                <a:latin typeface="Calibri"/>
              </a:rPr>
              <a:t>The traps that cost an afternoon</a:t>
            </a:r>
          </a:p>
          <a:p>
            <a:pPr algn="l">
              <a:lnSpc>
                <a:spcPct val="115000"/>
              </a:lnSpc>
            </a:pPr>
            <a:r>
              <a:rPr sz="1500" b="0" i="0">
                <a:solidFill>
                  <a:srgbClr val="1A2B3C"/>
                </a:solidFill>
                <a:latin typeface="Calibri"/>
              </a:rPr>
              <a:t>•  protobuf and gRPC versions MUST match across Conan deps → else duplicate symbols</a:t>
            </a:r>
          </a:p>
          <a:p>
            <a:pPr algn="l">
              <a:lnSpc>
                <a:spcPct val="115000"/>
              </a:lnSpc>
            </a:pPr>
            <a:r>
              <a:rPr sz="1500" b="0" i="0">
                <a:solidFill>
                  <a:srgbClr val="1A2B3C"/>
                </a:solidFill>
                <a:latin typeface="Calibri"/>
              </a:rPr>
              <a:t>•  Always compiler.libcxx=libstdc++11 (the post-GCC-5 ABI); mixing crashes</a:t>
            </a:r>
          </a:p>
          <a:p>
            <a:pPr algn="l">
              <a:lnSpc>
                <a:spcPct val="115000"/>
              </a:lnSpc>
            </a:pPr>
            <a:r>
              <a:rPr sz="1500" b="0" i="0">
                <a:solidFill>
                  <a:srgbClr val="1A2B3C"/>
                </a:solidFill>
                <a:latin typeface="Calibri"/>
              </a:rPr>
              <a:t>•  Run CMake via the Conan preset/toolchain or find_package can't see deps</a:t>
            </a:r>
          </a:p>
          <a:p>
            <a:pPr algn="l">
              <a:lnSpc>
                <a:spcPct val="115000"/>
              </a:lnSpc>
            </a:pPr>
            <a:r>
              <a:rPr sz="1500" b="0" i="0">
                <a:solidFill>
                  <a:srgbClr val="1A2B3C"/>
                </a:solidFill>
                <a:latin typeface="Calibri"/>
              </a:rPr>
              <a:t>•  libpqxx's bundled CMake breaks this toolchain → use libpq (G-67)</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Rounded Rectangle 1"/>
          <p:cNvSpPr/>
          <p:nvPr/>
        </p:nvSpPr>
        <p:spPr>
          <a:xfrm>
            <a:off x="548640" y="548640"/>
            <a:ext cx="2286000" cy="594360"/>
          </a:xfrm>
          <a:prstGeom prst="roundRect">
            <a:avLst>
              <a:gd name="adj" fmla="val 50000"/>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48640"/>
            <a:ext cx="2286000" cy="594360"/>
          </a:xfrm>
          <a:prstGeom prst="rect">
            <a:avLst/>
          </a:prstGeom>
          <a:noFill/>
        </p:spPr>
        <p:txBody>
          <a:bodyPr wrap="square" anchor="ctr" lIns="45720" rIns="45720">
            <a:spAutoFit/>
          </a:bodyPr>
          <a:lstStyle/>
          <a:p>
            <a:pPr algn="ctr"/>
            <a:r>
              <a:rPr sz="2200" b="1" i="0">
                <a:solidFill>
                  <a:srgbClr val="FFFFFF"/>
                </a:solidFill>
                <a:latin typeface="Calibri"/>
              </a:rPr>
              <a:t>▶ DEMO 11</a:t>
            </a:r>
          </a:p>
        </p:txBody>
      </p:sp>
      <p:sp>
        <p:nvSpPr>
          <p:cNvPr id="4" name="TextBox 3"/>
          <p:cNvSpPr txBox="1"/>
          <p:nvPr/>
        </p:nvSpPr>
        <p:spPr>
          <a:xfrm>
            <a:off x="548640" y="1645920"/>
            <a:ext cx="10972800" cy="1097280"/>
          </a:xfrm>
          <a:prstGeom prst="rect">
            <a:avLst/>
          </a:prstGeom>
          <a:noFill/>
        </p:spPr>
        <p:txBody>
          <a:bodyPr wrap="square" anchor="t" lIns="45720" rIns="45720">
            <a:spAutoFit/>
          </a:bodyPr>
          <a:lstStyle/>
          <a:p>
            <a:pPr algn="l"/>
            <a:r>
              <a:rPr sz="3600" b="1" i="0">
                <a:solidFill>
                  <a:srgbClr val="FFFFFF"/>
                </a:solidFill>
                <a:latin typeface="Calibri"/>
              </a:rPr>
              <a:t>Demo — Vendored helpers</a:t>
            </a:r>
          </a:p>
        </p:txBody>
      </p:sp>
      <p:sp>
        <p:nvSpPr>
          <p:cNvPr id="5" name="TextBox 4"/>
          <p:cNvSpPr txBox="1"/>
          <p:nvPr/>
        </p:nvSpPr>
        <p:spPr>
          <a:xfrm>
            <a:off x="548640" y="2743200"/>
            <a:ext cx="10972800" cy="1371600"/>
          </a:xfrm>
          <a:prstGeom prst="rect">
            <a:avLst/>
          </a:prstGeom>
          <a:noFill/>
        </p:spPr>
        <p:txBody>
          <a:bodyPr wrap="square" anchor="t" lIns="45720" rIns="45720">
            <a:spAutoFit/>
          </a:bodyPr>
          <a:lstStyle/>
          <a:p>
            <a:pPr algn="l"/>
            <a:r>
              <a:rPr sz="2000" b="0" i="0">
                <a:solidFill>
                  <a:srgbClr val="ECF0F1"/>
                </a:solidFill>
                <a:latin typeface="Calibri"/>
              </a:rPr>
              <a:t>cgroup_helper and psi_reader built as static libraries, unit-tested with GoogleTest over their pure parsers, and a binary swept under --cpus / --memory caps so cpu_limit_cores() is shown tracking the cgroup while hardware_concurrency() does not.</a:t>
            </a:r>
          </a:p>
        </p:txBody>
      </p:sp>
      <p:sp>
        <p:nvSpPr>
          <p:cNvPr id="6" name="Rectangle 5"/>
          <p:cNvSpPr/>
          <p:nvPr/>
        </p:nvSpPr>
        <p:spPr>
          <a:xfrm>
            <a:off x="548640" y="4297680"/>
            <a:ext cx="11064240" cy="1097280"/>
          </a:xfrm>
          <a:prstGeom prst="rect">
            <a:avLst/>
          </a:prstGeom>
          <a:solidFill>
            <a:srgbClr val="0D21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4389120"/>
            <a:ext cx="10789920" cy="457200"/>
          </a:xfrm>
          <a:prstGeom prst="rect">
            <a:avLst/>
          </a:prstGeom>
          <a:noFill/>
        </p:spPr>
        <p:txBody>
          <a:bodyPr wrap="square" anchor="t" lIns="45720" rIns="45720">
            <a:spAutoFit/>
          </a:bodyPr>
          <a:lstStyle/>
          <a:p>
            <a:pPr algn="l"/>
            <a:r>
              <a:rPr sz="1800" b="0" i="0">
                <a:solidFill>
                  <a:srgbClr val="00BCD4"/>
                </a:solidFill>
                <a:latin typeface="Consolas"/>
              </a:rPr>
              <a:t>$ cd examples/statelessness/11-build-tooling &amp;&amp; ./demo.sh</a:t>
            </a:r>
          </a:p>
        </p:txBody>
      </p:sp>
      <p:sp>
        <p:nvSpPr>
          <p:cNvPr id="8" name="TextBox 7"/>
          <p:cNvSpPr txBox="1"/>
          <p:nvPr/>
        </p:nvSpPr>
        <p:spPr>
          <a:xfrm>
            <a:off x="731520" y="4892040"/>
            <a:ext cx="10789920" cy="365760"/>
          </a:xfrm>
          <a:prstGeom prst="rect">
            <a:avLst/>
          </a:prstGeom>
          <a:noFill/>
        </p:spPr>
        <p:txBody>
          <a:bodyPr wrap="square" anchor="t" lIns="45720" rIns="45720">
            <a:spAutoFit/>
          </a:bodyPr>
          <a:lstStyle/>
          <a:p>
            <a:pPr algn="l"/>
            <a:r>
              <a:rPr sz="1100" b="0" i="0">
                <a:solidFill>
                  <a:srgbClr val="90A4AE"/>
                </a:solidFill>
                <a:latin typeface="Consolas"/>
              </a:rPr>
              <a:t>  source on site: patterncatalyst.github.io/cpp-container-optimization-tutorial/examples/statelessness-11-build-tooling/</a:t>
            </a:r>
          </a:p>
        </p:txBody>
      </p:sp>
      <p:sp>
        <p:nvSpPr>
          <p:cNvPr id="9" name="TextBox 8"/>
          <p:cNvSpPr txBox="1"/>
          <p:nvPr/>
        </p:nvSpPr>
        <p:spPr>
          <a:xfrm>
            <a:off x="10820095" y="6400800"/>
            <a:ext cx="914400" cy="274320"/>
          </a:xfrm>
          <a:prstGeom prst="rect">
            <a:avLst/>
          </a:prstGeom>
          <a:noFill/>
        </p:spPr>
        <p:txBody>
          <a:bodyPr wrap="square" anchor="t" lIns="45720" rIns="45720">
            <a:spAutoFit/>
          </a:bodyPr>
          <a:lstStyle/>
          <a:p>
            <a:pPr algn="r"/>
            <a:r>
              <a:rPr sz="1100" b="0" i="0">
                <a:solidFill>
                  <a:srgbClr val="90A4AE"/>
                </a:solidFill>
                <a:latin typeface="Calibri"/>
              </a:rPr>
              <a:t>66 / 67</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bg>
      <p:bgPr>
        <a:solidFill>
          <a:srgbClr val="1A2B3C"/>
        </a:solidFill>
        <a:effectLst/>
      </p:bgPr>
    </p:bg>
    <p:spTree>
      <p:nvGrpSpPr>
        <p:cNvPr id="1" name=""/>
        <p:cNvGrpSpPr/>
        <p:nvPr/>
      </p:nvGrpSpPr>
      <p:grpSpPr/>
      <p:sp>
        <p:nvSpPr>
          <p:cNvPr id="2" name="TextBox 1"/>
          <p:cNvSpPr txBox="1"/>
          <p:nvPr/>
        </p:nvSpPr>
        <p:spPr>
          <a:xfrm>
            <a:off x="914400" y="1463040"/>
            <a:ext cx="10332720" cy="914400"/>
          </a:xfrm>
          <a:prstGeom prst="rect">
            <a:avLst/>
          </a:prstGeom>
          <a:noFill/>
        </p:spPr>
        <p:txBody>
          <a:bodyPr wrap="square" anchor="t" lIns="45720" rIns="45720">
            <a:spAutoFit/>
          </a:bodyPr>
          <a:lstStyle/>
          <a:p>
            <a:pPr algn="l"/>
            <a:r>
              <a:rPr sz="3600" b="1" i="0">
                <a:solidFill>
                  <a:srgbClr val="FFFFFF"/>
                </a:solidFill>
                <a:latin typeface="Calibri"/>
              </a:rPr>
              <a:t>The whole arc, runnable.</a:t>
            </a:r>
          </a:p>
        </p:txBody>
      </p:sp>
      <p:sp>
        <p:nvSpPr>
          <p:cNvPr id="3" name="TextBox 2"/>
          <p:cNvSpPr txBox="1"/>
          <p:nvPr/>
        </p:nvSpPr>
        <p:spPr>
          <a:xfrm>
            <a:off x="914400" y="2560320"/>
            <a:ext cx="10332720" cy="2377440"/>
          </a:xfrm>
          <a:prstGeom prst="rect">
            <a:avLst/>
          </a:prstGeom>
          <a:noFill/>
        </p:spPr>
        <p:txBody>
          <a:bodyPr wrap="square" anchor="t" lIns="45720" rIns="45720">
            <a:spAutoFit/>
          </a:bodyPr>
          <a:lstStyle/>
          <a:p>
            <a:pPr algn="l">
              <a:lnSpc>
                <a:spcPct val="115000"/>
              </a:lnSpc>
            </a:pPr>
            <a:r>
              <a:rPr sz="1800" b="0" i="0">
                <a:solidFill>
                  <a:srgbClr val="ECF0F1"/>
                </a:solidFill>
                <a:latin typeface="Calibri"/>
              </a:rPr>
              <a:t>Statelessness is a deployment posture; the same binary earns it by where it keeps state.</a:t>
            </a:r>
          </a:p>
          <a:p>
            <a:pPr algn="l">
              <a:lnSpc>
                <a:spcPct val="115000"/>
              </a:lnSpc>
              <a:spcBef>
                <a:spcPts val="1000"/>
              </a:spcBef>
            </a:pPr>
            <a:r>
              <a:rPr sz="1800" b="0" i="0">
                <a:solidFill>
                  <a:srgbClr val="ECF0F1"/>
                </a:solidFill>
                <a:latin typeface="Calibri"/>
              </a:rPr>
              <a:t>Request scope → RAII + PMR. Process scope → owned in main(). Authoritative state → externalized.</a:t>
            </a:r>
          </a:p>
          <a:p>
            <a:pPr algn="l">
              <a:lnSpc>
                <a:spcPct val="115000"/>
              </a:lnSpc>
              <a:spcBef>
                <a:spcPts val="1000"/>
              </a:spcBef>
            </a:pPr>
            <a:r>
              <a:rPr sz="1800" b="0" i="0">
                <a:solidFill>
                  <a:srgbClr val="00BCD4"/>
                </a:solidFill>
                <a:latin typeface="Calibri"/>
              </a:rPr>
              <a:t>It all composes in the capstone — and examples 02–11 are host-verified on Fedora 44.</a:t>
            </a:r>
          </a:p>
        </p:txBody>
      </p:sp>
      <p:sp>
        <p:nvSpPr>
          <p:cNvPr id="4" name="TextBox 3"/>
          <p:cNvSpPr txBox="1"/>
          <p:nvPr/>
        </p:nvSpPr>
        <p:spPr>
          <a:xfrm>
            <a:off x="914400" y="5120640"/>
            <a:ext cx="10332720" cy="457200"/>
          </a:xfrm>
          <a:prstGeom prst="rect">
            <a:avLst/>
          </a:prstGeom>
          <a:noFill/>
        </p:spPr>
        <p:txBody>
          <a:bodyPr wrap="square" anchor="t" lIns="45720" rIns="45720">
            <a:spAutoFit/>
          </a:bodyPr>
          <a:lstStyle/>
          <a:p>
            <a:pPr algn="l"/>
            <a:r>
              <a:rPr sz="1600" b="0" i="0">
                <a:solidFill>
                  <a:srgbClr val="90A4AE"/>
                </a:solidFill>
                <a:latin typeface="Calibri"/>
              </a:rPr>
              <a:t>Read the compendium  •  run the demos  •  the source is on the repo</a:t>
            </a:r>
          </a:p>
        </p:txBody>
      </p:sp>
      <p:sp>
        <p:nvSpPr>
          <p:cNvPr id="5" name="TextBox 4"/>
          <p:cNvSpPr txBox="1"/>
          <p:nvPr/>
        </p:nvSpPr>
        <p:spPr>
          <a:xfrm>
            <a:off x="914400" y="5852160"/>
            <a:ext cx="10332720" cy="365760"/>
          </a:xfrm>
          <a:prstGeom prst="rect">
            <a:avLst/>
          </a:prstGeom>
          <a:noFill/>
        </p:spPr>
        <p:txBody>
          <a:bodyPr wrap="square" anchor="t" lIns="45720" rIns="45720">
            <a:spAutoFit/>
          </a:bodyPr>
          <a:lstStyle/>
          <a:p>
            <a:pPr algn="l"/>
            <a:r>
              <a:rPr sz="1100" b="0" i="0">
                <a:solidFill>
                  <a:srgbClr val="90A4AE"/>
                </a:solidFill>
                <a:latin typeface="Consolas"/>
              </a:rPr>
              <a:t>github.com/patterncatalyst/cpp-container-optimization-tutorial</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